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Sugarcane AI is a full-stack web application, live at smart-sugarcane-ai.vercel.app. Seven modules, 43 REST endpoints, a 12,000-row training dataset and 13 React pages. Everything runs on our own code - there is no paid AI API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browser, API, decision layer, stores. The decision layer is the interesting one - it never just returns a model output, it combines the prediction with the agronomy knowledge base to produce reasoning the farmer can read. Note the honest live-vs-local difference: Vercel size limits mean the deployed API uses the rule engine, and the app says so on its own status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React 19 with Vite and TypeScript, styled with Tailwind v4. Thirteen pages sit behind React Router, with auth guards choosing between the public layout and the dashboard layout. Two things worth pointing out: one typed Axios client so no page hand-writes a URL, and the ModelBadge component, which renders on every AI result to state whether it came from a trained model, the rule engine or a demo heuristic.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backend in four strictly ordered layers. The lowest agronomy module depends on nothing but the Python standard library, which is deliberate: the offline training scripts import it directly, so the model can never be trained on different agronomy than the API serves. Forty-three endpoints across ten routers, five tables, PostgreSQL in production and SQLite locally from the same ORM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data. First, the irrigation dataset the Random Forest is trained on: 12,000 rows, synthetic, generated from our own water-balance engine - and we label it as synthetic everywhere. Second, a hand-curated agronomy knowledge base in JSON, which a domain expert can correct without touching Python. Third, image data: we ship none, because no honest labelled sugarcane set was available, so disease and soil run as demo heuristics that are labelled as such. The fourth box is the data the app itself accumulates as you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engines. Irrigation is the real machine learning: two Random Forests over nine features, wrapped around an FAO-56-style water balance that turns the predicted millimetres into priority, litres and duration. Disease and soil are computer-vision heuristics, labelled DEMO everywhere they appear. Variety ranking is weighted multi-criteria scoring, fertilizer is a stage rule engine that gives priorities but no dosages, and the assistant is keyword intent matching that cites your own records rather than hallucinating. The metrics at the bottom are honest: 0.96 R-squared against our own simulation is not a claim about a real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1F"/>
        </a:solidFill>
      </p:bgPr>
    </p:bg>
    <p:spTree>
      <p:nvGrpSpPr>
        <p:cNvPr id="1" name=""/>
        <p:cNvGrpSpPr/>
        <p:nvPr/>
      </p:nvGrpSpPr>
      <p:grpSpPr>
        <a:xfrm>
          <a:off x="0" y="0"/>
          <a:ext cx="0" cy="0"/>
          <a:chOff x="0" y="0"/>
          <a:chExt cx="0" cy="0"/>
        </a:xfrm>
      </p:grpSpPr>
      <p:sp>
        <p:nvSpPr>
          <p:cNvPr id="2" name="Shape 0"/>
          <p:cNvSpPr/>
          <p:nvPr/>
        </p:nvSpPr>
        <p:spPr>
          <a:xfrm>
            <a:off x="9646920" y="-502920"/>
            <a:ext cx="4114800" cy="4114800"/>
          </a:xfrm>
          <a:prstGeom prst="ellipse">
            <a:avLst/>
          </a:prstGeom>
          <a:solidFill>
            <a:srgbClr val="2C5F2D">
              <a:alpha val="58000"/>
            </a:srgbClr>
          </a:solidFill>
          <a:ln w="12700">
            <a:solidFill>
              <a:srgbClr val="14301F"/>
            </a:solidFill>
            <a:prstDash val="solid"/>
          </a:ln>
        </p:spPr>
      </p:sp>
      <p:sp>
        <p:nvSpPr>
          <p:cNvPr id="3" name="Shape 1"/>
          <p:cNvSpPr/>
          <p:nvPr/>
        </p:nvSpPr>
        <p:spPr>
          <a:xfrm>
            <a:off x="10881360" y="3822192"/>
            <a:ext cx="1143000" cy="1143000"/>
          </a:xfrm>
          <a:prstGeom prst="ellipse">
            <a:avLst/>
          </a:prstGeom>
          <a:solidFill>
            <a:srgbClr val="E0A526">
              <a:alpha val="45000"/>
            </a:srgbClr>
          </a:solidFill>
          <a:ln w="12700">
            <a:solidFill>
              <a:srgbClr val="14301F"/>
            </a:solidFill>
            <a:prstDash val="solid"/>
          </a:ln>
        </p:spPr>
      </p:sp>
      <p:sp>
        <p:nvSpPr>
          <p:cNvPr id="4" name="Text 2"/>
          <p:cNvSpPr txBox="1"/>
          <p:nvPr/>
        </p:nvSpPr>
        <p:spPr>
          <a:xfrm>
            <a:off x="777240" y="868680"/>
            <a:ext cx="8229600" cy="292608"/>
          </a:xfrm>
          <a:prstGeom prst="rect">
            <a:avLst/>
          </a:prstGeom>
          <a:noFill/>
          <a:ln/>
        </p:spPr>
        <p:txBody>
          <a:bodyPr wrap="square" lIns="0" tIns="0" rIns="0" bIns="0" rtlCol="0" anchor="ctr"/>
          <a:lstStyle/>
          <a:p>
            <a:pPr indent="0" marL="0">
              <a:buNone/>
            </a:pPr>
            <a:r>
              <a:rPr lang="en-US" sz="1150" b="1" spc="200" kern="0" dirty="0">
                <a:solidFill>
                  <a:srgbClr val="E0A526"/>
                </a:solidFill>
                <a:latin typeface="Calibri" pitchFamily="34" charset="0"/>
                <a:ea typeface="Calibri" pitchFamily="34" charset="-122"/>
                <a:cs typeface="Calibri" pitchFamily="34" charset="-120"/>
              </a:rPr>
              <a:t>MAJOR PROJECT  ·  FULL-STACK AI WEB APPLICATION</a:t>
            </a:r>
            <a:endParaRPr lang="en-US" sz="1150" dirty="0"/>
          </a:p>
        </p:txBody>
      </p:sp>
      <p:sp>
        <p:nvSpPr>
          <p:cNvPr id="5" name="Text 3"/>
          <p:cNvSpPr txBox="1"/>
          <p:nvPr/>
        </p:nvSpPr>
        <p:spPr>
          <a:xfrm>
            <a:off x="731520" y="1234440"/>
            <a:ext cx="8778240" cy="105156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Smart Sugarcane AI</a:t>
            </a:r>
            <a:endParaRPr lang="en-US" sz="5000" dirty="0"/>
          </a:p>
        </p:txBody>
      </p:sp>
      <p:sp>
        <p:nvSpPr>
          <p:cNvPr id="6" name="Text 4"/>
          <p:cNvSpPr txBox="1"/>
          <p:nvPr/>
        </p:nvSpPr>
        <p:spPr>
          <a:xfrm>
            <a:off x="777240" y="2331720"/>
            <a:ext cx="8138160" cy="822960"/>
          </a:xfrm>
          <a:prstGeom prst="rect">
            <a:avLst/>
          </a:prstGeom>
          <a:noFill/>
          <a:ln/>
        </p:spPr>
        <p:txBody>
          <a:bodyPr wrap="square" lIns="0" tIns="0" rIns="0" bIns="0" rtlCol="0" anchor="ctr"/>
          <a:lstStyle/>
          <a:p>
            <a:pPr indent="0" marL="0">
              <a:lnSpc>
                <a:spcPts val="2400"/>
              </a:lnSpc>
              <a:buNone/>
            </a:pPr>
            <a:r>
              <a:rPr lang="en-US" sz="1600" dirty="0">
                <a:solidFill>
                  <a:srgbClr val="97BC62"/>
                </a:solidFill>
                <a:latin typeface="Calibri" pitchFamily="34" charset="0"/>
                <a:ea typeface="Calibri" pitchFamily="34" charset="-122"/>
                <a:cs typeface="Calibri" pitchFamily="34" charset="-120"/>
              </a:rPr>
              <a:t>Irrigation scheduling, disease detection, soil analysis, variety ranking and fertilizer guidance — one web application, running without a single external AI API key.</a:t>
            </a:r>
            <a:endParaRPr lang="en-US" sz="1600" dirty="0"/>
          </a:p>
        </p:txBody>
      </p:sp>
      <p:sp>
        <p:nvSpPr>
          <p:cNvPr id="7" name="Shape 5"/>
          <p:cNvSpPr/>
          <p:nvPr/>
        </p:nvSpPr>
        <p:spPr>
          <a:xfrm>
            <a:off x="777240" y="3310128"/>
            <a:ext cx="4160520" cy="512064"/>
          </a:xfrm>
          <a:prstGeom prst="roundRect">
            <a:avLst>
              <a:gd name="adj" fmla="val 25000"/>
            </a:avLst>
          </a:prstGeom>
          <a:solidFill>
            <a:srgbClr val="1D4030"/>
          </a:solidFill>
          <a:ln w="12700">
            <a:solidFill>
              <a:srgbClr val="97BC62"/>
            </a:solidFill>
            <a:prstDash val="solid"/>
          </a:ln>
        </p:spPr>
      </p:sp>
      <p:sp>
        <p:nvSpPr>
          <p:cNvPr id="8" name="Text 6"/>
          <p:cNvSpPr txBox="1"/>
          <p:nvPr/>
        </p:nvSpPr>
        <p:spPr>
          <a:xfrm>
            <a:off x="777240" y="3310128"/>
            <a:ext cx="4160520"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smart-sugarcane-ai.vercel.app</a:t>
            </a:r>
            <a:endParaRPr lang="en-US" sz="1450" dirty="0"/>
          </a:p>
        </p:txBody>
      </p:sp>
      <p:sp>
        <p:nvSpPr>
          <p:cNvPr id="9" name="Shape 7"/>
          <p:cNvSpPr/>
          <p:nvPr/>
        </p:nvSpPr>
        <p:spPr>
          <a:xfrm>
            <a:off x="777240" y="4315968"/>
            <a:ext cx="2148840" cy="1298448"/>
          </a:xfrm>
          <a:prstGeom prst="roundRect">
            <a:avLst>
              <a:gd name="adj" fmla="val 7042"/>
            </a:avLst>
          </a:prstGeom>
          <a:solidFill>
            <a:srgbClr val="1D4030"/>
          </a:solidFill>
          <a:ln w="12700">
            <a:solidFill>
              <a:srgbClr val="1D4030"/>
            </a:solidFill>
            <a:prstDash val="solid"/>
          </a:ln>
        </p:spPr>
      </p:sp>
      <p:sp>
        <p:nvSpPr>
          <p:cNvPr id="10" name="Text 8"/>
          <p:cNvSpPr txBox="1"/>
          <p:nvPr/>
        </p:nvSpPr>
        <p:spPr>
          <a:xfrm>
            <a:off x="777240" y="4434840"/>
            <a:ext cx="2148840" cy="640080"/>
          </a:xfrm>
          <a:prstGeom prst="rect">
            <a:avLst/>
          </a:prstGeom>
          <a:noFill/>
          <a:ln/>
        </p:spPr>
        <p:txBody>
          <a:bodyPr wrap="square" lIns="0" tIns="0" rIns="0" bIns="0" rtlCol="0" anchor="ctr"/>
          <a:lstStyle/>
          <a:p>
            <a:pPr algn="ctr" indent="0" marL="0">
              <a:buNone/>
            </a:pPr>
            <a:r>
              <a:rPr lang="en-US" sz="3000" b="1" dirty="0">
                <a:solidFill>
                  <a:srgbClr val="E0A526"/>
                </a:solidFill>
                <a:latin typeface="Cambria" pitchFamily="34" charset="0"/>
                <a:ea typeface="Cambria" pitchFamily="34" charset="-122"/>
                <a:cs typeface="Cambria" pitchFamily="34" charset="-120"/>
              </a:rPr>
              <a:t>7</a:t>
            </a:r>
            <a:endParaRPr lang="en-US" sz="3000" dirty="0"/>
          </a:p>
        </p:txBody>
      </p:sp>
      <p:sp>
        <p:nvSpPr>
          <p:cNvPr id="11" name="Text 9"/>
          <p:cNvSpPr txBox="1"/>
          <p:nvPr/>
        </p:nvSpPr>
        <p:spPr>
          <a:xfrm>
            <a:off x="777240" y="5074920"/>
            <a:ext cx="2148840" cy="457200"/>
          </a:xfrm>
          <a:prstGeom prst="rect">
            <a:avLst/>
          </a:prstGeom>
          <a:noFill/>
          <a:ln/>
        </p:spPr>
        <p:txBody>
          <a:bodyPr wrap="square" lIns="0" tIns="0" rIns="0" bIns="0" rtlCol="0" anchor="ctr"/>
          <a:lstStyle/>
          <a:p>
            <a:pPr algn="ctr" indent="0" marL="0">
              <a:buNone/>
            </a:pPr>
            <a:r>
              <a:rPr lang="en-US" sz="1100" dirty="0">
                <a:solidFill>
                  <a:srgbClr val="97BC62"/>
                </a:solidFill>
                <a:latin typeface="Calibri" pitchFamily="34" charset="0"/>
                <a:ea typeface="Calibri" pitchFamily="34" charset="-122"/>
                <a:cs typeface="Calibri" pitchFamily="34" charset="-120"/>
              </a:rPr>
              <a:t>AI / decision modules</a:t>
            </a:r>
            <a:endParaRPr lang="en-US" sz="1100" dirty="0"/>
          </a:p>
        </p:txBody>
      </p:sp>
      <p:sp>
        <p:nvSpPr>
          <p:cNvPr id="12" name="Shape 10"/>
          <p:cNvSpPr/>
          <p:nvPr/>
        </p:nvSpPr>
        <p:spPr>
          <a:xfrm>
            <a:off x="3154680" y="4315968"/>
            <a:ext cx="2148840" cy="1298448"/>
          </a:xfrm>
          <a:prstGeom prst="roundRect">
            <a:avLst>
              <a:gd name="adj" fmla="val 7042"/>
            </a:avLst>
          </a:prstGeom>
          <a:solidFill>
            <a:srgbClr val="1D4030"/>
          </a:solidFill>
          <a:ln w="12700">
            <a:solidFill>
              <a:srgbClr val="1D4030"/>
            </a:solidFill>
            <a:prstDash val="solid"/>
          </a:ln>
        </p:spPr>
      </p:sp>
      <p:sp>
        <p:nvSpPr>
          <p:cNvPr id="13" name="Text 11"/>
          <p:cNvSpPr txBox="1"/>
          <p:nvPr/>
        </p:nvSpPr>
        <p:spPr>
          <a:xfrm>
            <a:off x="3154680" y="4434840"/>
            <a:ext cx="2148840" cy="640080"/>
          </a:xfrm>
          <a:prstGeom prst="rect">
            <a:avLst/>
          </a:prstGeom>
          <a:noFill/>
          <a:ln/>
        </p:spPr>
        <p:txBody>
          <a:bodyPr wrap="square" lIns="0" tIns="0" rIns="0" bIns="0" rtlCol="0" anchor="ctr"/>
          <a:lstStyle/>
          <a:p>
            <a:pPr algn="ctr" indent="0" marL="0">
              <a:buNone/>
            </a:pPr>
            <a:r>
              <a:rPr lang="en-US" sz="3000" b="1" dirty="0">
                <a:solidFill>
                  <a:srgbClr val="E0A526"/>
                </a:solidFill>
                <a:latin typeface="Cambria" pitchFamily="34" charset="0"/>
                <a:ea typeface="Cambria" pitchFamily="34" charset="-122"/>
                <a:cs typeface="Cambria" pitchFamily="34" charset="-120"/>
              </a:rPr>
              <a:t>43</a:t>
            </a:r>
            <a:endParaRPr lang="en-US" sz="3000" dirty="0"/>
          </a:p>
        </p:txBody>
      </p:sp>
      <p:sp>
        <p:nvSpPr>
          <p:cNvPr id="14" name="Text 12"/>
          <p:cNvSpPr txBox="1"/>
          <p:nvPr/>
        </p:nvSpPr>
        <p:spPr>
          <a:xfrm>
            <a:off x="3154680" y="5074920"/>
            <a:ext cx="2148840" cy="457200"/>
          </a:xfrm>
          <a:prstGeom prst="rect">
            <a:avLst/>
          </a:prstGeom>
          <a:noFill/>
          <a:ln/>
        </p:spPr>
        <p:txBody>
          <a:bodyPr wrap="square" lIns="0" tIns="0" rIns="0" bIns="0" rtlCol="0" anchor="ctr"/>
          <a:lstStyle/>
          <a:p>
            <a:pPr algn="ctr" indent="0" marL="0">
              <a:buNone/>
            </a:pPr>
            <a:r>
              <a:rPr lang="en-US" sz="1100" dirty="0">
                <a:solidFill>
                  <a:srgbClr val="97BC62"/>
                </a:solidFill>
                <a:latin typeface="Calibri" pitchFamily="34" charset="0"/>
                <a:ea typeface="Calibri" pitchFamily="34" charset="-122"/>
                <a:cs typeface="Calibri" pitchFamily="34" charset="-120"/>
              </a:rPr>
              <a:t>REST API endpoints</a:t>
            </a:r>
            <a:endParaRPr lang="en-US" sz="1100" dirty="0"/>
          </a:p>
        </p:txBody>
      </p:sp>
      <p:sp>
        <p:nvSpPr>
          <p:cNvPr id="15" name="Shape 13"/>
          <p:cNvSpPr/>
          <p:nvPr/>
        </p:nvSpPr>
        <p:spPr>
          <a:xfrm>
            <a:off x="5532120" y="4315968"/>
            <a:ext cx="2148840" cy="1298448"/>
          </a:xfrm>
          <a:prstGeom prst="roundRect">
            <a:avLst>
              <a:gd name="adj" fmla="val 7042"/>
            </a:avLst>
          </a:prstGeom>
          <a:solidFill>
            <a:srgbClr val="1D4030"/>
          </a:solidFill>
          <a:ln w="12700">
            <a:solidFill>
              <a:srgbClr val="1D4030"/>
            </a:solidFill>
            <a:prstDash val="solid"/>
          </a:ln>
        </p:spPr>
      </p:sp>
      <p:sp>
        <p:nvSpPr>
          <p:cNvPr id="16" name="Text 14"/>
          <p:cNvSpPr txBox="1"/>
          <p:nvPr/>
        </p:nvSpPr>
        <p:spPr>
          <a:xfrm>
            <a:off x="5532120" y="4434840"/>
            <a:ext cx="2148840" cy="640080"/>
          </a:xfrm>
          <a:prstGeom prst="rect">
            <a:avLst/>
          </a:prstGeom>
          <a:noFill/>
          <a:ln/>
        </p:spPr>
        <p:txBody>
          <a:bodyPr wrap="square" lIns="0" tIns="0" rIns="0" bIns="0" rtlCol="0" anchor="ctr"/>
          <a:lstStyle/>
          <a:p>
            <a:pPr algn="ctr" indent="0" marL="0">
              <a:buNone/>
            </a:pPr>
            <a:r>
              <a:rPr lang="en-US" sz="3000" b="1" dirty="0">
                <a:solidFill>
                  <a:srgbClr val="E0A526"/>
                </a:solidFill>
                <a:latin typeface="Cambria" pitchFamily="34" charset="0"/>
                <a:ea typeface="Cambria" pitchFamily="34" charset="-122"/>
                <a:cs typeface="Cambria" pitchFamily="34" charset="-120"/>
              </a:rPr>
              <a:t>12,000</a:t>
            </a:r>
            <a:endParaRPr lang="en-US" sz="3000" dirty="0"/>
          </a:p>
        </p:txBody>
      </p:sp>
      <p:sp>
        <p:nvSpPr>
          <p:cNvPr id="17" name="Text 15"/>
          <p:cNvSpPr txBox="1"/>
          <p:nvPr/>
        </p:nvSpPr>
        <p:spPr>
          <a:xfrm>
            <a:off x="5532120" y="5074920"/>
            <a:ext cx="2148840" cy="457200"/>
          </a:xfrm>
          <a:prstGeom prst="rect">
            <a:avLst/>
          </a:prstGeom>
          <a:noFill/>
          <a:ln/>
        </p:spPr>
        <p:txBody>
          <a:bodyPr wrap="square" lIns="0" tIns="0" rIns="0" bIns="0" rtlCol="0" anchor="ctr"/>
          <a:lstStyle/>
          <a:p>
            <a:pPr algn="ctr" indent="0" marL="0">
              <a:buNone/>
            </a:pPr>
            <a:r>
              <a:rPr lang="en-US" sz="1100" dirty="0">
                <a:solidFill>
                  <a:srgbClr val="97BC62"/>
                </a:solidFill>
                <a:latin typeface="Calibri" pitchFamily="34" charset="0"/>
                <a:ea typeface="Calibri" pitchFamily="34" charset="-122"/>
                <a:cs typeface="Calibri" pitchFamily="34" charset="-120"/>
              </a:rPr>
              <a:t>training rows</a:t>
            </a:r>
            <a:endParaRPr lang="en-US" sz="1100" dirty="0"/>
          </a:p>
        </p:txBody>
      </p:sp>
      <p:sp>
        <p:nvSpPr>
          <p:cNvPr id="18" name="Shape 16"/>
          <p:cNvSpPr/>
          <p:nvPr/>
        </p:nvSpPr>
        <p:spPr>
          <a:xfrm>
            <a:off x="7909560" y="4315968"/>
            <a:ext cx="2148840" cy="1298448"/>
          </a:xfrm>
          <a:prstGeom prst="roundRect">
            <a:avLst>
              <a:gd name="adj" fmla="val 7042"/>
            </a:avLst>
          </a:prstGeom>
          <a:solidFill>
            <a:srgbClr val="1D4030"/>
          </a:solidFill>
          <a:ln w="12700">
            <a:solidFill>
              <a:srgbClr val="1D4030"/>
            </a:solidFill>
            <a:prstDash val="solid"/>
          </a:ln>
        </p:spPr>
      </p:sp>
      <p:sp>
        <p:nvSpPr>
          <p:cNvPr id="19" name="Text 17"/>
          <p:cNvSpPr txBox="1"/>
          <p:nvPr/>
        </p:nvSpPr>
        <p:spPr>
          <a:xfrm>
            <a:off x="7909560" y="4434840"/>
            <a:ext cx="2148840" cy="640080"/>
          </a:xfrm>
          <a:prstGeom prst="rect">
            <a:avLst/>
          </a:prstGeom>
          <a:noFill/>
          <a:ln/>
        </p:spPr>
        <p:txBody>
          <a:bodyPr wrap="square" lIns="0" tIns="0" rIns="0" bIns="0" rtlCol="0" anchor="ctr"/>
          <a:lstStyle/>
          <a:p>
            <a:pPr algn="ctr" indent="0" marL="0">
              <a:buNone/>
            </a:pPr>
            <a:r>
              <a:rPr lang="en-US" sz="3000" b="1" dirty="0">
                <a:solidFill>
                  <a:srgbClr val="E0A526"/>
                </a:solidFill>
                <a:latin typeface="Cambria" pitchFamily="34" charset="0"/>
                <a:ea typeface="Cambria" pitchFamily="34" charset="-122"/>
                <a:cs typeface="Cambria" pitchFamily="34" charset="-120"/>
              </a:rPr>
              <a:t>13</a:t>
            </a:r>
            <a:endParaRPr lang="en-US" sz="3000" dirty="0"/>
          </a:p>
        </p:txBody>
      </p:sp>
      <p:sp>
        <p:nvSpPr>
          <p:cNvPr id="20" name="Text 18"/>
          <p:cNvSpPr txBox="1"/>
          <p:nvPr/>
        </p:nvSpPr>
        <p:spPr>
          <a:xfrm>
            <a:off x="7909560" y="5074920"/>
            <a:ext cx="2148840" cy="457200"/>
          </a:xfrm>
          <a:prstGeom prst="rect">
            <a:avLst/>
          </a:prstGeom>
          <a:noFill/>
          <a:ln/>
        </p:spPr>
        <p:txBody>
          <a:bodyPr wrap="square" lIns="0" tIns="0" rIns="0" bIns="0" rtlCol="0" anchor="ctr"/>
          <a:lstStyle/>
          <a:p>
            <a:pPr algn="ctr" indent="0" marL="0">
              <a:buNone/>
            </a:pPr>
            <a:r>
              <a:rPr lang="en-US" sz="1100" dirty="0">
                <a:solidFill>
                  <a:srgbClr val="97BC62"/>
                </a:solidFill>
                <a:latin typeface="Calibri" pitchFamily="34" charset="0"/>
                <a:ea typeface="Calibri" pitchFamily="34" charset="-122"/>
                <a:cs typeface="Calibri" pitchFamily="34" charset="-120"/>
              </a:rPr>
              <a:t>React pages</a:t>
            </a:r>
            <a:endParaRPr lang="en-US" sz="1100" dirty="0"/>
          </a:p>
        </p:txBody>
      </p:sp>
      <p:sp>
        <p:nvSpPr>
          <p:cNvPr id="21" name="Text 19"/>
          <p:cNvSpPr txBox="1"/>
          <p:nvPr/>
        </p:nvSpPr>
        <p:spPr>
          <a:xfrm>
            <a:off x="777240" y="5897880"/>
            <a:ext cx="10058400" cy="365760"/>
          </a:xfrm>
          <a:prstGeom prst="rect">
            <a:avLst/>
          </a:prstGeom>
          <a:noFill/>
          <a:ln/>
        </p:spPr>
        <p:txBody>
          <a:bodyPr wrap="square" lIns="0" tIns="0" rIns="0" bIns="0" rtlCol="0" anchor="ctr"/>
          <a:lstStyle/>
          <a:p>
            <a:pPr indent="0" marL="0">
              <a:buNone/>
            </a:pPr>
            <a:r>
              <a:rPr lang="en-US" sz="1150" spc="60" kern="0" dirty="0">
                <a:solidFill>
                  <a:srgbClr val="7E9384"/>
                </a:solidFill>
                <a:latin typeface="Calibri" pitchFamily="34" charset="0"/>
                <a:ea typeface="Calibri" pitchFamily="34" charset="-122"/>
                <a:cs typeface="Calibri" pitchFamily="34" charset="-120"/>
              </a:rPr>
              <a:t>React 19  ·  Vite 6  ·  TypeScript  ·  Tailwind v4  ·  FastAPI  ·  SQLAlchemy  ·  scikit-learn  ·  PostgreSQL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03504"/>
          </a:xfrm>
          <a:prstGeom prst="rect">
            <a:avLst/>
          </a:prstGeom>
          <a:noFill/>
          <a:ln/>
        </p:spPr>
        <p:txBody>
          <a:bodyPr wrap="square" lIns="0" tIns="0" rIns="0" bIns="0" rtlCol="0" anchor="ctr"/>
          <a:lstStyle/>
          <a:p>
            <a:pPr indent="0" marL="0">
              <a:buNone/>
            </a:pPr>
            <a:r>
              <a:rPr lang="en-US" sz="3200" b="1" dirty="0">
                <a:solidFill>
                  <a:srgbClr val="14301F"/>
                </a:solidFill>
                <a:latin typeface="Cambria" pitchFamily="34" charset="0"/>
                <a:ea typeface="Cambria" pitchFamily="34" charset="-122"/>
                <a:cs typeface="Cambria" pitchFamily="34" charset="-120"/>
              </a:rPr>
              <a:t>How the system fits together</a:t>
            </a:r>
            <a:endParaRPr lang="en-US" sz="3200" dirty="0"/>
          </a:p>
        </p:txBody>
      </p:sp>
      <p:sp>
        <p:nvSpPr>
          <p:cNvPr id="3" name="Text 1"/>
          <p:cNvSpPr txBox="1"/>
          <p:nvPr/>
        </p:nvSpPr>
        <p:spPr>
          <a:xfrm>
            <a:off x="548640" y="1005840"/>
            <a:ext cx="10725912" cy="420624"/>
          </a:xfrm>
          <a:prstGeom prst="rect">
            <a:avLst/>
          </a:prstGeom>
          <a:noFill/>
          <a:ln/>
        </p:spPr>
        <p:txBody>
          <a:bodyPr wrap="square" lIns="0" tIns="0" rIns="0" bIns="0" rtlCol="0" anchor="ctr"/>
          <a:lstStyle/>
          <a:p>
            <a:pPr indent="0" marL="0">
              <a:buNone/>
            </a:pPr>
            <a:r>
              <a:rPr lang="en-US" sz="1350" dirty="0">
                <a:solidFill>
                  <a:srgbClr val="5A6A61"/>
                </a:solidFill>
                <a:latin typeface="Calibri" pitchFamily="34" charset="0"/>
                <a:ea typeface="Calibri" pitchFamily="34" charset="-122"/>
                <a:cs typeface="Calibri" pitchFamily="34" charset="-120"/>
              </a:rPr>
              <a:t>A single Vercel project serves the React build and the Python API from the same origin — no CORS, no third-party AI service in the request path.</a:t>
            </a:r>
            <a:endParaRPr lang="en-US" sz="1350" dirty="0"/>
          </a:p>
        </p:txBody>
      </p:sp>
      <p:sp>
        <p:nvSpPr>
          <p:cNvPr id="4" name="Shape 2"/>
          <p:cNvSpPr/>
          <p:nvPr/>
        </p:nvSpPr>
        <p:spPr>
          <a:xfrm>
            <a:off x="548640" y="1783080"/>
            <a:ext cx="2560320" cy="1847088"/>
          </a:xfrm>
          <a:prstGeom prst="roundRect">
            <a:avLst>
              <a:gd name="adj" fmla="val 4950"/>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5" name="Shape 3"/>
          <p:cNvSpPr/>
          <p:nvPr/>
        </p:nvSpPr>
        <p:spPr>
          <a:xfrm>
            <a:off x="749808" y="1956816"/>
            <a:ext cx="402336" cy="402336"/>
          </a:xfrm>
          <a:prstGeom prst="ellipse">
            <a:avLst/>
          </a:prstGeom>
          <a:solidFill>
            <a:srgbClr val="2C5F2D"/>
          </a:solidFill>
          <a:ln w="12700">
            <a:solidFill>
              <a:srgbClr val="2C5F2D"/>
            </a:solidFill>
            <a:prstDash val="solid"/>
          </a:ln>
        </p:spPr>
      </p:sp>
      <p:sp>
        <p:nvSpPr>
          <p:cNvPr id="6" name="Text 4"/>
          <p:cNvSpPr txBox="1"/>
          <p:nvPr/>
        </p:nvSpPr>
        <p:spPr>
          <a:xfrm>
            <a:off x="749808" y="1956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61872" y="1975104"/>
            <a:ext cx="1691640" cy="365760"/>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Browser</a:t>
            </a:r>
            <a:endParaRPr lang="en-US" sz="1500" dirty="0"/>
          </a:p>
        </p:txBody>
      </p:sp>
      <p:sp>
        <p:nvSpPr>
          <p:cNvPr id="8" name="Text 6"/>
          <p:cNvSpPr txBox="1"/>
          <p:nvPr/>
        </p:nvSpPr>
        <p:spPr>
          <a:xfrm>
            <a:off x="749808" y="2414016"/>
            <a:ext cx="2176272" cy="1143000"/>
          </a:xfrm>
          <a:prstGeom prst="rect">
            <a:avLst/>
          </a:prstGeom>
          <a:noFill/>
          <a:ln/>
        </p:spPr>
        <p:txBody>
          <a:bodyPr wrap="square" lIns="0" tIns="0" rIns="0" bIns="0" rtlCol="0" anchor="ctr"/>
          <a:lstStyle/>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React 19 single-page app</a:t>
            </a:r>
            <a:endParaRPr lang="en-US" sz="1050" dirty="0"/>
          </a:p>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13 pages, protected routes,</a:t>
            </a:r>
            <a:endParaRPr lang="en-US" sz="1050" dirty="0"/>
          </a:p>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JWT in context, dark mode</a:t>
            </a:r>
            <a:endParaRPr lang="en-US" sz="1050" dirty="0"/>
          </a:p>
        </p:txBody>
      </p:sp>
      <p:sp>
        <p:nvSpPr>
          <p:cNvPr id="9" name="Shape 7"/>
          <p:cNvSpPr/>
          <p:nvPr/>
        </p:nvSpPr>
        <p:spPr>
          <a:xfrm rot="5400000">
            <a:off x="3150108" y="2651760"/>
            <a:ext cx="201168" cy="201168"/>
          </a:xfrm>
          <a:prstGeom prst="triangle">
            <a:avLst/>
          </a:prstGeom>
          <a:solidFill>
            <a:srgbClr val="97BC62"/>
          </a:solidFill>
          <a:ln w="12700">
            <a:solidFill>
              <a:srgbClr val="97BC62"/>
            </a:solidFill>
            <a:prstDash val="solid"/>
          </a:ln>
        </p:spPr>
      </p:sp>
      <p:sp>
        <p:nvSpPr>
          <p:cNvPr id="10" name="Shape 8"/>
          <p:cNvSpPr/>
          <p:nvPr/>
        </p:nvSpPr>
        <p:spPr>
          <a:xfrm>
            <a:off x="3392424" y="1783080"/>
            <a:ext cx="2560320" cy="1847088"/>
          </a:xfrm>
          <a:prstGeom prst="roundRect">
            <a:avLst>
              <a:gd name="adj" fmla="val 4950"/>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1" name="Shape 9"/>
          <p:cNvSpPr/>
          <p:nvPr/>
        </p:nvSpPr>
        <p:spPr>
          <a:xfrm>
            <a:off x="3593592" y="1956816"/>
            <a:ext cx="402336" cy="402336"/>
          </a:xfrm>
          <a:prstGeom prst="ellipse">
            <a:avLst/>
          </a:prstGeom>
          <a:solidFill>
            <a:srgbClr val="2C5F2D"/>
          </a:solidFill>
          <a:ln w="12700">
            <a:solidFill>
              <a:srgbClr val="2C5F2D"/>
            </a:solidFill>
            <a:prstDash val="solid"/>
          </a:ln>
        </p:spPr>
      </p:sp>
      <p:sp>
        <p:nvSpPr>
          <p:cNvPr id="12" name="Text 10"/>
          <p:cNvSpPr txBox="1"/>
          <p:nvPr/>
        </p:nvSpPr>
        <p:spPr>
          <a:xfrm>
            <a:off x="3593592" y="1956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4105656" y="1975104"/>
            <a:ext cx="1691640" cy="365760"/>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API layer</a:t>
            </a:r>
            <a:endParaRPr lang="en-US" sz="1500" dirty="0"/>
          </a:p>
        </p:txBody>
      </p:sp>
      <p:sp>
        <p:nvSpPr>
          <p:cNvPr id="14" name="Text 12"/>
          <p:cNvSpPr txBox="1"/>
          <p:nvPr/>
        </p:nvSpPr>
        <p:spPr>
          <a:xfrm>
            <a:off x="3593592" y="2414016"/>
            <a:ext cx="2176272" cy="1143000"/>
          </a:xfrm>
          <a:prstGeom prst="rect">
            <a:avLst/>
          </a:prstGeom>
          <a:noFill/>
          <a:ln/>
        </p:spPr>
        <p:txBody>
          <a:bodyPr wrap="square" lIns="0" tIns="0" rIns="0" bIns="0" rtlCol="0" anchor="ctr"/>
          <a:lstStyle/>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FastAPI · 43 endpoints</a:t>
            </a:r>
            <a:endParaRPr lang="en-US" sz="1050" dirty="0"/>
          </a:p>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Pydantic v2 validates every</a:t>
            </a:r>
            <a:endParaRPr lang="en-US" sz="1050" dirty="0"/>
          </a:p>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input; bcrypt + JWT auth</a:t>
            </a:r>
            <a:endParaRPr lang="en-US" sz="1050" dirty="0"/>
          </a:p>
        </p:txBody>
      </p:sp>
      <p:sp>
        <p:nvSpPr>
          <p:cNvPr id="15" name="Shape 13"/>
          <p:cNvSpPr/>
          <p:nvPr/>
        </p:nvSpPr>
        <p:spPr>
          <a:xfrm rot="5400000">
            <a:off x="5993892" y="2651760"/>
            <a:ext cx="201168" cy="201168"/>
          </a:xfrm>
          <a:prstGeom prst="triangle">
            <a:avLst/>
          </a:prstGeom>
          <a:solidFill>
            <a:srgbClr val="97BC62"/>
          </a:solidFill>
          <a:ln w="12700">
            <a:solidFill>
              <a:srgbClr val="97BC62"/>
            </a:solidFill>
            <a:prstDash val="solid"/>
          </a:ln>
        </p:spPr>
      </p:sp>
      <p:sp>
        <p:nvSpPr>
          <p:cNvPr id="16" name="Shape 14"/>
          <p:cNvSpPr/>
          <p:nvPr/>
        </p:nvSpPr>
        <p:spPr>
          <a:xfrm>
            <a:off x="6236208" y="1783080"/>
            <a:ext cx="2560320" cy="1847088"/>
          </a:xfrm>
          <a:prstGeom prst="roundRect">
            <a:avLst>
              <a:gd name="adj" fmla="val 4950"/>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7" name="Shape 15"/>
          <p:cNvSpPr/>
          <p:nvPr/>
        </p:nvSpPr>
        <p:spPr>
          <a:xfrm>
            <a:off x="6437376" y="1956816"/>
            <a:ext cx="402336" cy="402336"/>
          </a:xfrm>
          <a:prstGeom prst="ellipse">
            <a:avLst/>
          </a:prstGeom>
          <a:solidFill>
            <a:srgbClr val="2C5F2D"/>
          </a:solidFill>
          <a:ln w="12700">
            <a:solidFill>
              <a:srgbClr val="2C5F2D"/>
            </a:solidFill>
            <a:prstDash val="solid"/>
          </a:ln>
        </p:spPr>
      </p:sp>
      <p:sp>
        <p:nvSpPr>
          <p:cNvPr id="18" name="Text 16"/>
          <p:cNvSpPr txBox="1"/>
          <p:nvPr/>
        </p:nvSpPr>
        <p:spPr>
          <a:xfrm>
            <a:off x="6437376" y="1956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6949440" y="1975104"/>
            <a:ext cx="1691640" cy="365760"/>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Decision layer</a:t>
            </a:r>
            <a:endParaRPr lang="en-US" sz="1500" dirty="0"/>
          </a:p>
        </p:txBody>
      </p:sp>
      <p:sp>
        <p:nvSpPr>
          <p:cNvPr id="20" name="Text 18"/>
          <p:cNvSpPr txBox="1"/>
          <p:nvPr/>
        </p:nvSpPr>
        <p:spPr>
          <a:xfrm>
            <a:off x="6437376" y="2414016"/>
            <a:ext cx="2176272" cy="1143000"/>
          </a:xfrm>
          <a:prstGeom prst="rect">
            <a:avLst/>
          </a:prstGeom>
          <a:noFill/>
          <a:ln/>
        </p:spPr>
        <p:txBody>
          <a:bodyPr wrap="square" lIns="0" tIns="0" rIns="0" bIns="0" rtlCol="0" anchor="ctr"/>
          <a:lstStyle/>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9 services combine ML output</a:t>
            </a:r>
            <a:endParaRPr lang="en-US" sz="1050" dirty="0"/>
          </a:p>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with the agronomy knowledge</a:t>
            </a:r>
            <a:endParaRPr lang="en-US" sz="1050" dirty="0"/>
          </a:p>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base into a full answer</a:t>
            </a:r>
            <a:endParaRPr lang="en-US" sz="1050" dirty="0"/>
          </a:p>
        </p:txBody>
      </p:sp>
      <p:sp>
        <p:nvSpPr>
          <p:cNvPr id="21" name="Shape 19"/>
          <p:cNvSpPr/>
          <p:nvPr/>
        </p:nvSpPr>
        <p:spPr>
          <a:xfrm rot="5400000">
            <a:off x="8837676" y="2651760"/>
            <a:ext cx="201168" cy="201168"/>
          </a:xfrm>
          <a:prstGeom prst="triangle">
            <a:avLst/>
          </a:prstGeom>
          <a:solidFill>
            <a:srgbClr val="97BC62"/>
          </a:solidFill>
          <a:ln w="12700">
            <a:solidFill>
              <a:srgbClr val="97BC62"/>
            </a:solidFill>
            <a:prstDash val="solid"/>
          </a:ln>
        </p:spPr>
      </p:sp>
      <p:sp>
        <p:nvSpPr>
          <p:cNvPr id="22" name="Shape 20"/>
          <p:cNvSpPr/>
          <p:nvPr/>
        </p:nvSpPr>
        <p:spPr>
          <a:xfrm>
            <a:off x="9079992" y="1783080"/>
            <a:ext cx="2560320" cy="1847088"/>
          </a:xfrm>
          <a:prstGeom prst="roundRect">
            <a:avLst>
              <a:gd name="adj" fmla="val 4950"/>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23" name="Shape 21"/>
          <p:cNvSpPr/>
          <p:nvPr/>
        </p:nvSpPr>
        <p:spPr>
          <a:xfrm>
            <a:off x="9281160" y="1956816"/>
            <a:ext cx="402336" cy="402336"/>
          </a:xfrm>
          <a:prstGeom prst="ellipse">
            <a:avLst/>
          </a:prstGeom>
          <a:solidFill>
            <a:srgbClr val="2C5F2D"/>
          </a:solidFill>
          <a:ln w="12700">
            <a:solidFill>
              <a:srgbClr val="2C5F2D"/>
            </a:solidFill>
            <a:prstDash val="solid"/>
          </a:ln>
        </p:spPr>
      </p:sp>
      <p:sp>
        <p:nvSpPr>
          <p:cNvPr id="24" name="Text 22"/>
          <p:cNvSpPr txBox="1"/>
          <p:nvPr/>
        </p:nvSpPr>
        <p:spPr>
          <a:xfrm>
            <a:off x="9281160" y="1956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9793224" y="1975104"/>
            <a:ext cx="1691640" cy="365760"/>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Stores</a:t>
            </a:r>
            <a:endParaRPr lang="en-US" sz="1500" dirty="0"/>
          </a:p>
        </p:txBody>
      </p:sp>
      <p:sp>
        <p:nvSpPr>
          <p:cNvPr id="26" name="Text 24"/>
          <p:cNvSpPr txBox="1"/>
          <p:nvPr/>
        </p:nvSpPr>
        <p:spPr>
          <a:xfrm>
            <a:off x="9281160" y="2414016"/>
            <a:ext cx="2176272" cy="1143000"/>
          </a:xfrm>
          <a:prstGeom prst="rect">
            <a:avLst/>
          </a:prstGeom>
          <a:noFill/>
          <a:ln/>
        </p:spPr>
        <p:txBody>
          <a:bodyPr wrap="square" lIns="0" tIns="0" rIns="0" bIns="0" rtlCol="0" anchor="ctr"/>
          <a:lstStyle/>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PostgreSQL (Supabase),</a:t>
            </a:r>
            <a:endParaRPr lang="en-US" sz="1050" dirty="0"/>
          </a:p>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4 editable JSON files,</a:t>
            </a:r>
            <a:endParaRPr lang="en-US" sz="1050" dirty="0"/>
          </a:p>
          <a:p>
            <a:pPr indent="0" marL="0">
              <a:lnSpc>
                <a:spcPts val="1500"/>
              </a:lnSpc>
              <a:buNone/>
            </a:pPr>
            <a:r>
              <a:rPr lang="en-US" sz="1050" dirty="0">
                <a:solidFill>
                  <a:srgbClr val="26332C"/>
                </a:solidFill>
                <a:latin typeface="Calibri" pitchFamily="34" charset="0"/>
                <a:ea typeface="Calibri" pitchFamily="34" charset="-122"/>
                <a:cs typeface="Calibri" pitchFamily="34" charset="-120"/>
              </a:rPr>
              <a:t>model artifacts (.joblib)</a:t>
            </a:r>
            <a:endParaRPr lang="en-US" sz="1050" dirty="0"/>
          </a:p>
        </p:txBody>
      </p:sp>
      <p:sp>
        <p:nvSpPr>
          <p:cNvPr id="27" name="Text 25"/>
          <p:cNvSpPr txBox="1"/>
          <p:nvPr/>
        </p:nvSpPr>
        <p:spPr>
          <a:xfrm>
            <a:off x="548640" y="3968496"/>
            <a:ext cx="5486400" cy="274320"/>
          </a:xfrm>
          <a:prstGeom prst="rect">
            <a:avLst/>
          </a:prstGeom>
          <a:noFill/>
          <a:ln/>
        </p:spPr>
        <p:txBody>
          <a:bodyPr wrap="square" lIns="0" tIns="0" rIns="0" bIns="0" rtlCol="0" anchor="ctr"/>
          <a:lstStyle/>
          <a:p>
            <a:pPr indent="0" marL="0">
              <a:buNone/>
            </a:pPr>
            <a:r>
              <a:rPr lang="en-US" sz="1050" b="1" spc="150" kern="0" dirty="0">
                <a:solidFill>
                  <a:srgbClr val="2C5F2D"/>
                </a:solidFill>
                <a:latin typeface="Calibri" pitchFamily="34" charset="0"/>
                <a:ea typeface="Calibri" pitchFamily="34" charset="-122"/>
                <a:cs typeface="Calibri" pitchFamily="34" charset="-120"/>
              </a:rPr>
              <a:t>SEVEN MODULES ON THE SITE</a:t>
            </a:r>
            <a:endParaRPr lang="en-US" sz="1050" dirty="0"/>
          </a:p>
        </p:txBody>
      </p:sp>
      <p:sp>
        <p:nvSpPr>
          <p:cNvPr id="28" name="Shape 26"/>
          <p:cNvSpPr/>
          <p:nvPr/>
        </p:nvSpPr>
        <p:spPr>
          <a:xfrm>
            <a:off x="548640" y="4297680"/>
            <a:ext cx="1481328" cy="438912"/>
          </a:xfrm>
          <a:prstGeom prst="roundRect">
            <a:avLst>
              <a:gd name="adj" fmla="val 25000"/>
            </a:avLst>
          </a:prstGeom>
          <a:solidFill>
            <a:srgbClr val="E9F0E1"/>
          </a:solidFill>
          <a:ln w="12700">
            <a:solidFill>
              <a:srgbClr val="97BC62"/>
            </a:solidFill>
            <a:prstDash val="solid"/>
          </a:ln>
        </p:spPr>
      </p:sp>
      <p:sp>
        <p:nvSpPr>
          <p:cNvPr id="29" name="Text 27"/>
          <p:cNvSpPr txBox="1"/>
          <p:nvPr/>
        </p:nvSpPr>
        <p:spPr>
          <a:xfrm>
            <a:off x="548640" y="4297680"/>
            <a:ext cx="1481328" cy="438912"/>
          </a:xfrm>
          <a:prstGeom prst="rect">
            <a:avLst/>
          </a:prstGeom>
          <a:noFill/>
          <a:ln/>
        </p:spPr>
        <p:txBody>
          <a:bodyPr wrap="square" lIns="0" tIns="0" rIns="0" bIns="0" rtlCol="0" anchor="ctr"/>
          <a:lstStyle/>
          <a:p>
            <a:pPr algn="ctr" indent="0" marL="0">
              <a:buNone/>
            </a:pPr>
            <a:r>
              <a:rPr lang="en-US" sz="1150" b="1" dirty="0">
                <a:solidFill>
                  <a:srgbClr val="2C5F2D"/>
                </a:solidFill>
                <a:latin typeface="Calibri" pitchFamily="34" charset="0"/>
                <a:ea typeface="Calibri" pitchFamily="34" charset="-122"/>
                <a:cs typeface="Calibri" pitchFamily="34" charset="-120"/>
              </a:rPr>
              <a:t>Irrigation</a:t>
            </a:r>
            <a:endParaRPr lang="en-US" sz="1150" dirty="0"/>
          </a:p>
        </p:txBody>
      </p:sp>
      <p:sp>
        <p:nvSpPr>
          <p:cNvPr id="30" name="Shape 28"/>
          <p:cNvSpPr/>
          <p:nvPr/>
        </p:nvSpPr>
        <p:spPr>
          <a:xfrm>
            <a:off x="2157984" y="4297680"/>
            <a:ext cx="1481328" cy="438912"/>
          </a:xfrm>
          <a:prstGeom prst="roundRect">
            <a:avLst>
              <a:gd name="adj" fmla="val 25000"/>
            </a:avLst>
          </a:prstGeom>
          <a:solidFill>
            <a:srgbClr val="E9F0E1"/>
          </a:solidFill>
          <a:ln w="12700">
            <a:solidFill>
              <a:srgbClr val="97BC62"/>
            </a:solidFill>
            <a:prstDash val="solid"/>
          </a:ln>
        </p:spPr>
      </p:sp>
      <p:sp>
        <p:nvSpPr>
          <p:cNvPr id="31" name="Text 29"/>
          <p:cNvSpPr txBox="1"/>
          <p:nvPr/>
        </p:nvSpPr>
        <p:spPr>
          <a:xfrm>
            <a:off x="2157984" y="4297680"/>
            <a:ext cx="1481328" cy="438912"/>
          </a:xfrm>
          <a:prstGeom prst="rect">
            <a:avLst/>
          </a:prstGeom>
          <a:noFill/>
          <a:ln/>
        </p:spPr>
        <p:txBody>
          <a:bodyPr wrap="square" lIns="0" tIns="0" rIns="0" bIns="0" rtlCol="0" anchor="ctr"/>
          <a:lstStyle/>
          <a:p>
            <a:pPr algn="ctr" indent="0" marL="0">
              <a:buNone/>
            </a:pPr>
            <a:r>
              <a:rPr lang="en-US" sz="1150" b="1" dirty="0">
                <a:solidFill>
                  <a:srgbClr val="2C5F2D"/>
                </a:solidFill>
                <a:latin typeface="Calibri" pitchFamily="34" charset="0"/>
                <a:ea typeface="Calibri" pitchFamily="34" charset="-122"/>
                <a:cs typeface="Calibri" pitchFamily="34" charset="-120"/>
              </a:rPr>
              <a:t>Disease</a:t>
            </a:r>
            <a:endParaRPr lang="en-US" sz="1150" dirty="0"/>
          </a:p>
        </p:txBody>
      </p:sp>
      <p:sp>
        <p:nvSpPr>
          <p:cNvPr id="32" name="Shape 30"/>
          <p:cNvSpPr/>
          <p:nvPr/>
        </p:nvSpPr>
        <p:spPr>
          <a:xfrm>
            <a:off x="3767328" y="4297680"/>
            <a:ext cx="1481328" cy="438912"/>
          </a:xfrm>
          <a:prstGeom prst="roundRect">
            <a:avLst>
              <a:gd name="adj" fmla="val 25000"/>
            </a:avLst>
          </a:prstGeom>
          <a:solidFill>
            <a:srgbClr val="E9F0E1"/>
          </a:solidFill>
          <a:ln w="12700">
            <a:solidFill>
              <a:srgbClr val="97BC62"/>
            </a:solidFill>
            <a:prstDash val="solid"/>
          </a:ln>
        </p:spPr>
      </p:sp>
      <p:sp>
        <p:nvSpPr>
          <p:cNvPr id="33" name="Text 31"/>
          <p:cNvSpPr txBox="1"/>
          <p:nvPr/>
        </p:nvSpPr>
        <p:spPr>
          <a:xfrm>
            <a:off x="3767328" y="4297680"/>
            <a:ext cx="1481328" cy="438912"/>
          </a:xfrm>
          <a:prstGeom prst="rect">
            <a:avLst/>
          </a:prstGeom>
          <a:noFill/>
          <a:ln/>
        </p:spPr>
        <p:txBody>
          <a:bodyPr wrap="square" lIns="0" tIns="0" rIns="0" bIns="0" rtlCol="0" anchor="ctr"/>
          <a:lstStyle/>
          <a:p>
            <a:pPr algn="ctr" indent="0" marL="0">
              <a:buNone/>
            </a:pPr>
            <a:r>
              <a:rPr lang="en-US" sz="1150" b="1" dirty="0">
                <a:solidFill>
                  <a:srgbClr val="2C5F2D"/>
                </a:solidFill>
                <a:latin typeface="Calibri" pitchFamily="34" charset="0"/>
                <a:ea typeface="Calibri" pitchFamily="34" charset="-122"/>
                <a:cs typeface="Calibri" pitchFamily="34" charset="-120"/>
              </a:rPr>
              <a:t>Soil</a:t>
            </a:r>
            <a:endParaRPr lang="en-US" sz="1150" dirty="0"/>
          </a:p>
        </p:txBody>
      </p:sp>
      <p:sp>
        <p:nvSpPr>
          <p:cNvPr id="34" name="Shape 32"/>
          <p:cNvSpPr/>
          <p:nvPr/>
        </p:nvSpPr>
        <p:spPr>
          <a:xfrm>
            <a:off x="5376672" y="4297680"/>
            <a:ext cx="1481328" cy="438912"/>
          </a:xfrm>
          <a:prstGeom prst="roundRect">
            <a:avLst>
              <a:gd name="adj" fmla="val 25000"/>
            </a:avLst>
          </a:prstGeom>
          <a:solidFill>
            <a:srgbClr val="E9F0E1"/>
          </a:solidFill>
          <a:ln w="12700">
            <a:solidFill>
              <a:srgbClr val="97BC62"/>
            </a:solidFill>
            <a:prstDash val="solid"/>
          </a:ln>
        </p:spPr>
      </p:sp>
      <p:sp>
        <p:nvSpPr>
          <p:cNvPr id="35" name="Text 33"/>
          <p:cNvSpPr txBox="1"/>
          <p:nvPr/>
        </p:nvSpPr>
        <p:spPr>
          <a:xfrm>
            <a:off x="5376672" y="4297680"/>
            <a:ext cx="1481328" cy="438912"/>
          </a:xfrm>
          <a:prstGeom prst="rect">
            <a:avLst/>
          </a:prstGeom>
          <a:noFill/>
          <a:ln/>
        </p:spPr>
        <p:txBody>
          <a:bodyPr wrap="square" lIns="0" tIns="0" rIns="0" bIns="0" rtlCol="0" anchor="ctr"/>
          <a:lstStyle/>
          <a:p>
            <a:pPr algn="ctr" indent="0" marL="0">
              <a:buNone/>
            </a:pPr>
            <a:r>
              <a:rPr lang="en-US" sz="1150" b="1" dirty="0">
                <a:solidFill>
                  <a:srgbClr val="2C5F2D"/>
                </a:solidFill>
                <a:latin typeface="Calibri" pitchFamily="34" charset="0"/>
                <a:ea typeface="Calibri" pitchFamily="34" charset="-122"/>
                <a:cs typeface="Calibri" pitchFamily="34" charset="-120"/>
              </a:rPr>
              <a:t>Varieties</a:t>
            </a:r>
            <a:endParaRPr lang="en-US" sz="1150" dirty="0"/>
          </a:p>
        </p:txBody>
      </p:sp>
      <p:sp>
        <p:nvSpPr>
          <p:cNvPr id="36" name="Shape 34"/>
          <p:cNvSpPr/>
          <p:nvPr/>
        </p:nvSpPr>
        <p:spPr>
          <a:xfrm>
            <a:off x="6986016" y="4297680"/>
            <a:ext cx="1481328" cy="438912"/>
          </a:xfrm>
          <a:prstGeom prst="roundRect">
            <a:avLst>
              <a:gd name="adj" fmla="val 25000"/>
            </a:avLst>
          </a:prstGeom>
          <a:solidFill>
            <a:srgbClr val="E9F0E1"/>
          </a:solidFill>
          <a:ln w="12700">
            <a:solidFill>
              <a:srgbClr val="97BC62"/>
            </a:solidFill>
            <a:prstDash val="solid"/>
          </a:ln>
        </p:spPr>
      </p:sp>
      <p:sp>
        <p:nvSpPr>
          <p:cNvPr id="37" name="Text 35"/>
          <p:cNvSpPr txBox="1"/>
          <p:nvPr/>
        </p:nvSpPr>
        <p:spPr>
          <a:xfrm>
            <a:off x="6986016" y="4297680"/>
            <a:ext cx="1481328" cy="438912"/>
          </a:xfrm>
          <a:prstGeom prst="rect">
            <a:avLst/>
          </a:prstGeom>
          <a:noFill/>
          <a:ln/>
        </p:spPr>
        <p:txBody>
          <a:bodyPr wrap="square" lIns="0" tIns="0" rIns="0" bIns="0" rtlCol="0" anchor="ctr"/>
          <a:lstStyle/>
          <a:p>
            <a:pPr algn="ctr" indent="0" marL="0">
              <a:buNone/>
            </a:pPr>
            <a:r>
              <a:rPr lang="en-US" sz="1150" b="1" dirty="0">
                <a:solidFill>
                  <a:srgbClr val="2C5F2D"/>
                </a:solidFill>
                <a:latin typeface="Calibri" pitchFamily="34" charset="0"/>
                <a:ea typeface="Calibri" pitchFamily="34" charset="-122"/>
                <a:cs typeface="Calibri" pitchFamily="34" charset="-120"/>
              </a:rPr>
              <a:t>Fertilizer</a:t>
            </a:r>
            <a:endParaRPr lang="en-US" sz="1150" dirty="0"/>
          </a:p>
        </p:txBody>
      </p:sp>
      <p:sp>
        <p:nvSpPr>
          <p:cNvPr id="38" name="Shape 36"/>
          <p:cNvSpPr/>
          <p:nvPr/>
        </p:nvSpPr>
        <p:spPr>
          <a:xfrm>
            <a:off x="8595360" y="4297680"/>
            <a:ext cx="1481328" cy="438912"/>
          </a:xfrm>
          <a:prstGeom prst="roundRect">
            <a:avLst>
              <a:gd name="adj" fmla="val 25000"/>
            </a:avLst>
          </a:prstGeom>
          <a:solidFill>
            <a:srgbClr val="E9F0E1"/>
          </a:solidFill>
          <a:ln w="12700">
            <a:solidFill>
              <a:srgbClr val="97BC62"/>
            </a:solidFill>
            <a:prstDash val="solid"/>
          </a:ln>
        </p:spPr>
      </p:sp>
      <p:sp>
        <p:nvSpPr>
          <p:cNvPr id="39" name="Text 37"/>
          <p:cNvSpPr txBox="1"/>
          <p:nvPr/>
        </p:nvSpPr>
        <p:spPr>
          <a:xfrm>
            <a:off x="8595360" y="4297680"/>
            <a:ext cx="1481328" cy="438912"/>
          </a:xfrm>
          <a:prstGeom prst="rect">
            <a:avLst/>
          </a:prstGeom>
          <a:noFill/>
          <a:ln/>
        </p:spPr>
        <p:txBody>
          <a:bodyPr wrap="square" lIns="0" tIns="0" rIns="0" bIns="0" rtlCol="0" anchor="ctr"/>
          <a:lstStyle/>
          <a:p>
            <a:pPr algn="ctr" indent="0" marL="0">
              <a:buNone/>
            </a:pPr>
            <a:r>
              <a:rPr lang="en-US" sz="1150" b="1" dirty="0">
                <a:solidFill>
                  <a:srgbClr val="2C5F2D"/>
                </a:solidFill>
                <a:latin typeface="Calibri" pitchFamily="34" charset="0"/>
                <a:ea typeface="Calibri" pitchFamily="34" charset="-122"/>
                <a:cs typeface="Calibri" pitchFamily="34" charset="-120"/>
              </a:rPr>
              <a:t>Assistant</a:t>
            </a:r>
            <a:endParaRPr lang="en-US" sz="1150" dirty="0"/>
          </a:p>
        </p:txBody>
      </p:sp>
      <p:sp>
        <p:nvSpPr>
          <p:cNvPr id="40" name="Shape 38"/>
          <p:cNvSpPr/>
          <p:nvPr/>
        </p:nvSpPr>
        <p:spPr>
          <a:xfrm>
            <a:off x="10204704" y="4297680"/>
            <a:ext cx="1481328" cy="438912"/>
          </a:xfrm>
          <a:prstGeom prst="roundRect">
            <a:avLst>
              <a:gd name="adj" fmla="val 25000"/>
            </a:avLst>
          </a:prstGeom>
          <a:solidFill>
            <a:srgbClr val="E9F0E1"/>
          </a:solidFill>
          <a:ln w="12700">
            <a:solidFill>
              <a:srgbClr val="97BC62"/>
            </a:solidFill>
            <a:prstDash val="solid"/>
          </a:ln>
        </p:spPr>
      </p:sp>
      <p:sp>
        <p:nvSpPr>
          <p:cNvPr id="41" name="Text 39"/>
          <p:cNvSpPr txBox="1"/>
          <p:nvPr/>
        </p:nvSpPr>
        <p:spPr>
          <a:xfrm>
            <a:off x="10204704" y="4297680"/>
            <a:ext cx="1481328" cy="438912"/>
          </a:xfrm>
          <a:prstGeom prst="rect">
            <a:avLst/>
          </a:prstGeom>
          <a:noFill/>
          <a:ln/>
        </p:spPr>
        <p:txBody>
          <a:bodyPr wrap="square" lIns="0" tIns="0" rIns="0" bIns="0" rtlCol="0" anchor="ctr"/>
          <a:lstStyle/>
          <a:p>
            <a:pPr algn="ctr" indent="0" marL="0">
              <a:buNone/>
            </a:pPr>
            <a:r>
              <a:rPr lang="en-US" sz="1150" b="1" dirty="0">
                <a:solidFill>
                  <a:srgbClr val="2C5F2D"/>
                </a:solidFill>
                <a:latin typeface="Calibri" pitchFamily="34" charset="0"/>
                <a:ea typeface="Calibri" pitchFamily="34" charset="-122"/>
                <a:cs typeface="Calibri" pitchFamily="34" charset="-120"/>
              </a:rPr>
              <a:t>History</a:t>
            </a:r>
            <a:endParaRPr lang="en-US" sz="1150" dirty="0"/>
          </a:p>
        </p:txBody>
      </p:sp>
      <p:sp>
        <p:nvSpPr>
          <p:cNvPr id="42" name="Shape 40"/>
          <p:cNvSpPr/>
          <p:nvPr/>
        </p:nvSpPr>
        <p:spPr>
          <a:xfrm>
            <a:off x="548640" y="5029200"/>
            <a:ext cx="11091672" cy="1078992"/>
          </a:xfrm>
          <a:prstGeom prst="roundRect">
            <a:avLst>
              <a:gd name="adj" fmla="val 8475"/>
            </a:avLst>
          </a:prstGeom>
          <a:solidFill>
            <a:srgbClr val="FCF6E8"/>
          </a:solidFill>
          <a:ln w="12700">
            <a:solidFill>
              <a:srgbClr val="EBD9AC"/>
            </a:solidFill>
            <a:prstDash val="solid"/>
          </a:ln>
          <a:effectLst>
            <a:outerShdw sx="100000" sy="100000" kx="0" ky="0" algn="bl" rotWithShape="0" blurRad="127000" dist="25400" dir="5400000">
              <a:srgbClr val="2C5F2D">
                <a:alpha val="13000"/>
              </a:srgbClr>
            </a:outerShdw>
          </a:effectLst>
        </p:spPr>
      </p:sp>
      <p:sp>
        <p:nvSpPr>
          <p:cNvPr id="43" name="Shape 41"/>
          <p:cNvSpPr/>
          <p:nvPr/>
        </p:nvSpPr>
        <p:spPr>
          <a:xfrm>
            <a:off x="804672" y="5285232"/>
            <a:ext cx="402336" cy="402336"/>
          </a:xfrm>
          <a:prstGeom prst="ellipse">
            <a:avLst/>
          </a:prstGeom>
          <a:solidFill>
            <a:srgbClr val="E0A526"/>
          </a:solidFill>
          <a:ln w="12700">
            <a:solidFill>
              <a:srgbClr val="E0A526"/>
            </a:solidFill>
            <a:prstDash val="solid"/>
          </a:ln>
        </p:spPr>
      </p:sp>
      <p:sp>
        <p:nvSpPr>
          <p:cNvPr id="44" name="Text 42"/>
          <p:cNvSpPr txBox="1"/>
          <p:nvPr/>
        </p:nvSpPr>
        <p:spPr>
          <a:xfrm>
            <a:off x="804672" y="5285232"/>
            <a:ext cx="402336" cy="402336"/>
          </a:xfrm>
          <a:prstGeom prst="rect">
            <a:avLst/>
          </a:prstGeom>
          <a:noFill/>
          <a:ln/>
        </p:spPr>
        <p:txBody>
          <a:bodyPr wrap="square" lIns="0" tIns="0" rIns="0" bIns="0" rtlCol="0" anchor="ctr"/>
          <a:lstStyle/>
          <a:p>
            <a:pPr algn="ctr" indent="0" marL="0">
              <a:buNone/>
            </a:pPr>
            <a:r>
              <a:rPr lang="en-US" sz="1400" b="1" dirty="0">
                <a:solidFill>
                  <a:srgbClr val="14301F"/>
                </a:solidFill>
                <a:latin typeface="Calibri" pitchFamily="34" charset="0"/>
                <a:ea typeface="Calibri" pitchFamily="34" charset="-122"/>
                <a:cs typeface="Calibri" pitchFamily="34" charset="-120"/>
              </a:rPr>
              <a:t>!</a:t>
            </a:r>
            <a:endParaRPr lang="en-US" sz="1400" dirty="0"/>
          </a:p>
        </p:txBody>
      </p:sp>
      <p:sp>
        <p:nvSpPr>
          <p:cNvPr id="45" name="Text 43"/>
          <p:cNvSpPr txBox="1"/>
          <p:nvPr/>
        </p:nvSpPr>
        <p:spPr>
          <a:xfrm>
            <a:off x="1335024" y="5138928"/>
            <a:ext cx="10040112" cy="868680"/>
          </a:xfrm>
          <a:prstGeom prst="rect">
            <a:avLst/>
          </a:prstGeom>
          <a:noFill/>
          <a:ln/>
        </p:spPr>
        <p:txBody>
          <a:bodyPr wrap="square" lIns="0" tIns="0" rIns="0" bIns="0" rtlCol="0" anchor="ctr"/>
          <a:lstStyle/>
          <a:p>
            <a:pPr indent="0" marL="0">
              <a:lnSpc>
                <a:spcPts val="1500"/>
              </a:lnSpc>
              <a:buNone/>
            </a:pPr>
            <a:r>
              <a:rPr lang="en-US" sz="1100" b="1" dirty="0">
                <a:solidFill>
                  <a:srgbClr val="14301F"/>
                </a:solidFill>
                <a:latin typeface="Calibri" pitchFamily="34" charset="0"/>
                <a:ea typeface="Calibri" pitchFamily="34" charset="-122"/>
                <a:cs typeface="Calibri" pitchFamily="34" charset="-120"/>
              </a:rPr>
              <a:t>Live vs. local — the site reports this itself at /api/system/status.  </a:t>
            </a:r>
            <a:pPr indent="0" marL="0">
              <a:lnSpc>
                <a:spcPts val="1500"/>
              </a:lnSpc>
              <a:buNone/>
            </a:pPr>
            <a:r>
              <a:rPr lang="en-US" sz="1100" dirty="0">
                <a:solidFill>
                  <a:srgbClr val="26332C"/>
                </a:solidFill>
                <a:latin typeface="Calibri" pitchFamily="34" charset="0"/>
                <a:ea typeface="Calibri" pitchFamily="34" charset="-122"/>
                <a:cs typeface="Calibri" pitchFamily="34" charset="-120"/>
              </a:rPr>
              <a:t>Vercel caps a Python function at 250 MB and the scientific stack is 457 MB, so the deployed API runs the transparent water-balance rule engine instead of the trained Random Forest, and analyses uploaded photos in memory rather than storing them. Running it locally gives the trained model and stored images.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03504"/>
          </a:xfrm>
          <a:prstGeom prst="rect">
            <a:avLst/>
          </a:prstGeom>
          <a:noFill/>
          <a:ln/>
        </p:spPr>
        <p:txBody>
          <a:bodyPr wrap="square" lIns="0" tIns="0" rIns="0" bIns="0" rtlCol="0" anchor="ctr"/>
          <a:lstStyle/>
          <a:p>
            <a:pPr indent="0" marL="0">
              <a:buNone/>
            </a:pPr>
            <a:r>
              <a:rPr lang="en-US" sz="3200" b="1" dirty="0">
                <a:solidFill>
                  <a:srgbClr val="14301F"/>
                </a:solidFill>
                <a:latin typeface="Cambria" pitchFamily="34" charset="0"/>
                <a:ea typeface="Cambria" pitchFamily="34" charset="-122"/>
                <a:cs typeface="Cambria" pitchFamily="34" charset="-120"/>
              </a:rPr>
              <a:t>Frontend</a:t>
            </a:r>
            <a:endParaRPr lang="en-US" sz="3200" dirty="0"/>
          </a:p>
        </p:txBody>
      </p:sp>
      <p:sp>
        <p:nvSpPr>
          <p:cNvPr id="3" name="Text 1"/>
          <p:cNvSpPr txBox="1"/>
          <p:nvPr/>
        </p:nvSpPr>
        <p:spPr>
          <a:xfrm>
            <a:off x="548640" y="1005840"/>
            <a:ext cx="10725912" cy="420624"/>
          </a:xfrm>
          <a:prstGeom prst="rect">
            <a:avLst/>
          </a:prstGeom>
          <a:noFill/>
          <a:ln/>
        </p:spPr>
        <p:txBody>
          <a:bodyPr wrap="square" lIns="0" tIns="0" rIns="0" bIns="0" rtlCol="0" anchor="ctr"/>
          <a:lstStyle/>
          <a:p>
            <a:pPr indent="0" marL="0">
              <a:buNone/>
            </a:pPr>
            <a:r>
              <a:rPr lang="en-US" sz="1350" dirty="0">
                <a:solidFill>
                  <a:srgbClr val="5A6A61"/>
                </a:solidFill>
                <a:latin typeface="Calibri" pitchFamily="34" charset="0"/>
                <a:ea typeface="Calibri" pitchFamily="34" charset="-122"/>
                <a:cs typeface="Calibri" pitchFamily="34" charset="-120"/>
              </a:rPr>
              <a:t>A typed React single-page app — every screen is a route behind an auth guard, and every AI result carries a badge saying where it came from.</a:t>
            </a:r>
            <a:endParaRPr lang="en-US" sz="1350" dirty="0"/>
          </a:p>
        </p:txBody>
      </p:sp>
      <p:sp>
        <p:nvSpPr>
          <p:cNvPr id="4" name="Shape 2"/>
          <p:cNvSpPr/>
          <p:nvPr/>
        </p:nvSpPr>
        <p:spPr>
          <a:xfrm>
            <a:off x="548640" y="1691640"/>
            <a:ext cx="3840480" cy="3127248"/>
          </a:xfrm>
          <a:prstGeom prst="roundRect">
            <a:avLst>
              <a:gd name="adj" fmla="val 2924"/>
            </a:avLst>
          </a:prstGeom>
          <a:solidFill>
            <a:srgbClr val="14301F"/>
          </a:solidFill>
          <a:ln w="12700">
            <a:solidFill>
              <a:srgbClr val="14301F"/>
            </a:solidFill>
            <a:prstDash val="solid"/>
          </a:ln>
          <a:effectLst>
            <a:outerShdw sx="100000" sy="100000" kx="0" ky="0" algn="bl" rotWithShape="0" blurRad="127000" dist="25400" dir="5400000">
              <a:srgbClr val="2C5F2D">
                <a:alpha val="13000"/>
              </a:srgbClr>
            </a:outerShdw>
          </a:effectLst>
        </p:spPr>
      </p:sp>
      <p:sp>
        <p:nvSpPr>
          <p:cNvPr id="5" name="Text 3"/>
          <p:cNvSpPr txBox="1"/>
          <p:nvPr/>
        </p:nvSpPr>
        <p:spPr>
          <a:xfrm>
            <a:off x="822960" y="1874520"/>
            <a:ext cx="3291840" cy="274320"/>
          </a:xfrm>
          <a:prstGeom prst="rect">
            <a:avLst/>
          </a:prstGeom>
          <a:noFill/>
          <a:ln/>
        </p:spPr>
        <p:txBody>
          <a:bodyPr wrap="square" lIns="0" tIns="0" rIns="0" bIns="0" rtlCol="0" anchor="ctr"/>
          <a:lstStyle/>
          <a:p>
            <a:pPr indent="0" marL="0">
              <a:buNone/>
            </a:pPr>
            <a:r>
              <a:rPr lang="en-US" sz="1050" b="1" spc="150" kern="0" dirty="0">
                <a:solidFill>
                  <a:srgbClr val="E0A526"/>
                </a:solidFill>
                <a:latin typeface="Calibri" pitchFamily="34" charset="0"/>
                <a:ea typeface="Calibri" pitchFamily="34" charset="-122"/>
                <a:cs typeface="Calibri" pitchFamily="34" charset="-120"/>
              </a:rPr>
              <a:t>STACK</a:t>
            </a:r>
            <a:endParaRPr lang="en-US" sz="1050" dirty="0"/>
          </a:p>
        </p:txBody>
      </p:sp>
      <p:sp>
        <p:nvSpPr>
          <p:cNvPr id="6" name="Shape 4"/>
          <p:cNvSpPr/>
          <p:nvPr/>
        </p:nvSpPr>
        <p:spPr>
          <a:xfrm>
            <a:off x="841248" y="2340864"/>
            <a:ext cx="91440" cy="91440"/>
          </a:xfrm>
          <a:prstGeom prst="ellipse">
            <a:avLst/>
          </a:prstGeom>
          <a:solidFill>
            <a:srgbClr val="97BC62"/>
          </a:solidFill>
          <a:ln w="12700">
            <a:solidFill>
              <a:srgbClr val="97BC62"/>
            </a:solidFill>
            <a:prstDash val="solid"/>
          </a:ln>
        </p:spPr>
      </p:sp>
      <p:sp>
        <p:nvSpPr>
          <p:cNvPr id="7" name="Text 5"/>
          <p:cNvSpPr txBox="1"/>
          <p:nvPr/>
        </p:nvSpPr>
        <p:spPr>
          <a:xfrm>
            <a:off x="1051560" y="2240280"/>
            <a:ext cx="20116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React</a:t>
            </a:r>
            <a:endParaRPr lang="en-US" sz="1200" dirty="0"/>
          </a:p>
        </p:txBody>
      </p:sp>
      <p:sp>
        <p:nvSpPr>
          <p:cNvPr id="8" name="Text 6"/>
          <p:cNvSpPr txBox="1"/>
          <p:nvPr/>
        </p:nvSpPr>
        <p:spPr>
          <a:xfrm>
            <a:off x="2926080" y="2240280"/>
            <a:ext cx="1188720" cy="292608"/>
          </a:xfrm>
          <a:prstGeom prst="rect">
            <a:avLst/>
          </a:prstGeom>
          <a:noFill/>
          <a:ln/>
        </p:spPr>
        <p:txBody>
          <a:bodyPr wrap="square" lIns="0" tIns="0" rIns="0" bIns="0" rtlCol="0" anchor="ctr"/>
          <a:lstStyle/>
          <a:p>
            <a:pPr algn="r" indent="0" marL="0">
              <a:buNone/>
            </a:pPr>
            <a:r>
              <a:rPr lang="en-US" sz="1150" dirty="0">
                <a:solidFill>
                  <a:srgbClr val="97BC62"/>
                </a:solidFill>
                <a:latin typeface="Calibri" pitchFamily="34" charset="0"/>
                <a:ea typeface="Calibri" pitchFamily="34" charset="-122"/>
                <a:cs typeface="Calibri" pitchFamily="34" charset="-120"/>
              </a:rPr>
              <a:t>19</a:t>
            </a:r>
            <a:endParaRPr lang="en-US" sz="1150" dirty="0"/>
          </a:p>
        </p:txBody>
      </p:sp>
      <p:sp>
        <p:nvSpPr>
          <p:cNvPr id="9" name="Shape 7"/>
          <p:cNvSpPr/>
          <p:nvPr/>
        </p:nvSpPr>
        <p:spPr>
          <a:xfrm>
            <a:off x="841248" y="2660904"/>
            <a:ext cx="91440" cy="91440"/>
          </a:xfrm>
          <a:prstGeom prst="ellipse">
            <a:avLst/>
          </a:prstGeom>
          <a:solidFill>
            <a:srgbClr val="97BC62"/>
          </a:solidFill>
          <a:ln w="12700">
            <a:solidFill>
              <a:srgbClr val="97BC62"/>
            </a:solidFill>
            <a:prstDash val="solid"/>
          </a:ln>
        </p:spPr>
      </p:sp>
      <p:sp>
        <p:nvSpPr>
          <p:cNvPr id="10" name="Text 8"/>
          <p:cNvSpPr txBox="1"/>
          <p:nvPr/>
        </p:nvSpPr>
        <p:spPr>
          <a:xfrm>
            <a:off x="1051560" y="2560320"/>
            <a:ext cx="20116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Vite</a:t>
            </a:r>
            <a:endParaRPr lang="en-US" sz="1200" dirty="0"/>
          </a:p>
        </p:txBody>
      </p:sp>
      <p:sp>
        <p:nvSpPr>
          <p:cNvPr id="11" name="Text 9"/>
          <p:cNvSpPr txBox="1"/>
          <p:nvPr/>
        </p:nvSpPr>
        <p:spPr>
          <a:xfrm>
            <a:off x="2926080" y="2560320"/>
            <a:ext cx="1188720" cy="292608"/>
          </a:xfrm>
          <a:prstGeom prst="rect">
            <a:avLst/>
          </a:prstGeom>
          <a:noFill/>
          <a:ln/>
        </p:spPr>
        <p:txBody>
          <a:bodyPr wrap="square" lIns="0" tIns="0" rIns="0" bIns="0" rtlCol="0" anchor="ctr"/>
          <a:lstStyle/>
          <a:p>
            <a:pPr algn="r" indent="0" marL="0">
              <a:buNone/>
            </a:pPr>
            <a:r>
              <a:rPr lang="en-US" sz="1150" dirty="0">
                <a:solidFill>
                  <a:srgbClr val="97BC62"/>
                </a:solidFill>
                <a:latin typeface="Calibri" pitchFamily="34" charset="0"/>
                <a:ea typeface="Calibri" pitchFamily="34" charset="-122"/>
                <a:cs typeface="Calibri" pitchFamily="34" charset="-120"/>
              </a:rPr>
              <a:t>6</a:t>
            </a:r>
            <a:endParaRPr lang="en-US" sz="1150" dirty="0"/>
          </a:p>
        </p:txBody>
      </p:sp>
      <p:sp>
        <p:nvSpPr>
          <p:cNvPr id="12" name="Shape 10"/>
          <p:cNvSpPr/>
          <p:nvPr/>
        </p:nvSpPr>
        <p:spPr>
          <a:xfrm>
            <a:off x="841248" y="2980944"/>
            <a:ext cx="91440" cy="91440"/>
          </a:xfrm>
          <a:prstGeom prst="ellipse">
            <a:avLst/>
          </a:prstGeom>
          <a:solidFill>
            <a:srgbClr val="97BC62"/>
          </a:solidFill>
          <a:ln w="12700">
            <a:solidFill>
              <a:srgbClr val="97BC62"/>
            </a:solidFill>
            <a:prstDash val="solid"/>
          </a:ln>
        </p:spPr>
      </p:sp>
      <p:sp>
        <p:nvSpPr>
          <p:cNvPr id="13" name="Text 11"/>
          <p:cNvSpPr txBox="1"/>
          <p:nvPr/>
        </p:nvSpPr>
        <p:spPr>
          <a:xfrm>
            <a:off x="1051560" y="2880360"/>
            <a:ext cx="20116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TypeScript</a:t>
            </a:r>
            <a:endParaRPr lang="en-US" sz="1200" dirty="0"/>
          </a:p>
        </p:txBody>
      </p:sp>
      <p:sp>
        <p:nvSpPr>
          <p:cNvPr id="14" name="Text 12"/>
          <p:cNvSpPr txBox="1"/>
          <p:nvPr/>
        </p:nvSpPr>
        <p:spPr>
          <a:xfrm>
            <a:off x="2926080" y="2880360"/>
            <a:ext cx="1188720" cy="292608"/>
          </a:xfrm>
          <a:prstGeom prst="rect">
            <a:avLst/>
          </a:prstGeom>
          <a:noFill/>
          <a:ln/>
        </p:spPr>
        <p:txBody>
          <a:bodyPr wrap="square" lIns="0" tIns="0" rIns="0" bIns="0" rtlCol="0" anchor="ctr"/>
          <a:lstStyle/>
          <a:p>
            <a:pPr algn="r" indent="0" marL="0">
              <a:buNone/>
            </a:pPr>
            <a:r>
              <a:rPr lang="en-US" sz="1150" dirty="0">
                <a:solidFill>
                  <a:srgbClr val="97BC62"/>
                </a:solidFill>
                <a:latin typeface="Calibri" pitchFamily="34" charset="0"/>
                <a:ea typeface="Calibri" pitchFamily="34" charset="-122"/>
                <a:cs typeface="Calibri" pitchFamily="34" charset="-120"/>
              </a:rPr>
              <a:t>5.7</a:t>
            </a:r>
            <a:endParaRPr lang="en-US" sz="1150" dirty="0"/>
          </a:p>
        </p:txBody>
      </p:sp>
      <p:sp>
        <p:nvSpPr>
          <p:cNvPr id="15" name="Shape 13"/>
          <p:cNvSpPr/>
          <p:nvPr/>
        </p:nvSpPr>
        <p:spPr>
          <a:xfrm>
            <a:off x="841248" y="3300984"/>
            <a:ext cx="91440" cy="91440"/>
          </a:xfrm>
          <a:prstGeom prst="ellipse">
            <a:avLst/>
          </a:prstGeom>
          <a:solidFill>
            <a:srgbClr val="97BC62"/>
          </a:solidFill>
          <a:ln w="12700">
            <a:solidFill>
              <a:srgbClr val="97BC62"/>
            </a:solidFill>
            <a:prstDash val="solid"/>
          </a:ln>
        </p:spPr>
      </p:sp>
      <p:sp>
        <p:nvSpPr>
          <p:cNvPr id="16" name="Text 14"/>
          <p:cNvSpPr txBox="1"/>
          <p:nvPr/>
        </p:nvSpPr>
        <p:spPr>
          <a:xfrm>
            <a:off x="1051560" y="3200400"/>
            <a:ext cx="20116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Tailwind CSS</a:t>
            </a:r>
            <a:endParaRPr lang="en-US" sz="1200" dirty="0"/>
          </a:p>
        </p:txBody>
      </p:sp>
      <p:sp>
        <p:nvSpPr>
          <p:cNvPr id="17" name="Text 15"/>
          <p:cNvSpPr txBox="1"/>
          <p:nvPr/>
        </p:nvSpPr>
        <p:spPr>
          <a:xfrm>
            <a:off x="2926080" y="3200400"/>
            <a:ext cx="1188720" cy="292608"/>
          </a:xfrm>
          <a:prstGeom prst="rect">
            <a:avLst/>
          </a:prstGeom>
          <a:noFill/>
          <a:ln/>
        </p:spPr>
        <p:txBody>
          <a:bodyPr wrap="square" lIns="0" tIns="0" rIns="0" bIns="0" rtlCol="0" anchor="ctr"/>
          <a:lstStyle/>
          <a:p>
            <a:pPr algn="r" indent="0" marL="0">
              <a:buNone/>
            </a:pPr>
            <a:r>
              <a:rPr lang="en-US" sz="1150" dirty="0">
                <a:solidFill>
                  <a:srgbClr val="97BC62"/>
                </a:solidFill>
                <a:latin typeface="Calibri" pitchFamily="34" charset="0"/>
                <a:ea typeface="Calibri" pitchFamily="34" charset="-122"/>
                <a:cs typeface="Calibri" pitchFamily="34" charset="-120"/>
              </a:rPr>
              <a:t>v4</a:t>
            </a:r>
            <a:endParaRPr lang="en-US" sz="1150" dirty="0"/>
          </a:p>
        </p:txBody>
      </p:sp>
      <p:sp>
        <p:nvSpPr>
          <p:cNvPr id="18" name="Shape 16"/>
          <p:cNvSpPr/>
          <p:nvPr/>
        </p:nvSpPr>
        <p:spPr>
          <a:xfrm>
            <a:off x="841248" y="3621024"/>
            <a:ext cx="91440" cy="91440"/>
          </a:xfrm>
          <a:prstGeom prst="ellipse">
            <a:avLst/>
          </a:prstGeom>
          <a:solidFill>
            <a:srgbClr val="97BC62"/>
          </a:solidFill>
          <a:ln w="12700">
            <a:solidFill>
              <a:srgbClr val="97BC62"/>
            </a:solidFill>
            <a:prstDash val="solid"/>
          </a:ln>
        </p:spPr>
      </p:sp>
      <p:sp>
        <p:nvSpPr>
          <p:cNvPr id="19" name="Text 17"/>
          <p:cNvSpPr txBox="1"/>
          <p:nvPr/>
        </p:nvSpPr>
        <p:spPr>
          <a:xfrm>
            <a:off x="1051560" y="3520440"/>
            <a:ext cx="20116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React Router</a:t>
            </a:r>
            <a:endParaRPr lang="en-US" sz="1200" dirty="0"/>
          </a:p>
        </p:txBody>
      </p:sp>
      <p:sp>
        <p:nvSpPr>
          <p:cNvPr id="20" name="Text 18"/>
          <p:cNvSpPr txBox="1"/>
          <p:nvPr/>
        </p:nvSpPr>
        <p:spPr>
          <a:xfrm>
            <a:off x="2926080" y="3520440"/>
            <a:ext cx="1188720" cy="292608"/>
          </a:xfrm>
          <a:prstGeom prst="rect">
            <a:avLst/>
          </a:prstGeom>
          <a:noFill/>
          <a:ln/>
        </p:spPr>
        <p:txBody>
          <a:bodyPr wrap="square" lIns="0" tIns="0" rIns="0" bIns="0" rtlCol="0" anchor="ctr"/>
          <a:lstStyle/>
          <a:p>
            <a:pPr algn="r" indent="0" marL="0">
              <a:buNone/>
            </a:pPr>
            <a:r>
              <a:rPr lang="en-US" sz="1150" dirty="0">
                <a:solidFill>
                  <a:srgbClr val="97BC62"/>
                </a:solidFill>
                <a:latin typeface="Calibri" pitchFamily="34" charset="0"/>
                <a:ea typeface="Calibri" pitchFamily="34" charset="-122"/>
                <a:cs typeface="Calibri" pitchFamily="34" charset="-120"/>
              </a:rPr>
              <a:t>7</a:t>
            </a:r>
            <a:endParaRPr lang="en-US" sz="1150" dirty="0"/>
          </a:p>
        </p:txBody>
      </p:sp>
      <p:sp>
        <p:nvSpPr>
          <p:cNvPr id="21" name="Shape 19"/>
          <p:cNvSpPr/>
          <p:nvPr/>
        </p:nvSpPr>
        <p:spPr>
          <a:xfrm>
            <a:off x="841248" y="3941064"/>
            <a:ext cx="91440" cy="91440"/>
          </a:xfrm>
          <a:prstGeom prst="ellipse">
            <a:avLst/>
          </a:prstGeom>
          <a:solidFill>
            <a:srgbClr val="97BC62"/>
          </a:solidFill>
          <a:ln w="12700">
            <a:solidFill>
              <a:srgbClr val="97BC62"/>
            </a:solidFill>
            <a:prstDash val="solid"/>
          </a:ln>
        </p:spPr>
      </p:sp>
      <p:sp>
        <p:nvSpPr>
          <p:cNvPr id="22" name="Text 20"/>
          <p:cNvSpPr txBox="1"/>
          <p:nvPr/>
        </p:nvSpPr>
        <p:spPr>
          <a:xfrm>
            <a:off x="1051560" y="3840480"/>
            <a:ext cx="20116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Axios</a:t>
            </a:r>
            <a:endParaRPr lang="en-US" sz="1200" dirty="0"/>
          </a:p>
        </p:txBody>
      </p:sp>
      <p:sp>
        <p:nvSpPr>
          <p:cNvPr id="23" name="Text 21"/>
          <p:cNvSpPr txBox="1"/>
          <p:nvPr/>
        </p:nvSpPr>
        <p:spPr>
          <a:xfrm>
            <a:off x="2926080" y="3840480"/>
            <a:ext cx="1188720" cy="292608"/>
          </a:xfrm>
          <a:prstGeom prst="rect">
            <a:avLst/>
          </a:prstGeom>
          <a:noFill/>
          <a:ln/>
        </p:spPr>
        <p:txBody>
          <a:bodyPr wrap="square" lIns="0" tIns="0" rIns="0" bIns="0" rtlCol="0" anchor="ctr"/>
          <a:lstStyle/>
          <a:p>
            <a:pPr algn="r" indent="0" marL="0">
              <a:buNone/>
            </a:pPr>
            <a:r>
              <a:rPr lang="en-US" sz="1150" dirty="0">
                <a:solidFill>
                  <a:srgbClr val="97BC62"/>
                </a:solidFill>
                <a:latin typeface="Calibri" pitchFamily="34" charset="0"/>
                <a:ea typeface="Calibri" pitchFamily="34" charset="-122"/>
                <a:cs typeface="Calibri" pitchFamily="34" charset="-120"/>
              </a:rPr>
              <a:t>1.7</a:t>
            </a:r>
            <a:endParaRPr lang="en-US" sz="1150" dirty="0"/>
          </a:p>
        </p:txBody>
      </p:sp>
      <p:sp>
        <p:nvSpPr>
          <p:cNvPr id="24" name="Shape 22"/>
          <p:cNvSpPr/>
          <p:nvPr/>
        </p:nvSpPr>
        <p:spPr>
          <a:xfrm>
            <a:off x="841248" y="4261104"/>
            <a:ext cx="91440" cy="91440"/>
          </a:xfrm>
          <a:prstGeom prst="ellipse">
            <a:avLst/>
          </a:prstGeom>
          <a:solidFill>
            <a:srgbClr val="97BC62"/>
          </a:solidFill>
          <a:ln w="12700">
            <a:solidFill>
              <a:srgbClr val="97BC62"/>
            </a:solidFill>
            <a:prstDash val="solid"/>
          </a:ln>
        </p:spPr>
      </p:sp>
      <p:sp>
        <p:nvSpPr>
          <p:cNvPr id="25" name="Text 23"/>
          <p:cNvSpPr txBox="1"/>
          <p:nvPr/>
        </p:nvSpPr>
        <p:spPr>
          <a:xfrm>
            <a:off x="1051560" y="4160520"/>
            <a:ext cx="20116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Recharts</a:t>
            </a:r>
            <a:endParaRPr lang="en-US" sz="1200" dirty="0"/>
          </a:p>
        </p:txBody>
      </p:sp>
      <p:sp>
        <p:nvSpPr>
          <p:cNvPr id="26" name="Text 24"/>
          <p:cNvSpPr txBox="1"/>
          <p:nvPr/>
        </p:nvSpPr>
        <p:spPr>
          <a:xfrm>
            <a:off x="2926080" y="4160520"/>
            <a:ext cx="1188720" cy="292608"/>
          </a:xfrm>
          <a:prstGeom prst="rect">
            <a:avLst/>
          </a:prstGeom>
          <a:noFill/>
          <a:ln/>
        </p:spPr>
        <p:txBody>
          <a:bodyPr wrap="square" lIns="0" tIns="0" rIns="0" bIns="0" rtlCol="0" anchor="ctr"/>
          <a:lstStyle/>
          <a:p>
            <a:pPr algn="r" indent="0" marL="0">
              <a:buNone/>
            </a:pPr>
            <a:r>
              <a:rPr lang="en-US" sz="1150" dirty="0">
                <a:solidFill>
                  <a:srgbClr val="97BC62"/>
                </a:solidFill>
                <a:latin typeface="Calibri" pitchFamily="34" charset="0"/>
                <a:ea typeface="Calibri" pitchFamily="34" charset="-122"/>
                <a:cs typeface="Calibri" pitchFamily="34" charset="-120"/>
              </a:rPr>
              <a:t>2.15</a:t>
            </a:r>
            <a:endParaRPr lang="en-US" sz="1150" dirty="0"/>
          </a:p>
        </p:txBody>
      </p:sp>
      <p:sp>
        <p:nvSpPr>
          <p:cNvPr id="27" name="Shape 25"/>
          <p:cNvSpPr/>
          <p:nvPr/>
        </p:nvSpPr>
        <p:spPr>
          <a:xfrm>
            <a:off x="841248" y="4581144"/>
            <a:ext cx="91440" cy="91440"/>
          </a:xfrm>
          <a:prstGeom prst="ellipse">
            <a:avLst/>
          </a:prstGeom>
          <a:solidFill>
            <a:srgbClr val="97BC62"/>
          </a:solidFill>
          <a:ln w="12700">
            <a:solidFill>
              <a:srgbClr val="97BC62"/>
            </a:solidFill>
            <a:prstDash val="solid"/>
          </a:ln>
        </p:spPr>
      </p:sp>
      <p:sp>
        <p:nvSpPr>
          <p:cNvPr id="28" name="Text 26"/>
          <p:cNvSpPr txBox="1"/>
          <p:nvPr/>
        </p:nvSpPr>
        <p:spPr>
          <a:xfrm>
            <a:off x="1051560" y="4480560"/>
            <a:ext cx="201168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Lucide icons</a:t>
            </a:r>
            <a:endParaRPr lang="en-US" sz="1200" dirty="0"/>
          </a:p>
        </p:txBody>
      </p:sp>
      <p:sp>
        <p:nvSpPr>
          <p:cNvPr id="29" name="Text 27"/>
          <p:cNvSpPr txBox="1"/>
          <p:nvPr/>
        </p:nvSpPr>
        <p:spPr>
          <a:xfrm>
            <a:off x="2926080" y="4480560"/>
            <a:ext cx="1188720" cy="292608"/>
          </a:xfrm>
          <a:prstGeom prst="rect">
            <a:avLst/>
          </a:prstGeom>
          <a:noFill/>
          <a:ln/>
        </p:spPr>
        <p:txBody>
          <a:bodyPr wrap="square" lIns="0" tIns="0" rIns="0" bIns="0" rtlCol="0" anchor="ctr"/>
          <a:lstStyle/>
          <a:p>
            <a:pPr algn="r" indent="0" marL="0">
              <a:buNone/>
            </a:pPr>
            <a:r>
              <a:rPr lang="en-US" sz="1150" dirty="0">
                <a:solidFill>
                  <a:srgbClr val="97BC62"/>
                </a:solidFill>
                <a:latin typeface="Calibri" pitchFamily="34" charset="0"/>
                <a:ea typeface="Calibri" pitchFamily="34" charset="-122"/>
                <a:cs typeface="Calibri" pitchFamily="34" charset="-120"/>
              </a:rPr>
              <a:t>0.469</a:t>
            </a:r>
            <a:endParaRPr lang="en-US" sz="1150" dirty="0"/>
          </a:p>
        </p:txBody>
      </p:sp>
      <p:sp>
        <p:nvSpPr>
          <p:cNvPr id="30" name="Shape 28"/>
          <p:cNvSpPr/>
          <p:nvPr/>
        </p:nvSpPr>
        <p:spPr>
          <a:xfrm>
            <a:off x="4663440" y="1691640"/>
            <a:ext cx="3337560" cy="1481328"/>
          </a:xfrm>
          <a:prstGeom prst="roundRect">
            <a:avLst>
              <a:gd name="adj" fmla="val 6173"/>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31" name="Shape 29"/>
          <p:cNvSpPr/>
          <p:nvPr/>
        </p:nvSpPr>
        <p:spPr>
          <a:xfrm>
            <a:off x="4846320" y="1874520"/>
            <a:ext cx="347472" cy="347472"/>
          </a:xfrm>
          <a:prstGeom prst="ellipse">
            <a:avLst/>
          </a:prstGeom>
          <a:solidFill>
            <a:srgbClr val="2C5F2D"/>
          </a:solidFill>
          <a:ln w="12700">
            <a:solidFill>
              <a:srgbClr val="2C5F2D"/>
            </a:solidFill>
            <a:prstDash val="solid"/>
          </a:ln>
        </p:spPr>
      </p:sp>
      <p:sp>
        <p:nvSpPr>
          <p:cNvPr id="32" name="Text 30"/>
          <p:cNvSpPr txBox="1"/>
          <p:nvPr/>
        </p:nvSpPr>
        <p:spPr>
          <a:xfrm>
            <a:off x="4846320" y="18745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t>
            </a:r>
            <a:endParaRPr lang="en-US" sz="1100" dirty="0"/>
          </a:p>
        </p:txBody>
      </p:sp>
      <p:sp>
        <p:nvSpPr>
          <p:cNvPr id="33" name="Text 31"/>
          <p:cNvSpPr txBox="1"/>
          <p:nvPr/>
        </p:nvSpPr>
        <p:spPr>
          <a:xfrm>
            <a:off x="5285232" y="1874520"/>
            <a:ext cx="2560320" cy="347472"/>
          </a:xfrm>
          <a:prstGeom prst="rect">
            <a:avLst/>
          </a:prstGeom>
          <a:noFill/>
          <a:ln/>
        </p:spPr>
        <p:txBody>
          <a:bodyPr wrap="square" lIns="0" tIns="0" rIns="0" bIns="0" rtlCol="0" anchor="ctr"/>
          <a:lstStyle/>
          <a:p>
            <a:pPr indent="0" marL="0">
              <a:buNone/>
            </a:pPr>
            <a:r>
              <a:rPr lang="en-US" sz="1350" b="1" dirty="0">
                <a:solidFill>
                  <a:srgbClr val="14301F"/>
                </a:solidFill>
                <a:latin typeface="Calibri" pitchFamily="34" charset="0"/>
                <a:ea typeface="Calibri" pitchFamily="34" charset="-122"/>
                <a:cs typeface="Calibri" pitchFamily="34" charset="-120"/>
              </a:rPr>
              <a:t>Routing &amp; guards</a:t>
            </a:r>
            <a:endParaRPr lang="en-US" sz="1350" dirty="0"/>
          </a:p>
        </p:txBody>
      </p:sp>
      <p:sp>
        <p:nvSpPr>
          <p:cNvPr id="34" name="Text 32"/>
          <p:cNvSpPr txBox="1"/>
          <p:nvPr/>
        </p:nvSpPr>
        <p:spPr>
          <a:xfrm>
            <a:off x="4846320" y="2313432"/>
            <a:ext cx="2999232" cy="777240"/>
          </a:xfrm>
          <a:prstGeom prst="rect">
            <a:avLst/>
          </a:prstGeom>
          <a:noFill/>
          <a:ln/>
        </p:spPr>
        <p:txBody>
          <a:bodyPr wrap="square" lIns="0" tIns="0" rIns="0" bIns="0" rtlCol="0" anchor="ctr"/>
          <a:lstStyle/>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ProtectedRoute and PublicOnlyRoute wrap the</a:t>
            </a:r>
            <a:endParaRPr lang="en-US" sz="1000" dirty="0"/>
          </a:p>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router; a public layout for the landing page,</a:t>
            </a:r>
            <a:endParaRPr lang="en-US" sz="1000" dirty="0"/>
          </a:p>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a dashboard layout with sidebar for the rest.</a:t>
            </a:r>
            <a:endParaRPr lang="en-US" sz="1000" dirty="0"/>
          </a:p>
        </p:txBody>
      </p:sp>
      <p:sp>
        <p:nvSpPr>
          <p:cNvPr id="35" name="Shape 33"/>
          <p:cNvSpPr/>
          <p:nvPr/>
        </p:nvSpPr>
        <p:spPr>
          <a:xfrm>
            <a:off x="8257032" y="1691640"/>
            <a:ext cx="3337560" cy="1481328"/>
          </a:xfrm>
          <a:prstGeom prst="roundRect">
            <a:avLst>
              <a:gd name="adj" fmla="val 6173"/>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36" name="Shape 34"/>
          <p:cNvSpPr/>
          <p:nvPr/>
        </p:nvSpPr>
        <p:spPr>
          <a:xfrm>
            <a:off x="8439912" y="1874520"/>
            <a:ext cx="347472" cy="347472"/>
          </a:xfrm>
          <a:prstGeom prst="ellipse">
            <a:avLst/>
          </a:prstGeom>
          <a:solidFill>
            <a:srgbClr val="2C5F2D"/>
          </a:solidFill>
          <a:ln w="12700">
            <a:solidFill>
              <a:srgbClr val="2C5F2D"/>
            </a:solidFill>
            <a:prstDash val="solid"/>
          </a:ln>
        </p:spPr>
      </p:sp>
      <p:sp>
        <p:nvSpPr>
          <p:cNvPr id="37" name="Text 35"/>
          <p:cNvSpPr txBox="1"/>
          <p:nvPr/>
        </p:nvSpPr>
        <p:spPr>
          <a:xfrm>
            <a:off x="8439912" y="18745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t>
            </a:r>
            <a:endParaRPr lang="en-US" sz="1100" dirty="0"/>
          </a:p>
        </p:txBody>
      </p:sp>
      <p:sp>
        <p:nvSpPr>
          <p:cNvPr id="38" name="Text 36"/>
          <p:cNvSpPr txBox="1"/>
          <p:nvPr/>
        </p:nvSpPr>
        <p:spPr>
          <a:xfrm>
            <a:off x="8878824" y="1874520"/>
            <a:ext cx="2560320" cy="347472"/>
          </a:xfrm>
          <a:prstGeom prst="rect">
            <a:avLst/>
          </a:prstGeom>
          <a:noFill/>
          <a:ln/>
        </p:spPr>
        <p:txBody>
          <a:bodyPr wrap="square" lIns="0" tIns="0" rIns="0" bIns="0" rtlCol="0" anchor="ctr"/>
          <a:lstStyle/>
          <a:p>
            <a:pPr indent="0" marL="0">
              <a:buNone/>
            </a:pPr>
            <a:r>
              <a:rPr lang="en-US" sz="1350" b="1" dirty="0">
                <a:solidFill>
                  <a:srgbClr val="14301F"/>
                </a:solidFill>
                <a:latin typeface="Calibri" pitchFamily="34" charset="0"/>
                <a:ea typeface="Calibri" pitchFamily="34" charset="-122"/>
                <a:cs typeface="Calibri" pitchFamily="34" charset="-120"/>
              </a:rPr>
              <a:t>State</a:t>
            </a:r>
            <a:endParaRPr lang="en-US" sz="1350" dirty="0"/>
          </a:p>
        </p:txBody>
      </p:sp>
      <p:sp>
        <p:nvSpPr>
          <p:cNvPr id="39" name="Text 37"/>
          <p:cNvSpPr txBox="1"/>
          <p:nvPr/>
        </p:nvSpPr>
        <p:spPr>
          <a:xfrm>
            <a:off x="8439912" y="2313432"/>
            <a:ext cx="2999232" cy="777240"/>
          </a:xfrm>
          <a:prstGeom prst="rect">
            <a:avLst/>
          </a:prstGeom>
          <a:noFill/>
          <a:ln/>
        </p:spPr>
        <p:txBody>
          <a:bodyPr wrap="square" lIns="0" tIns="0" rIns="0" bIns="0" rtlCol="0" anchor="ctr"/>
          <a:lstStyle/>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AuthContext holds the JWT and current user,</a:t>
            </a:r>
            <a:endParaRPr lang="en-US" sz="1000" dirty="0"/>
          </a:p>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ToastContext handles notifications,</a:t>
            </a:r>
            <a:endParaRPr lang="en-US" sz="1000" dirty="0"/>
          </a:p>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useTheme persists light / dark mode.</a:t>
            </a:r>
            <a:endParaRPr lang="en-US" sz="1000" dirty="0"/>
          </a:p>
        </p:txBody>
      </p:sp>
      <p:sp>
        <p:nvSpPr>
          <p:cNvPr id="40" name="Shape 38"/>
          <p:cNvSpPr/>
          <p:nvPr/>
        </p:nvSpPr>
        <p:spPr>
          <a:xfrm>
            <a:off x="4663440" y="3337560"/>
            <a:ext cx="3337560" cy="1481328"/>
          </a:xfrm>
          <a:prstGeom prst="roundRect">
            <a:avLst>
              <a:gd name="adj" fmla="val 6173"/>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41" name="Shape 39"/>
          <p:cNvSpPr/>
          <p:nvPr/>
        </p:nvSpPr>
        <p:spPr>
          <a:xfrm>
            <a:off x="4846320" y="3520440"/>
            <a:ext cx="347472" cy="347472"/>
          </a:xfrm>
          <a:prstGeom prst="ellipse">
            <a:avLst/>
          </a:prstGeom>
          <a:solidFill>
            <a:srgbClr val="2C5F2D"/>
          </a:solidFill>
          <a:ln w="12700">
            <a:solidFill>
              <a:srgbClr val="2C5F2D"/>
            </a:solidFill>
            <a:prstDash val="solid"/>
          </a:ln>
        </p:spPr>
      </p:sp>
      <p:sp>
        <p:nvSpPr>
          <p:cNvPr id="42" name="Text 40"/>
          <p:cNvSpPr txBox="1"/>
          <p:nvPr/>
        </p:nvSpPr>
        <p:spPr>
          <a:xfrm>
            <a:off x="4846320" y="35204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3" name="Text 41"/>
          <p:cNvSpPr txBox="1"/>
          <p:nvPr/>
        </p:nvSpPr>
        <p:spPr>
          <a:xfrm>
            <a:off x="5285232" y="3520440"/>
            <a:ext cx="2560320" cy="347472"/>
          </a:xfrm>
          <a:prstGeom prst="rect">
            <a:avLst/>
          </a:prstGeom>
          <a:noFill/>
          <a:ln/>
        </p:spPr>
        <p:txBody>
          <a:bodyPr wrap="square" lIns="0" tIns="0" rIns="0" bIns="0" rtlCol="0" anchor="ctr"/>
          <a:lstStyle/>
          <a:p>
            <a:pPr indent="0" marL="0">
              <a:buNone/>
            </a:pPr>
            <a:r>
              <a:rPr lang="en-US" sz="1350" b="1" dirty="0">
                <a:solidFill>
                  <a:srgbClr val="14301F"/>
                </a:solidFill>
                <a:latin typeface="Calibri" pitchFamily="34" charset="0"/>
                <a:ea typeface="Calibri" pitchFamily="34" charset="-122"/>
                <a:cs typeface="Calibri" pitchFamily="34" charset="-120"/>
              </a:rPr>
              <a:t>API client</a:t>
            </a:r>
            <a:endParaRPr lang="en-US" sz="1350" dirty="0"/>
          </a:p>
        </p:txBody>
      </p:sp>
      <p:sp>
        <p:nvSpPr>
          <p:cNvPr id="44" name="Text 42"/>
          <p:cNvSpPr txBox="1"/>
          <p:nvPr/>
        </p:nvSpPr>
        <p:spPr>
          <a:xfrm>
            <a:off x="4846320" y="3959352"/>
            <a:ext cx="2999232" cy="777240"/>
          </a:xfrm>
          <a:prstGeom prst="rect">
            <a:avLst/>
          </a:prstGeom>
          <a:noFill/>
          <a:ln/>
        </p:spPr>
        <p:txBody>
          <a:bodyPr wrap="square" lIns="0" tIns="0" rIns="0" bIns="0" rtlCol="0" anchor="ctr"/>
          <a:lstStyle/>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One Axios instance with a bearer-token</a:t>
            </a:r>
            <a:endParaRPr lang="en-US" sz="1000" dirty="0"/>
          </a:p>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interceptor; every route typed in</a:t>
            </a:r>
            <a:endParaRPr lang="en-US" sz="1000" dirty="0"/>
          </a:p>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endpoints.ts against shared TS types.</a:t>
            </a:r>
            <a:endParaRPr lang="en-US" sz="1000" dirty="0"/>
          </a:p>
        </p:txBody>
      </p:sp>
      <p:sp>
        <p:nvSpPr>
          <p:cNvPr id="45" name="Shape 43"/>
          <p:cNvSpPr/>
          <p:nvPr/>
        </p:nvSpPr>
        <p:spPr>
          <a:xfrm>
            <a:off x="8257032" y="3337560"/>
            <a:ext cx="3337560" cy="1481328"/>
          </a:xfrm>
          <a:prstGeom prst="roundRect">
            <a:avLst>
              <a:gd name="adj" fmla="val 6173"/>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46" name="Shape 44"/>
          <p:cNvSpPr/>
          <p:nvPr/>
        </p:nvSpPr>
        <p:spPr>
          <a:xfrm>
            <a:off x="8439912" y="3520440"/>
            <a:ext cx="347472" cy="347472"/>
          </a:xfrm>
          <a:prstGeom prst="ellipse">
            <a:avLst/>
          </a:prstGeom>
          <a:solidFill>
            <a:srgbClr val="2C5F2D"/>
          </a:solidFill>
          <a:ln w="12700">
            <a:solidFill>
              <a:srgbClr val="2C5F2D"/>
            </a:solidFill>
            <a:prstDash val="solid"/>
          </a:ln>
        </p:spPr>
      </p:sp>
      <p:sp>
        <p:nvSpPr>
          <p:cNvPr id="47" name="Text 45"/>
          <p:cNvSpPr txBox="1"/>
          <p:nvPr/>
        </p:nvSpPr>
        <p:spPr>
          <a:xfrm>
            <a:off x="8439912" y="35204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t>
            </a:r>
            <a:endParaRPr lang="en-US" sz="1100" dirty="0"/>
          </a:p>
        </p:txBody>
      </p:sp>
      <p:sp>
        <p:nvSpPr>
          <p:cNvPr id="48" name="Text 46"/>
          <p:cNvSpPr txBox="1"/>
          <p:nvPr/>
        </p:nvSpPr>
        <p:spPr>
          <a:xfrm>
            <a:off x="8878824" y="3520440"/>
            <a:ext cx="2560320" cy="347472"/>
          </a:xfrm>
          <a:prstGeom prst="rect">
            <a:avLst/>
          </a:prstGeom>
          <a:noFill/>
          <a:ln/>
        </p:spPr>
        <p:txBody>
          <a:bodyPr wrap="square" lIns="0" tIns="0" rIns="0" bIns="0" rtlCol="0" anchor="ctr"/>
          <a:lstStyle/>
          <a:p>
            <a:pPr indent="0" marL="0">
              <a:buNone/>
            </a:pPr>
            <a:r>
              <a:rPr lang="en-US" sz="1350" b="1" dirty="0">
                <a:solidFill>
                  <a:srgbClr val="14301F"/>
                </a:solidFill>
                <a:latin typeface="Calibri" pitchFamily="34" charset="0"/>
                <a:ea typeface="Calibri" pitchFamily="34" charset="-122"/>
                <a:cs typeface="Calibri" pitchFamily="34" charset="-120"/>
              </a:rPr>
              <a:t>Result surfaces</a:t>
            </a:r>
            <a:endParaRPr lang="en-US" sz="1350" dirty="0"/>
          </a:p>
        </p:txBody>
      </p:sp>
      <p:sp>
        <p:nvSpPr>
          <p:cNvPr id="49" name="Text 47"/>
          <p:cNvSpPr txBox="1"/>
          <p:nvPr/>
        </p:nvSpPr>
        <p:spPr>
          <a:xfrm>
            <a:off x="8439912" y="3959352"/>
            <a:ext cx="2999232" cy="777240"/>
          </a:xfrm>
          <a:prstGeom prst="rect">
            <a:avLst/>
          </a:prstGeom>
          <a:noFill/>
          <a:ln/>
        </p:spPr>
        <p:txBody>
          <a:bodyPr wrap="square" lIns="0" tIns="0" rIns="0" bIns="0" rtlCol="0" anchor="ctr"/>
          <a:lstStyle/>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Recharts trend charts, drag-and-drop</a:t>
            </a:r>
            <a:endParaRPr lang="en-US" sz="1000" dirty="0"/>
          </a:p>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ImageDropzone, and a ModelBadge +</a:t>
            </a:r>
            <a:endParaRPr lang="en-US" sz="1000" dirty="0"/>
          </a:p>
          <a:p>
            <a:pPr indent="0" marL="0">
              <a:lnSpc>
                <a:spcPts val="1350"/>
              </a:lnSpc>
              <a:buNone/>
            </a:pPr>
            <a:r>
              <a:rPr lang="en-US" sz="1000" dirty="0">
                <a:solidFill>
                  <a:srgbClr val="26332C"/>
                </a:solidFill>
                <a:latin typeface="Calibri" pitchFamily="34" charset="0"/>
                <a:ea typeface="Calibri" pitchFamily="34" charset="-122"/>
                <a:cs typeface="Calibri" pitchFamily="34" charset="-120"/>
              </a:rPr>
              <a:t>HonestyNotice on every AI answer.</a:t>
            </a:r>
            <a:endParaRPr lang="en-US" sz="1000" dirty="0"/>
          </a:p>
        </p:txBody>
      </p:sp>
      <p:sp>
        <p:nvSpPr>
          <p:cNvPr id="50" name="Shape 48"/>
          <p:cNvSpPr/>
          <p:nvPr/>
        </p:nvSpPr>
        <p:spPr>
          <a:xfrm>
            <a:off x="548640" y="5138928"/>
            <a:ext cx="11091672" cy="768096"/>
          </a:xfrm>
          <a:prstGeom prst="roundRect">
            <a:avLst>
              <a:gd name="adj" fmla="val 11905"/>
            </a:avLst>
          </a:prstGeom>
          <a:solidFill>
            <a:srgbClr val="E9F0E1"/>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51" name="Text 49"/>
          <p:cNvSpPr txBox="1"/>
          <p:nvPr/>
        </p:nvSpPr>
        <p:spPr>
          <a:xfrm>
            <a:off x="822960" y="5138928"/>
            <a:ext cx="10543032" cy="768096"/>
          </a:xfrm>
          <a:prstGeom prst="rect">
            <a:avLst/>
          </a:prstGeom>
          <a:noFill/>
          <a:ln/>
        </p:spPr>
        <p:txBody>
          <a:bodyPr wrap="square" lIns="0" tIns="0" rIns="0" bIns="0" rtlCol="0" anchor="ctr"/>
          <a:lstStyle/>
          <a:p>
            <a:pPr indent="0" marL="0">
              <a:lnSpc>
                <a:spcPts val="1600"/>
              </a:lnSpc>
              <a:buNone/>
            </a:pPr>
            <a:r>
              <a:rPr lang="en-US" sz="1150" b="1" dirty="0">
                <a:solidFill>
                  <a:srgbClr val="14301F"/>
                </a:solidFill>
                <a:latin typeface="Calibri" pitchFamily="34" charset="0"/>
                <a:ea typeface="Calibri" pitchFamily="34" charset="-122"/>
                <a:cs typeface="Calibri" pitchFamily="34" charset="-120"/>
              </a:rPr>
              <a:t>13 pages behind one router:  </a:t>
            </a:r>
            <a:pPr indent="0" marL="0">
              <a:lnSpc>
                <a:spcPts val="1600"/>
              </a:lnSpc>
              <a:buNone/>
            </a:pPr>
            <a:r>
              <a:rPr lang="en-US" sz="1150" dirty="0">
                <a:solidFill>
                  <a:srgbClr val="26332C"/>
                </a:solidFill>
                <a:latin typeface="Calibri" pitchFamily="34" charset="0"/>
                <a:ea typeface="Calibri" pitchFamily="34" charset="-122"/>
                <a:cs typeface="Calibri" pitchFamily="34" charset="-120"/>
              </a:rPr>
              <a:t>Landing · Login · Register · Dashboard · Irrigation · Plant Analysis · Soil Analysis · Varieties · Fertilizer · Assistant · History · Settings · 404</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03504"/>
          </a:xfrm>
          <a:prstGeom prst="rect">
            <a:avLst/>
          </a:prstGeom>
          <a:noFill/>
          <a:ln/>
        </p:spPr>
        <p:txBody>
          <a:bodyPr wrap="square" lIns="0" tIns="0" rIns="0" bIns="0" rtlCol="0" anchor="ctr"/>
          <a:lstStyle/>
          <a:p>
            <a:pPr indent="0" marL="0">
              <a:buNone/>
            </a:pPr>
            <a:r>
              <a:rPr lang="en-US" sz="3200" b="1" dirty="0">
                <a:solidFill>
                  <a:srgbClr val="14301F"/>
                </a:solidFill>
                <a:latin typeface="Cambria" pitchFamily="34" charset="0"/>
                <a:ea typeface="Cambria" pitchFamily="34" charset="-122"/>
                <a:cs typeface="Cambria" pitchFamily="34" charset="-120"/>
              </a:rPr>
              <a:t>Backend</a:t>
            </a:r>
            <a:endParaRPr lang="en-US" sz="3200" dirty="0"/>
          </a:p>
        </p:txBody>
      </p:sp>
      <p:sp>
        <p:nvSpPr>
          <p:cNvPr id="3" name="Text 1"/>
          <p:cNvSpPr txBox="1"/>
          <p:nvPr/>
        </p:nvSpPr>
        <p:spPr>
          <a:xfrm>
            <a:off x="548640" y="1005840"/>
            <a:ext cx="10725912" cy="420624"/>
          </a:xfrm>
          <a:prstGeom prst="rect">
            <a:avLst/>
          </a:prstGeom>
          <a:noFill/>
          <a:ln/>
        </p:spPr>
        <p:txBody>
          <a:bodyPr wrap="square" lIns="0" tIns="0" rIns="0" bIns="0" rtlCol="0" anchor="ctr"/>
          <a:lstStyle/>
          <a:p>
            <a:pPr indent="0" marL="0">
              <a:buNone/>
            </a:pPr>
            <a:r>
              <a:rPr lang="en-US" sz="1350" dirty="0">
                <a:solidFill>
                  <a:srgbClr val="5A6A61"/>
                </a:solidFill>
                <a:latin typeface="Calibri" pitchFamily="34" charset="0"/>
                <a:ea typeface="Calibri" pitchFamily="34" charset="-122"/>
                <a:cs typeface="Calibri" pitchFamily="34" charset="-120"/>
              </a:rPr>
              <a:t>FastAPI with strict one-directional layering — nothing lower ever imports from anything higher, so the training scripts and the live API share exactly one copy of the agronomy.</a:t>
            </a:r>
            <a:endParaRPr lang="en-US" sz="1350" dirty="0"/>
          </a:p>
        </p:txBody>
      </p:sp>
      <p:sp>
        <p:nvSpPr>
          <p:cNvPr id="4" name="Text 2"/>
          <p:cNvSpPr txBox="1"/>
          <p:nvPr/>
        </p:nvSpPr>
        <p:spPr>
          <a:xfrm>
            <a:off x="548640" y="1664208"/>
            <a:ext cx="3657600" cy="274320"/>
          </a:xfrm>
          <a:prstGeom prst="rect">
            <a:avLst/>
          </a:prstGeom>
          <a:noFill/>
          <a:ln/>
        </p:spPr>
        <p:txBody>
          <a:bodyPr wrap="square" lIns="0" tIns="0" rIns="0" bIns="0" rtlCol="0" anchor="ctr"/>
          <a:lstStyle/>
          <a:p>
            <a:pPr indent="0" marL="0">
              <a:buNone/>
            </a:pPr>
            <a:r>
              <a:rPr lang="en-US" sz="1050" b="1" spc="150" kern="0" dirty="0">
                <a:solidFill>
                  <a:srgbClr val="2C5F2D"/>
                </a:solidFill>
                <a:latin typeface="Calibri" pitchFamily="34" charset="0"/>
                <a:ea typeface="Calibri" pitchFamily="34" charset="-122"/>
                <a:cs typeface="Calibri" pitchFamily="34" charset="-120"/>
              </a:rPr>
              <a:t>LAYERS</a:t>
            </a:r>
            <a:endParaRPr lang="en-US" sz="1050" dirty="0"/>
          </a:p>
        </p:txBody>
      </p:sp>
      <p:sp>
        <p:nvSpPr>
          <p:cNvPr id="5" name="Shape 3"/>
          <p:cNvSpPr/>
          <p:nvPr/>
        </p:nvSpPr>
        <p:spPr>
          <a:xfrm>
            <a:off x="548640" y="2011680"/>
            <a:ext cx="4297680" cy="566928"/>
          </a:xfrm>
          <a:prstGeom prst="roundRect">
            <a:avLst>
              <a:gd name="adj" fmla="val 14516"/>
            </a:avLst>
          </a:prstGeom>
          <a:solidFill>
            <a:srgbClr val="2C5F2D"/>
          </a:solidFill>
          <a:ln w="12700">
            <a:solidFill>
              <a:srgbClr val="2C5F2D"/>
            </a:solidFill>
            <a:prstDash val="solid"/>
          </a:ln>
        </p:spPr>
      </p:sp>
      <p:sp>
        <p:nvSpPr>
          <p:cNvPr id="6" name="Text 4"/>
          <p:cNvSpPr txBox="1"/>
          <p:nvPr/>
        </p:nvSpPr>
        <p:spPr>
          <a:xfrm>
            <a:off x="749808" y="2011680"/>
            <a:ext cx="3931920" cy="56692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api/   </a:t>
            </a:r>
            <a:pPr indent="0" marL="0">
              <a:buNone/>
            </a:pPr>
            <a:r>
              <a:rPr lang="en-US" sz="950" dirty="0">
                <a:solidFill>
                  <a:srgbClr val="E8F0E2"/>
                </a:solidFill>
                <a:latin typeface="Calibri" pitchFamily="34" charset="0"/>
                <a:ea typeface="Calibri" pitchFamily="34" charset="-122"/>
                <a:cs typeface="Calibri" pitchFamily="34" charset="-120"/>
              </a:rPr>
              <a:t>routers, validation, auth dependency</a:t>
            </a:r>
            <a:endParaRPr lang="en-US" sz="1300" dirty="0"/>
          </a:p>
        </p:txBody>
      </p:sp>
      <p:sp>
        <p:nvSpPr>
          <p:cNvPr id="7" name="Shape 5"/>
          <p:cNvSpPr/>
          <p:nvPr/>
        </p:nvSpPr>
        <p:spPr>
          <a:xfrm rot="10800000">
            <a:off x="2596896" y="2610612"/>
            <a:ext cx="201168" cy="118872"/>
          </a:xfrm>
          <a:prstGeom prst="triangle">
            <a:avLst/>
          </a:prstGeom>
          <a:solidFill>
            <a:srgbClr val="97BC62"/>
          </a:solidFill>
          <a:ln w="12700">
            <a:solidFill>
              <a:srgbClr val="97BC62"/>
            </a:solidFill>
            <a:prstDash val="solid"/>
          </a:ln>
        </p:spPr>
      </p:sp>
      <p:sp>
        <p:nvSpPr>
          <p:cNvPr id="8" name="Shape 6"/>
          <p:cNvSpPr/>
          <p:nvPr/>
        </p:nvSpPr>
        <p:spPr>
          <a:xfrm>
            <a:off x="548640" y="2734056"/>
            <a:ext cx="4297680" cy="566928"/>
          </a:xfrm>
          <a:prstGeom prst="roundRect">
            <a:avLst>
              <a:gd name="adj" fmla="val 14516"/>
            </a:avLst>
          </a:prstGeom>
          <a:solidFill>
            <a:srgbClr val="3F7A45"/>
          </a:solidFill>
          <a:ln w="12700">
            <a:solidFill>
              <a:srgbClr val="3F7A45"/>
            </a:solidFill>
            <a:prstDash val="solid"/>
          </a:ln>
        </p:spPr>
      </p:sp>
      <p:sp>
        <p:nvSpPr>
          <p:cNvPr id="9" name="Text 7"/>
          <p:cNvSpPr txBox="1"/>
          <p:nvPr/>
        </p:nvSpPr>
        <p:spPr>
          <a:xfrm>
            <a:off x="749808" y="2734056"/>
            <a:ext cx="3931920" cy="56692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services/   </a:t>
            </a:r>
            <a:pPr indent="0" marL="0">
              <a:buNone/>
            </a:pPr>
            <a:r>
              <a:rPr lang="en-US" sz="950" dirty="0">
                <a:solidFill>
                  <a:srgbClr val="E8F0E2"/>
                </a:solidFill>
                <a:latin typeface="Calibri" pitchFamily="34" charset="0"/>
                <a:ea typeface="Calibri" pitchFamily="34" charset="-122"/>
                <a:cs typeface="Calibri" pitchFamily="34" charset="-120"/>
              </a:rPr>
              <a:t>business logic; ML + knowledge base</a:t>
            </a:r>
            <a:endParaRPr lang="en-US" sz="1300" dirty="0"/>
          </a:p>
        </p:txBody>
      </p:sp>
      <p:sp>
        <p:nvSpPr>
          <p:cNvPr id="10" name="Shape 8"/>
          <p:cNvSpPr/>
          <p:nvPr/>
        </p:nvSpPr>
        <p:spPr>
          <a:xfrm rot="10800000">
            <a:off x="2596896" y="3332988"/>
            <a:ext cx="201168" cy="118872"/>
          </a:xfrm>
          <a:prstGeom prst="triangle">
            <a:avLst/>
          </a:prstGeom>
          <a:solidFill>
            <a:srgbClr val="97BC62"/>
          </a:solidFill>
          <a:ln w="12700">
            <a:solidFill>
              <a:srgbClr val="97BC62"/>
            </a:solidFill>
            <a:prstDash val="solid"/>
          </a:ln>
        </p:spPr>
      </p:sp>
      <p:sp>
        <p:nvSpPr>
          <p:cNvPr id="11" name="Shape 9"/>
          <p:cNvSpPr/>
          <p:nvPr/>
        </p:nvSpPr>
        <p:spPr>
          <a:xfrm>
            <a:off x="548640" y="3456432"/>
            <a:ext cx="4297680" cy="566928"/>
          </a:xfrm>
          <a:prstGeom prst="roundRect">
            <a:avLst>
              <a:gd name="adj" fmla="val 14516"/>
            </a:avLst>
          </a:prstGeom>
          <a:solidFill>
            <a:srgbClr val="5C9556"/>
          </a:solidFill>
          <a:ln w="12700">
            <a:solidFill>
              <a:srgbClr val="5C9556"/>
            </a:solidFill>
            <a:prstDash val="solid"/>
          </a:ln>
        </p:spPr>
      </p:sp>
      <p:sp>
        <p:nvSpPr>
          <p:cNvPr id="12" name="Text 10"/>
          <p:cNvSpPr txBox="1"/>
          <p:nvPr/>
        </p:nvSpPr>
        <p:spPr>
          <a:xfrm>
            <a:off x="749808" y="3456432"/>
            <a:ext cx="3931920" cy="56692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ml/   </a:t>
            </a:r>
            <a:pPr indent="0" marL="0">
              <a:buNone/>
            </a:pPr>
            <a:r>
              <a:rPr lang="en-US" sz="950" dirty="0">
                <a:solidFill>
                  <a:srgbClr val="E8F0E2"/>
                </a:solidFill>
                <a:latin typeface="Calibri" pitchFamily="34" charset="0"/>
                <a:ea typeface="Calibri" pitchFamily="34" charset="-122"/>
                <a:cs typeface="Calibri" pitchFamily="34" charset="-120"/>
              </a:rPr>
              <a:t>rule engine, image features, loaders</a:t>
            </a:r>
            <a:endParaRPr lang="en-US" sz="1300" dirty="0"/>
          </a:p>
        </p:txBody>
      </p:sp>
      <p:sp>
        <p:nvSpPr>
          <p:cNvPr id="13" name="Shape 11"/>
          <p:cNvSpPr/>
          <p:nvPr/>
        </p:nvSpPr>
        <p:spPr>
          <a:xfrm rot="10800000">
            <a:off x="2596896" y="4055364"/>
            <a:ext cx="201168" cy="118872"/>
          </a:xfrm>
          <a:prstGeom prst="triangle">
            <a:avLst/>
          </a:prstGeom>
          <a:solidFill>
            <a:srgbClr val="97BC62"/>
          </a:solidFill>
          <a:ln w="12700">
            <a:solidFill>
              <a:srgbClr val="97BC62"/>
            </a:solidFill>
            <a:prstDash val="solid"/>
          </a:ln>
        </p:spPr>
      </p:sp>
      <p:sp>
        <p:nvSpPr>
          <p:cNvPr id="14" name="Shape 12"/>
          <p:cNvSpPr/>
          <p:nvPr/>
        </p:nvSpPr>
        <p:spPr>
          <a:xfrm>
            <a:off x="548640" y="4178808"/>
            <a:ext cx="4297680" cy="566928"/>
          </a:xfrm>
          <a:prstGeom prst="roundRect">
            <a:avLst>
              <a:gd name="adj" fmla="val 14516"/>
            </a:avLst>
          </a:prstGeom>
          <a:solidFill>
            <a:srgbClr val="7BA268"/>
          </a:solidFill>
          <a:ln w="12700">
            <a:solidFill>
              <a:srgbClr val="7BA268"/>
            </a:solidFill>
            <a:prstDash val="solid"/>
          </a:ln>
        </p:spPr>
      </p:sp>
      <p:sp>
        <p:nvSpPr>
          <p:cNvPr id="15" name="Text 13"/>
          <p:cNvSpPr txBox="1"/>
          <p:nvPr/>
        </p:nvSpPr>
        <p:spPr>
          <a:xfrm>
            <a:off x="749808" y="4178808"/>
            <a:ext cx="3931920" cy="56692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models/   </a:t>
            </a:r>
            <a:pPr indent="0" marL="0">
              <a:buNone/>
            </a:pPr>
            <a:r>
              <a:rPr lang="en-US" sz="950" dirty="0">
                <a:solidFill>
                  <a:srgbClr val="E8F0E2"/>
                </a:solidFill>
                <a:latin typeface="Calibri" pitchFamily="34" charset="0"/>
                <a:ea typeface="Calibri" pitchFamily="34" charset="-122"/>
                <a:cs typeface="Calibri" pitchFamily="34" charset="-120"/>
              </a:rPr>
              <a:t>SQLAlchemy ORM — no business logic</a:t>
            </a:r>
            <a:endParaRPr lang="en-US" sz="1300" dirty="0"/>
          </a:p>
        </p:txBody>
      </p:sp>
      <p:sp>
        <p:nvSpPr>
          <p:cNvPr id="16" name="Shape 14"/>
          <p:cNvSpPr/>
          <p:nvPr/>
        </p:nvSpPr>
        <p:spPr>
          <a:xfrm>
            <a:off x="5257800" y="1691640"/>
            <a:ext cx="6382512" cy="1874520"/>
          </a:xfrm>
          <a:prstGeom prst="roundRect">
            <a:avLst>
              <a:gd name="adj" fmla="val 4878"/>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7" name="Text 15"/>
          <p:cNvSpPr txBox="1"/>
          <p:nvPr/>
        </p:nvSpPr>
        <p:spPr>
          <a:xfrm>
            <a:off x="5513832" y="1828800"/>
            <a:ext cx="5870448" cy="329184"/>
          </a:xfrm>
          <a:prstGeom prst="rect">
            <a:avLst/>
          </a:prstGeom>
          <a:noFill/>
          <a:ln/>
        </p:spPr>
        <p:txBody>
          <a:bodyPr wrap="square" lIns="0" tIns="0" rIns="0" bIns="0" rtlCol="0" anchor="ctr"/>
          <a:lstStyle/>
          <a:p>
            <a:pPr indent="0" marL="0">
              <a:buNone/>
            </a:pPr>
            <a:r>
              <a:rPr lang="en-US" sz="1450" b="1" dirty="0">
                <a:solidFill>
                  <a:srgbClr val="14301F"/>
                </a:solidFill>
                <a:latin typeface="Calibri" pitchFamily="34" charset="0"/>
                <a:ea typeface="Calibri" pitchFamily="34" charset="-122"/>
                <a:cs typeface="Calibri" pitchFamily="34" charset="-120"/>
              </a:rPr>
              <a:t>43 endpoints across 10 routers</a:t>
            </a:r>
            <a:endParaRPr lang="en-US" sz="1450" dirty="0"/>
          </a:p>
        </p:txBody>
      </p:sp>
      <p:sp>
        <p:nvSpPr>
          <p:cNvPr id="18" name="Text 16"/>
          <p:cNvSpPr txBox="1"/>
          <p:nvPr/>
        </p:nvSpPr>
        <p:spPr>
          <a:xfrm>
            <a:off x="5513832" y="2240280"/>
            <a:ext cx="1828800" cy="274320"/>
          </a:xfrm>
          <a:prstGeom prst="rect">
            <a:avLst/>
          </a:prstGeom>
          <a:noFill/>
          <a:ln/>
        </p:spPr>
        <p:txBody>
          <a:bodyPr wrap="square" lIns="0" tIns="0" rIns="0" bIns="0" rtlCol="0" anchor="ctr"/>
          <a:lstStyle/>
          <a:p>
            <a:pPr indent="0" marL="0">
              <a:buNone/>
            </a:pPr>
            <a:r>
              <a:rPr lang="en-US" sz="1100" dirty="0">
                <a:solidFill>
                  <a:srgbClr val="26332C"/>
                </a:solidFill>
                <a:latin typeface="Calibri" pitchFamily="34" charset="0"/>
                <a:ea typeface="Calibri" pitchFamily="34" charset="-122"/>
                <a:cs typeface="Calibri" pitchFamily="34" charset="-120"/>
              </a:rPr>
              <a:t>/auth  </a:t>
            </a:r>
            <a:pPr indent="0" marL="0">
              <a:buNone/>
            </a:pPr>
            <a:r>
              <a:rPr lang="en-US" sz="1100" b="1" dirty="0">
                <a:solidFill>
                  <a:srgbClr val="2C5F2D"/>
                </a:solidFill>
                <a:latin typeface="Calibri" pitchFamily="34" charset="0"/>
                <a:ea typeface="Calibri" pitchFamily="34" charset="-122"/>
                <a:cs typeface="Calibri" pitchFamily="34" charset="-120"/>
              </a:rPr>
              <a:t>6</a:t>
            </a:r>
            <a:endParaRPr lang="en-US" sz="1100" dirty="0"/>
          </a:p>
        </p:txBody>
      </p:sp>
      <p:sp>
        <p:nvSpPr>
          <p:cNvPr id="19" name="Text 17"/>
          <p:cNvSpPr txBox="1"/>
          <p:nvPr/>
        </p:nvSpPr>
        <p:spPr>
          <a:xfrm>
            <a:off x="7488936" y="2240280"/>
            <a:ext cx="1828800" cy="274320"/>
          </a:xfrm>
          <a:prstGeom prst="rect">
            <a:avLst/>
          </a:prstGeom>
          <a:noFill/>
          <a:ln/>
        </p:spPr>
        <p:txBody>
          <a:bodyPr wrap="square" lIns="0" tIns="0" rIns="0" bIns="0" rtlCol="0" anchor="ctr"/>
          <a:lstStyle/>
          <a:p>
            <a:pPr indent="0" marL="0">
              <a:buNone/>
            </a:pPr>
            <a:r>
              <a:rPr lang="en-US" sz="1100" dirty="0">
                <a:solidFill>
                  <a:srgbClr val="26332C"/>
                </a:solidFill>
                <a:latin typeface="Calibri" pitchFamily="34" charset="0"/>
                <a:ea typeface="Calibri" pitchFamily="34" charset="-122"/>
                <a:cs typeface="Calibri" pitchFamily="34" charset="-120"/>
              </a:rPr>
              <a:t>/irrigation  </a:t>
            </a:r>
            <a:pPr indent="0" marL="0">
              <a:buNone/>
            </a:pPr>
            <a:r>
              <a:rPr lang="en-US" sz="1100" b="1" dirty="0">
                <a:solidFill>
                  <a:srgbClr val="2C5F2D"/>
                </a:solidFill>
                <a:latin typeface="Calibri" pitchFamily="34" charset="0"/>
                <a:ea typeface="Calibri" pitchFamily="34" charset="-122"/>
                <a:cs typeface="Calibri" pitchFamily="34" charset="-120"/>
              </a:rPr>
              <a:t>7</a:t>
            </a:r>
            <a:endParaRPr lang="en-US" sz="1100" dirty="0"/>
          </a:p>
        </p:txBody>
      </p:sp>
      <p:sp>
        <p:nvSpPr>
          <p:cNvPr id="20" name="Text 18"/>
          <p:cNvSpPr txBox="1"/>
          <p:nvPr/>
        </p:nvSpPr>
        <p:spPr>
          <a:xfrm>
            <a:off x="9464040" y="2240280"/>
            <a:ext cx="1828800" cy="274320"/>
          </a:xfrm>
          <a:prstGeom prst="rect">
            <a:avLst/>
          </a:prstGeom>
          <a:noFill/>
          <a:ln/>
        </p:spPr>
        <p:txBody>
          <a:bodyPr wrap="square" lIns="0" tIns="0" rIns="0" bIns="0" rtlCol="0" anchor="ctr"/>
          <a:lstStyle/>
          <a:p>
            <a:pPr indent="0" marL="0">
              <a:buNone/>
            </a:pPr>
            <a:r>
              <a:rPr lang="en-US" sz="1100" dirty="0">
                <a:solidFill>
                  <a:srgbClr val="26332C"/>
                </a:solidFill>
                <a:latin typeface="Calibri" pitchFamily="34" charset="0"/>
                <a:ea typeface="Calibri" pitchFamily="34" charset="-122"/>
                <a:cs typeface="Calibri" pitchFamily="34" charset="-120"/>
              </a:rPr>
              <a:t>/plants  </a:t>
            </a:r>
            <a:pPr indent="0" marL="0">
              <a:buNone/>
            </a:pPr>
            <a:r>
              <a:rPr lang="en-US" sz="1100" b="1" dirty="0">
                <a:solidFill>
                  <a:srgbClr val="2C5F2D"/>
                </a:solidFill>
                <a:latin typeface="Calibri" pitchFamily="34" charset="0"/>
                <a:ea typeface="Calibri" pitchFamily="34" charset="-122"/>
                <a:cs typeface="Calibri" pitchFamily="34" charset="-120"/>
              </a:rPr>
              <a:t>6</a:t>
            </a:r>
            <a:endParaRPr lang="en-US" sz="1100" dirty="0"/>
          </a:p>
        </p:txBody>
      </p:sp>
      <p:sp>
        <p:nvSpPr>
          <p:cNvPr id="21" name="Text 19"/>
          <p:cNvSpPr txBox="1"/>
          <p:nvPr/>
        </p:nvSpPr>
        <p:spPr>
          <a:xfrm>
            <a:off x="5513832" y="2551176"/>
            <a:ext cx="1828800" cy="274320"/>
          </a:xfrm>
          <a:prstGeom prst="rect">
            <a:avLst/>
          </a:prstGeom>
          <a:noFill/>
          <a:ln/>
        </p:spPr>
        <p:txBody>
          <a:bodyPr wrap="square" lIns="0" tIns="0" rIns="0" bIns="0" rtlCol="0" anchor="ctr"/>
          <a:lstStyle/>
          <a:p>
            <a:pPr indent="0" marL="0">
              <a:buNone/>
            </a:pPr>
            <a:r>
              <a:rPr lang="en-US" sz="1100" dirty="0">
                <a:solidFill>
                  <a:srgbClr val="26332C"/>
                </a:solidFill>
                <a:latin typeface="Calibri" pitchFamily="34" charset="0"/>
                <a:ea typeface="Calibri" pitchFamily="34" charset="-122"/>
                <a:cs typeface="Calibri" pitchFamily="34" charset="-120"/>
              </a:rPr>
              <a:t>/soil  </a:t>
            </a:r>
            <a:pPr indent="0" marL="0">
              <a:buNone/>
            </a:pPr>
            <a:r>
              <a:rPr lang="en-US" sz="1100" b="1" dirty="0">
                <a:solidFill>
                  <a:srgbClr val="2C5F2D"/>
                </a:solidFill>
                <a:latin typeface="Calibri" pitchFamily="34" charset="0"/>
                <a:ea typeface="Calibri" pitchFamily="34" charset="-122"/>
                <a:cs typeface="Calibri" pitchFamily="34" charset="-120"/>
              </a:rPr>
              <a:t>5</a:t>
            </a:r>
            <a:endParaRPr lang="en-US" sz="1100" dirty="0"/>
          </a:p>
        </p:txBody>
      </p:sp>
      <p:sp>
        <p:nvSpPr>
          <p:cNvPr id="22" name="Text 20"/>
          <p:cNvSpPr txBox="1"/>
          <p:nvPr/>
        </p:nvSpPr>
        <p:spPr>
          <a:xfrm>
            <a:off x="7488936" y="2551176"/>
            <a:ext cx="1828800" cy="274320"/>
          </a:xfrm>
          <a:prstGeom prst="rect">
            <a:avLst/>
          </a:prstGeom>
          <a:noFill/>
          <a:ln/>
        </p:spPr>
        <p:txBody>
          <a:bodyPr wrap="square" lIns="0" tIns="0" rIns="0" bIns="0" rtlCol="0" anchor="ctr"/>
          <a:lstStyle/>
          <a:p>
            <a:pPr indent="0" marL="0">
              <a:buNone/>
            </a:pPr>
            <a:r>
              <a:rPr lang="en-US" sz="1100" dirty="0">
                <a:solidFill>
                  <a:srgbClr val="26332C"/>
                </a:solidFill>
                <a:latin typeface="Calibri" pitchFamily="34" charset="0"/>
                <a:ea typeface="Calibri" pitchFamily="34" charset="-122"/>
                <a:cs typeface="Calibri" pitchFamily="34" charset="-120"/>
              </a:rPr>
              <a:t>/recommendations  </a:t>
            </a:r>
            <a:pPr indent="0" marL="0">
              <a:buNone/>
            </a:pPr>
            <a:r>
              <a:rPr lang="en-US" sz="1100" b="1" dirty="0">
                <a:solidFill>
                  <a:srgbClr val="2C5F2D"/>
                </a:solidFill>
                <a:latin typeface="Calibri" pitchFamily="34" charset="0"/>
                <a:ea typeface="Calibri" pitchFamily="34" charset="-122"/>
                <a:cs typeface="Calibri" pitchFamily="34" charset="-120"/>
              </a:rPr>
              <a:t>5</a:t>
            </a:r>
            <a:endParaRPr lang="en-US" sz="1100" dirty="0"/>
          </a:p>
        </p:txBody>
      </p:sp>
      <p:sp>
        <p:nvSpPr>
          <p:cNvPr id="23" name="Text 21"/>
          <p:cNvSpPr txBox="1"/>
          <p:nvPr/>
        </p:nvSpPr>
        <p:spPr>
          <a:xfrm>
            <a:off x="9464040" y="2551176"/>
            <a:ext cx="1828800" cy="274320"/>
          </a:xfrm>
          <a:prstGeom prst="rect">
            <a:avLst/>
          </a:prstGeom>
          <a:noFill/>
          <a:ln/>
        </p:spPr>
        <p:txBody>
          <a:bodyPr wrap="square" lIns="0" tIns="0" rIns="0" bIns="0" rtlCol="0" anchor="ctr"/>
          <a:lstStyle/>
          <a:p>
            <a:pPr indent="0" marL="0">
              <a:buNone/>
            </a:pPr>
            <a:r>
              <a:rPr lang="en-US" sz="1100" dirty="0">
                <a:solidFill>
                  <a:srgbClr val="26332C"/>
                </a:solidFill>
                <a:latin typeface="Calibri" pitchFamily="34" charset="0"/>
                <a:ea typeface="Calibri" pitchFamily="34" charset="-122"/>
                <a:cs typeface="Calibri" pitchFamily="34" charset="-120"/>
              </a:rPr>
              <a:t>/assistant  </a:t>
            </a:r>
            <a:pPr indent="0" marL="0">
              <a:buNone/>
            </a:pPr>
            <a:r>
              <a:rPr lang="en-US" sz="1100" b="1" dirty="0">
                <a:solidFill>
                  <a:srgbClr val="2C5F2D"/>
                </a:solidFill>
                <a:latin typeface="Calibri" pitchFamily="34" charset="0"/>
                <a:ea typeface="Calibri" pitchFamily="34" charset="-122"/>
                <a:cs typeface="Calibri" pitchFamily="34" charset="-120"/>
              </a:rPr>
              <a:t>5</a:t>
            </a:r>
            <a:endParaRPr lang="en-US" sz="1100" dirty="0"/>
          </a:p>
        </p:txBody>
      </p:sp>
      <p:sp>
        <p:nvSpPr>
          <p:cNvPr id="24" name="Text 22"/>
          <p:cNvSpPr txBox="1"/>
          <p:nvPr/>
        </p:nvSpPr>
        <p:spPr>
          <a:xfrm>
            <a:off x="5513832" y="2862072"/>
            <a:ext cx="1828800" cy="274320"/>
          </a:xfrm>
          <a:prstGeom prst="rect">
            <a:avLst/>
          </a:prstGeom>
          <a:noFill/>
          <a:ln/>
        </p:spPr>
        <p:txBody>
          <a:bodyPr wrap="square" lIns="0" tIns="0" rIns="0" bIns="0" rtlCol="0" anchor="ctr"/>
          <a:lstStyle/>
          <a:p>
            <a:pPr indent="0" marL="0">
              <a:buNone/>
            </a:pPr>
            <a:r>
              <a:rPr lang="en-US" sz="1100" dirty="0">
                <a:solidFill>
                  <a:srgbClr val="26332C"/>
                </a:solidFill>
                <a:latin typeface="Calibri" pitchFamily="34" charset="0"/>
                <a:ea typeface="Calibri" pitchFamily="34" charset="-122"/>
                <a:cs typeface="Calibri" pitchFamily="34" charset="-120"/>
              </a:rPr>
              <a:t>/history  </a:t>
            </a:r>
            <a:pPr indent="0" marL="0">
              <a:buNone/>
            </a:pPr>
            <a:r>
              <a:rPr lang="en-US" sz="1100" b="1" dirty="0">
                <a:solidFill>
                  <a:srgbClr val="2C5F2D"/>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7488936" y="2862072"/>
            <a:ext cx="1828800" cy="274320"/>
          </a:xfrm>
          <a:prstGeom prst="rect">
            <a:avLst/>
          </a:prstGeom>
          <a:noFill/>
          <a:ln/>
        </p:spPr>
        <p:txBody>
          <a:bodyPr wrap="square" lIns="0" tIns="0" rIns="0" bIns="0" rtlCol="0" anchor="ctr"/>
          <a:lstStyle/>
          <a:p>
            <a:pPr indent="0" marL="0">
              <a:buNone/>
            </a:pPr>
            <a:r>
              <a:rPr lang="en-US" sz="1100" dirty="0">
                <a:solidFill>
                  <a:srgbClr val="26332C"/>
                </a:solidFill>
                <a:latin typeface="Calibri" pitchFamily="34" charset="0"/>
                <a:ea typeface="Calibri" pitchFamily="34" charset="-122"/>
                <a:cs typeface="Calibri" pitchFamily="34" charset="-120"/>
              </a:rPr>
              <a:t>/weather  </a:t>
            </a:r>
            <a:pPr indent="0" marL="0">
              <a:buNone/>
            </a:pPr>
            <a:r>
              <a:rPr lang="en-US" sz="1100" b="1" dirty="0">
                <a:solidFill>
                  <a:srgbClr val="2C5F2D"/>
                </a:solidFill>
                <a:latin typeface="Calibri" pitchFamily="34" charset="0"/>
                <a:ea typeface="Calibri" pitchFamily="34" charset="-122"/>
                <a:cs typeface="Calibri" pitchFamily="34" charset="-120"/>
              </a:rPr>
              <a:t>2</a:t>
            </a:r>
            <a:endParaRPr lang="en-US" sz="1100" dirty="0"/>
          </a:p>
        </p:txBody>
      </p:sp>
      <p:sp>
        <p:nvSpPr>
          <p:cNvPr id="26" name="Text 24"/>
          <p:cNvSpPr txBox="1"/>
          <p:nvPr/>
        </p:nvSpPr>
        <p:spPr>
          <a:xfrm>
            <a:off x="9464040" y="2862072"/>
            <a:ext cx="1828800" cy="274320"/>
          </a:xfrm>
          <a:prstGeom prst="rect">
            <a:avLst/>
          </a:prstGeom>
          <a:noFill/>
          <a:ln/>
        </p:spPr>
        <p:txBody>
          <a:bodyPr wrap="square" lIns="0" tIns="0" rIns="0" bIns="0" rtlCol="0" anchor="ctr"/>
          <a:lstStyle/>
          <a:p>
            <a:pPr indent="0" marL="0">
              <a:buNone/>
            </a:pPr>
            <a:r>
              <a:rPr lang="en-US" sz="1100" dirty="0">
                <a:solidFill>
                  <a:srgbClr val="26332C"/>
                </a:solidFill>
                <a:latin typeface="Calibri" pitchFamily="34" charset="0"/>
                <a:ea typeface="Calibri" pitchFamily="34" charset="-122"/>
                <a:cs typeface="Calibri" pitchFamily="34" charset="-120"/>
              </a:rPr>
              <a:t>/system  </a:t>
            </a:r>
            <a:pPr indent="0" marL="0">
              <a:buNone/>
            </a:pPr>
            <a:r>
              <a:rPr lang="en-US" sz="1100" b="1" dirty="0">
                <a:solidFill>
                  <a:srgbClr val="2C5F2D"/>
                </a:solidFill>
                <a:latin typeface="Calibri" pitchFamily="34" charset="0"/>
                <a:ea typeface="Calibri" pitchFamily="34" charset="-122"/>
                <a:cs typeface="Calibri" pitchFamily="34" charset="-120"/>
              </a:rPr>
              <a:t>2</a:t>
            </a:r>
            <a:endParaRPr lang="en-US" sz="1100" dirty="0"/>
          </a:p>
        </p:txBody>
      </p:sp>
      <p:sp>
        <p:nvSpPr>
          <p:cNvPr id="27" name="Text 25"/>
          <p:cNvSpPr txBox="1"/>
          <p:nvPr/>
        </p:nvSpPr>
        <p:spPr>
          <a:xfrm>
            <a:off x="5513832" y="3172968"/>
            <a:ext cx="1828800" cy="274320"/>
          </a:xfrm>
          <a:prstGeom prst="rect">
            <a:avLst/>
          </a:prstGeom>
          <a:noFill/>
          <a:ln/>
        </p:spPr>
        <p:txBody>
          <a:bodyPr wrap="square" lIns="0" tIns="0" rIns="0" bIns="0" rtlCol="0" anchor="ctr"/>
          <a:lstStyle/>
          <a:p>
            <a:pPr indent="0" marL="0">
              <a:buNone/>
            </a:pPr>
            <a:r>
              <a:rPr lang="en-US" sz="1100" dirty="0">
                <a:solidFill>
                  <a:srgbClr val="26332C"/>
                </a:solidFill>
                <a:latin typeface="Calibri" pitchFamily="34" charset="0"/>
                <a:ea typeface="Calibri" pitchFamily="34" charset="-122"/>
                <a:cs typeface="Calibri" pitchFamily="34" charset="-120"/>
              </a:rPr>
              <a:t>/dashboard  </a:t>
            </a:r>
            <a:pPr indent="0" marL="0">
              <a:buNone/>
            </a:pPr>
            <a:r>
              <a:rPr lang="en-US" sz="1100" b="1" dirty="0">
                <a:solidFill>
                  <a:srgbClr val="2C5F2D"/>
                </a:solidFill>
                <a:latin typeface="Calibri" pitchFamily="34" charset="0"/>
                <a:ea typeface="Calibri" pitchFamily="34" charset="-122"/>
                <a:cs typeface="Calibri" pitchFamily="34" charset="-120"/>
              </a:rPr>
              <a:t>1</a:t>
            </a:r>
            <a:endParaRPr lang="en-US" sz="1100" dirty="0"/>
          </a:p>
        </p:txBody>
      </p:sp>
      <p:sp>
        <p:nvSpPr>
          <p:cNvPr id="28" name="Shape 26"/>
          <p:cNvSpPr/>
          <p:nvPr/>
        </p:nvSpPr>
        <p:spPr>
          <a:xfrm>
            <a:off x="5257800" y="3703320"/>
            <a:ext cx="6382512" cy="1463040"/>
          </a:xfrm>
          <a:prstGeom prst="roundRect">
            <a:avLst>
              <a:gd name="adj" fmla="val 6250"/>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29" name="Text 27"/>
          <p:cNvSpPr txBox="1"/>
          <p:nvPr/>
        </p:nvSpPr>
        <p:spPr>
          <a:xfrm>
            <a:off x="5513832" y="3840480"/>
            <a:ext cx="5870448" cy="310896"/>
          </a:xfrm>
          <a:prstGeom prst="rect">
            <a:avLst/>
          </a:prstGeom>
          <a:noFill/>
          <a:ln/>
        </p:spPr>
        <p:txBody>
          <a:bodyPr wrap="square" lIns="0" tIns="0" rIns="0" bIns="0" rtlCol="0" anchor="ctr"/>
          <a:lstStyle/>
          <a:p>
            <a:pPr indent="0" marL="0">
              <a:buNone/>
            </a:pPr>
            <a:r>
              <a:rPr lang="en-US" sz="1450" b="1" dirty="0">
                <a:solidFill>
                  <a:srgbClr val="14301F"/>
                </a:solidFill>
                <a:latin typeface="Calibri" pitchFamily="34" charset="0"/>
                <a:ea typeface="Calibri" pitchFamily="34" charset="-122"/>
                <a:cs typeface="Calibri" pitchFamily="34" charset="-120"/>
              </a:rPr>
              <a:t>5 database tables</a:t>
            </a:r>
            <a:endParaRPr lang="en-US" sz="1450" dirty="0"/>
          </a:p>
        </p:txBody>
      </p:sp>
      <p:sp>
        <p:nvSpPr>
          <p:cNvPr id="30" name="Text 28"/>
          <p:cNvSpPr txBox="1"/>
          <p:nvPr/>
        </p:nvSpPr>
        <p:spPr>
          <a:xfrm>
            <a:off x="5513832" y="4206240"/>
            <a:ext cx="5870448" cy="868680"/>
          </a:xfrm>
          <a:prstGeom prst="rect">
            <a:avLst/>
          </a:prstGeom>
          <a:noFill/>
          <a:ln/>
        </p:spPr>
        <p:txBody>
          <a:bodyPr wrap="square" lIns="0" tIns="0" rIns="0" bIns="0" rtlCol="0" anchor="ctr"/>
          <a:lstStyle/>
          <a:p>
            <a:pPr indent="0" marL="0">
              <a:lnSpc>
                <a:spcPts val="1500"/>
              </a:lnSpc>
              <a:buNone/>
            </a:pPr>
            <a:r>
              <a:rPr lang="en-US" sz="1150" dirty="0">
                <a:solidFill>
                  <a:srgbClr val="26332C"/>
                </a:solidFill>
                <a:latin typeface="Calibri" pitchFamily="34" charset="0"/>
                <a:ea typeface="Calibri" pitchFamily="34" charset="-122"/>
                <a:cs typeface="Calibri" pitchFamily="34" charset="-120"/>
              </a:rPr>
              <a:t>users · irrigation_records · plant_analyses · soil_analyses · chat_messages</a:t>
            </a:r>
            <a:endParaRPr lang="en-US" sz="1150" dirty="0"/>
          </a:p>
          <a:p>
            <a:pPr indent="0" marL="0">
              <a:lnSpc>
                <a:spcPts val="1500"/>
              </a:lnSpc>
              <a:buNone/>
            </a:pPr>
            <a:r>
              <a:rPr lang="en-US" sz="1050" dirty="0">
                <a:solidFill>
                  <a:srgbClr val="5A6A61"/>
                </a:solidFill>
                <a:latin typeface="Calibri" pitchFamily="34" charset="0"/>
                <a:ea typeface="Calibri" pitchFamily="34" charset="-122"/>
                <a:cs typeface="Calibri" pitchFamily="34" charset="-120"/>
              </a:rPr>
              <a:t>PostgreSQL (Supabase) in production, SQLite locally — one SQLAlchemy 2.0 model layer serves both, with a custom UTCDateTime type because SQLite silently drops timezone information.</a:t>
            </a:r>
            <a:endParaRPr lang="en-US" sz="1150" dirty="0"/>
          </a:p>
        </p:txBody>
      </p:sp>
      <p:sp>
        <p:nvSpPr>
          <p:cNvPr id="31" name="Shape 29"/>
          <p:cNvSpPr/>
          <p:nvPr/>
        </p:nvSpPr>
        <p:spPr>
          <a:xfrm>
            <a:off x="548640" y="5321808"/>
            <a:ext cx="11091672" cy="841248"/>
          </a:xfrm>
          <a:prstGeom prst="roundRect">
            <a:avLst>
              <a:gd name="adj" fmla="val 10870"/>
            </a:avLst>
          </a:prstGeom>
          <a:solidFill>
            <a:srgbClr val="14301F"/>
          </a:solidFill>
          <a:ln w="12700">
            <a:solidFill>
              <a:srgbClr val="14301F"/>
            </a:solidFill>
            <a:prstDash val="solid"/>
          </a:ln>
          <a:effectLst>
            <a:outerShdw sx="100000" sy="100000" kx="0" ky="0" algn="bl" rotWithShape="0" blurRad="127000" dist="25400" dir="5400000">
              <a:srgbClr val="2C5F2D">
                <a:alpha val="13000"/>
              </a:srgbClr>
            </a:outerShdw>
          </a:effectLst>
        </p:spPr>
      </p:sp>
      <p:sp>
        <p:nvSpPr>
          <p:cNvPr id="32" name="Text 30"/>
          <p:cNvSpPr txBox="1"/>
          <p:nvPr/>
        </p:nvSpPr>
        <p:spPr>
          <a:xfrm>
            <a:off x="822960" y="5440680"/>
            <a:ext cx="10543032" cy="603504"/>
          </a:xfrm>
          <a:prstGeom prst="rect">
            <a:avLst/>
          </a:prstGeom>
          <a:noFill/>
          <a:ln/>
        </p:spPr>
        <p:txBody>
          <a:bodyPr wrap="square" lIns="0" tIns="0" rIns="0" bIns="0" rtlCol="0" anchor="ctr"/>
          <a:lstStyle/>
          <a:p>
            <a:pPr indent="0" marL="0">
              <a:lnSpc>
                <a:spcPts val="1600"/>
              </a:lnSpc>
              <a:buNone/>
            </a:pPr>
            <a:r>
              <a:rPr lang="en-US" sz="1150" b="1" dirty="0">
                <a:solidFill>
                  <a:srgbClr val="E0A526"/>
                </a:solidFill>
                <a:latin typeface="Calibri" pitchFamily="34" charset="0"/>
                <a:ea typeface="Calibri" pitchFamily="34" charset="-122"/>
                <a:cs typeface="Calibri" pitchFamily="34" charset="-120"/>
              </a:rPr>
              <a:t>Runtime:  </a:t>
            </a:r>
            <a:pPr indent="0" marL="0">
              <a:lnSpc>
                <a:spcPts val="1600"/>
              </a:lnSpc>
              <a:buNone/>
            </a:pPr>
            <a:r>
              <a:rPr lang="en-US" sz="1150" dirty="0">
                <a:solidFill>
                  <a:srgbClr val="D7E3CC"/>
                </a:solidFill>
                <a:latin typeface="Calibri" pitchFamily="34" charset="0"/>
                <a:ea typeface="Calibri" pitchFamily="34" charset="-122"/>
                <a:cs typeface="Calibri" pitchFamily="34" charset="-120"/>
              </a:rPr>
              <a:t>FastAPI 0.115 · Uvicorn 0.34 · Pydantic 2.10 · SQLAlchemy 2.0 · PyJWT + bcrypt · Pillow 11 + OpenCV · NumPy · pandas · scikit-learn 1.6 · joblib · httpx  —  Python 3.12</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03504"/>
          </a:xfrm>
          <a:prstGeom prst="rect">
            <a:avLst/>
          </a:prstGeom>
          <a:noFill/>
          <a:ln/>
        </p:spPr>
        <p:txBody>
          <a:bodyPr wrap="square" lIns="0" tIns="0" rIns="0" bIns="0" rtlCol="0" anchor="ctr"/>
          <a:lstStyle/>
          <a:p>
            <a:pPr indent="0" marL="0">
              <a:buNone/>
            </a:pPr>
            <a:r>
              <a:rPr lang="en-US" sz="3200" b="1" dirty="0">
                <a:solidFill>
                  <a:srgbClr val="14301F"/>
                </a:solidFill>
                <a:latin typeface="Cambria" pitchFamily="34" charset="0"/>
                <a:ea typeface="Cambria" pitchFamily="34" charset="-122"/>
                <a:cs typeface="Cambria" pitchFamily="34" charset="-120"/>
              </a:rPr>
              <a:t>Datasets used</a:t>
            </a:r>
            <a:endParaRPr lang="en-US" sz="3200" dirty="0"/>
          </a:p>
        </p:txBody>
      </p:sp>
      <p:sp>
        <p:nvSpPr>
          <p:cNvPr id="3" name="Text 1"/>
          <p:cNvSpPr txBox="1"/>
          <p:nvPr/>
        </p:nvSpPr>
        <p:spPr>
          <a:xfrm>
            <a:off x="548640" y="1005840"/>
            <a:ext cx="10725912" cy="420624"/>
          </a:xfrm>
          <a:prstGeom prst="rect">
            <a:avLst/>
          </a:prstGeom>
          <a:noFill/>
          <a:ln/>
        </p:spPr>
        <p:txBody>
          <a:bodyPr wrap="square" lIns="0" tIns="0" rIns="0" bIns="0" rtlCol="0" anchor="ctr"/>
          <a:lstStyle/>
          <a:p>
            <a:pPr indent="0" marL="0">
              <a:buNone/>
            </a:pPr>
            <a:r>
              <a:rPr lang="en-US" sz="1350" dirty="0">
                <a:solidFill>
                  <a:srgbClr val="5A6A61"/>
                </a:solidFill>
                <a:latin typeface="Calibri" pitchFamily="34" charset="0"/>
                <a:ea typeface="Calibri" pitchFamily="34" charset="-122"/>
                <a:cs typeface="Calibri" pitchFamily="34" charset="-120"/>
              </a:rPr>
              <a:t>One dataset the model is actually trained on, one hand-curated knowledge base, and the image data this project deliberately does not ship.</a:t>
            </a:r>
            <a:endParaRPr lang="en-US" sz="1350" dirty="0"/>
          </a:p>
        </p:txBody>
      </p:sp>
      <p:sp>
        <p:nvSpPr>
          <p:cNvPr id="4" name="Shape 2"/>
          <p:cNvSpPr/>
          <p:nvPr/>
        </p:nvSpPr>
        <p:spPr>
          <a:xfrm>
            <a:off x="548640" y="1737360"/>
            <a:ext cx="5394960" cy="1645920"/>
          </a:xfrm>
          <a:prstGeom prst="roundRect">
            <a:avLst>
              <a:gd name="adj" fmla="val 5556"/>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5" name="Shape 3"/>
          <p:cNvSpPr/>
          <p:nvPr/>
        </p:nvSpPr>
        <p:spPr>
          <a:xfrm>
            <a:off x="768096" y="1938528"/>
            <a:ext cx="1572768" cy="274320"/>
          </a:xfrm>
          <a:prstGeom prst="roundRect">
            <a:avLst>
              <a:gd name="adj" fmla="val 26667"/>
            </a:avLst>
          </a:prstGeom>
          <a:solidFill>
            <a:srgbClr val="2C5F2D"/>
          </a:solidFill>
          <a:ln w="12700">
            <a:solidFill>
              <a:srgbClr val="2C5F2D"/>
            </a:solidFill>
            <a:prstDash val="solid"/>
          </a:ln>
        </p:spPr>
      </p:sp>
      <p:sp>
        <p:nvSpPr>
          <p:cNvPr id="6" name="Text 4"/>
          <p:cNvSpPr txBox="1"/>
          <p:nvPr/>
        </p:nvSpPr>
        <p:spPr>
          <a:xfrm>
            <a:off x="768096" y="1938528"/>
            <a:ext cx="1572768" cy="274320"/>
          </a:xfrm>
          <a:prstGeom prst="rect">
            <a:avLst/>
          </a:prstGeom>
          <a:noFill/>
          <a:ln/>
        </p:spPr>
        <p:txBody>
          <a:bodyPr wrap="square" lIns="0" tIns="0" rIns="0" bIns="0" rtlCol="0" anchor="ctr"/>
          <a:lstStyle/>
          <a:p>
            <a:pPr algn="ctr" indent="0" marL="0">
              <a:buNone/>
            </a:pPr>
            <a:r>
              <a:rPr lang="en-US" sz="800" b="1" spc="60" kern="0" dirty="0">
                <a:solidFill>
                  <a:srgbClr val="FFFFFF"/>
                </a:solidFill>
                <a:latin typeface="Calibri" pitchFamily="34" charset="0"/>
                <a:ea typeface="Calibri" pitchFamily="34" charset="-122"/>
                <a:cs typeface="Calibri" pitchFamily="34" charset="-120"/>
              </a:rPr>
              <a:t>TRAINED ON</a:t>
            </a:r>
            <a:endParaRPr lang="en-US" sz="800" dirty="0"/>
          </a:p>
        </p:txBody>
      </p:sp>
      <p:sp>
        <p:nvSpPr>
          <p:cNvPr id="7" name="Text 5"/>
          <p:cNvSpPr txBox="1"/>
          <p:nvPr/>
        </p:nvSpPr>
        <p:spPr>
          <a:xfrm>
            <a:off x="2450592" y="1920240"/>
            <a:ext cx="3291840" cy="310896"/>
          </a:xfrm>
          <a:prstGeom prst="rect">
            <a:avLst/>
          </a:prstGeom>
          <a:noFill/>
          <a:ln/>
        </p:spPr>
        <p:txBody>
          <a:bodyPr wrap="square" lIns="0" tIns="0" rIns="0" bIns="0" rtlCol="0" anchor="ctr"/>
          <a:lstStyle/>
          <a:p>
            <a:pPr indent="0" marL="0">
              <a:buNone/>
            </a:pPr>
            <a:r>
              <a:rPr lang="en-US" sz="1450" b="1" dirty="0">
                <a:solidFill>
                  <a:srgbClr val="14301F"/>
                </a:solidFill>
                <a:latin typeface="Calibri" pitchFamily="34" charset="0"/>
                <a:ea typeface="Calibri" pitchFamily="34" charset="-122"/>
                <a:cs typeface="Calibri" pitchFamily="34" charset="-120"/>
              </a:rPr>
              <a:t>Irrigation dataset</a:t>
            </a:r>
            <a:endParaRPr lang="en-US" sz="1450" dirty="0"/>
          </a:p>
        </p:txBody>
      </p:sp>
      <p:sp>
        <p:nvSpPr>
          <p:cNvPr id="8" name="Text 6"/>
          <p:cNvSpPr txBox="1"/>
          <p:nvPr/>
        </p:nvSpPr>
        <p:spPr>
          <a:xfrm>
            <a:off x="768096" y="2340864"/>
            <a:ext cx="4956048" cy="1005840"/>
          </a:xfrm>
          <a:prstGeom prst="rect">
            <a:avLst/>
          </a:prstGeom>
          <a:noFill/>
          <a:ln/>
        </p:spPr>
        <p:txBody>
          <a:bodyPr wrap="square" lIns="0" tIns="0" rIns="0" bIns="0" rtlCol="0" anchor="ctr"/>
          <a:lstStyle/>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12,000 rows × 17 columns (1.6 MB CSV) — 9 input features, 2 targets.</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Synthetic: generated by the project’s own water-balance engine and</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stamped dataset_type: synthetic_demonstration in the model bundle.</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80 / 20 split → 2,400 held-out test rows.</a:t>
            </a:r>
            <a:endParaRPr lang="en-US" sz="1000" dirty="0"/>
          </a:p>
        </p:txBody>
      </p:sp>
      <p:sp>
        <p:nvSpPr>
          <p:cNvPr id="9" name="Shape 7"/>
          <p:cNvSpPr/>
          <p:nvPr/>
        </p:nvSpPr>
        <p:spPr>
          <a:xfrm>
            <a:off x="6245352" y="1737360"/>
            <a:ext cx="5394960" cy="1645920"/>
          </a:xfrm>
          <a:prstGeom prst="roundRect">
            <a:avLst>
              <a:gd name="adj" fmla="val 5556"/>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0" name="Shape 8"/>
          <p:cNvSpPr/>
          <p:nvPr/>
        </p:nvSpPr>
        <p:spPr>
          <a:xfrm>
            <a:off x="6464808" y="1938528"/>
            <a:ext cx="1572768" cy="274320"/>
          </a:xfrm>
          <a:prstGeom prst="roundRect">
            <a:avLst>
              <a:gd name="adj" fmla="val 26667"/>
            </a:avLst>
          </a:prstGeom>
          <a:solidFill>
            <a:srgbClr val="2C5F2D"/>
          </a:solidFill>
          <a:ln w="12700">
            <a:solidFill>
              <a:srgbClr val="2C5F2D"/>
            </a:solidFill>
            <a:prstDash val="solid"/>
          </a:ln>
        </p:spPr>
      </p:sp>
      <p:sp>
        <p:nvSpPr>
          <p:cNvPr id="11" name="Text 9"/>
          <p:cNvSpPr txBox="1"/>
          <p:nvPr/>
        </p:nvSpPr>
        <p:spPr>
          <a:xfrm>
            <a:off x="6464808" y="1938528"/>
            <a:ext cx="1572768" cy="274320"/>
          </a:xfrm>
          <a:prstGeom prst="rect">
            <a:avLst/>
          </a:prstGeom>
          <a:noFill/>
          <a:ln/>
        </p:spPr>
        <p:txBody>
          <a:bodyPr wrap="square" lIns="0" tIns="0" rIns="0" bIns="0" rtlCol="0" anchor="ctr"/>
          <a:lstStyle/>
          <a:p>
            <a:pPr algn="ctr" indent="0" marL="0">
              <a:buNone/>
            </a:pPr>
            <a:r>
              <a:rPr lang="en-US" sz="800" b="1" spc="60" kern="0" dirty="0">
                <a:solidFill>
                  <a:srgbClr val="FFFFFF"/>
                </a:solidFill>
                <a:latin typeface="Calibri" pitchFamily="34" charset="0"/>
                <a:ea typeface="Calibri" pitchFamily="34" charset="-122"/>
                <a:cs typeface="Calibri" pitchFamily="34" charset="-120"/>
              </a:rPr>
              <a:t>CURATED</a:t>
            </a:r>
            <a:endParaRPr lang="en-US" sz="800" dirty="0"/>
          </a:p>
        </p:txBody>
      </p:sp>
      <p:sp>
        <p:nvSpPr>
          <p:cNvPr id="12" name="Text 10"/>
          <p:cNvSpPr txBox="1"/>
          <p:nvPr/>
        </p:nvSpPr>
        <p:spPr>
          <a:xfrm>
            <a:off x="8147304" y="1920240"/>
            <a:ext cx="3291840" cy="310896"/>
          </a:xfrm>
          <a:prstGeom prst="rect">
            <a:avLst/>
          </a:prstGeom>
          <a:noFill/>
          <a:ln/>
        </p:spPr>
        <p:txBody>
          <a:bodyPr wrap="square" lIns="0" tIns="0" rIns="0" bIns="0" rtlCol="0" anchor="ctr"/>
          <a:lstStyle/>
          <a:p>
            <a:pPr indent="0" marL="0">
              <a:buNone/>
            </a:pPr>
            <a:r>
              <a:rPr lang="en-US" sz="1450" b="1" dirty="0">
                <a:solidFill>
                  <a:srgbClr val="14301F"/>
                </a:solidFill>
                <a:latin typeface="Calibri" pitchFamily="34" charset="0"/>
                <a:ea typeface="Calibri" pitchFamily="34" charset="-122"/>
                <a:cs typeface="Calibri" pitchFamily="34" charset="-120"/>
              </a:rPr>
              <a:t>Agronomy knowledge base</a:t>
            </a:r>
            <a:endParaRPr lang="en-US" sz="1450" dirty="0"/>
          </a:p>
        </p:txBody>
      </p:sp>
      <p:sp>
        <p:nvSpPr>
          <p:cNvPr id="13" name="Text 11"/>
          <p:cNvSpPr txBox="1"/>
          <p:nvPr/>
        </p:nvSpPr>
        <p:spPr>
          <a:xfrm>
            <a:off x="6464808" y="2340864"/>
            <a:ext cx="4956048" cy="1005840"/>
          </a:xfrm>
          <a:prstGeom prst="rect">
            <a:avLst/>
          </a:prstGeom>
          <a:noFill/>
          <a:ln/>
        </p:spPr>
        <p:txBody>
          <a:bodyPr wrap="square" lIns="0" tIns="0" rIns="0" bIns="0" rtlCol="0" anchor="ctr"/>
          <a:lstStyle/>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4 editable JSON files, ~60 KB, each versioned and dated:</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12 sugarcane varieties (Co 86032, Co 0238, CoC 671, CoM 0265 …),</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7 disease classes + unknown, 6 soil profiles, 5 growth-stage rule sets.</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Hot-reloadable through the API — no code change to correct advice.</a:t>
            </a:r>
            <a:endParaRPr lang="en-US" sz="1000" dirty="0"/>
          </a:p>
        </p:txBody>
      </p:sp>
      <p:sp>
        <p:nvSpPr>
          <p:cNvPr id="14" name="Shape 12"/>
          <p:cNvSpPr/>
          <p:nvPr/>
        </p:nvSpPr>
        <p:spPr>
          <a:xfrm>
            <a:off x="548640" y="3547872"/>
            <a:ext cx="5394960" cy="1645920"/>
          </a:xfrm>
          <a:prstGeom prst="roundRect">
            <a:avLst>
              <a:gd name="adj" fmla="val 5556"/>
            </a:avLst>
          </a:prstGeom>
          <a:solidFill>
            <a:srgbClr val="FCF6E8"/>
          </a:solidFill>
          <a:ln w="12700">
            <a:solidFill>
              <a:srgbClr val="EBD9AC"/>
            </a:solidFill>
            <a:prstDash val="solid"/>
          </a:ln>
          <a:effectLst>
            <a:outerShdw sx="100000" sy="100000" kx="0" ky="0" algn="bl" rotWithShape="0" blurRad="127000" dist="25400" dir="5400000">
              <a:srgbClr val="2C5F2D">
                <a:alpha val="13000"/>
              </a:srgbClr>
            </a:outerShdw>
          </a:effectLst>
        </p:spPr>
      </p:sp>
      <p:sp>
        <p:nvSpPr>
          <p:cNvPr id="15" name="Shape 13"/>
          <p:cNvSpPr/>
          <p:nvPr/>
        </p:nvSpPr>
        <p:spPr>
          <a:xfrm>
            <a:off x="768096" y="3749040"/>
            <a:ext cx="1572768" cy="274320"/>
          </a:xfrm>
          <a:prstGeom prst="roundRect">
            <a:avLst>
              <a:gd name="adj" fmla="val 26667"/>
            </a:avLst>
          </a:prstGeom>
          <a:solidFill>
            <a:srgbClr val="9A5B08"/>
          </a:solidFill>
          <a:ln w="12700">
            <a:solidFill>
              <a:srgbClr val="9A5B08"/>
            </a:solidFill>
            <a:prstDash val="solid"/>
          </a:ln>
        </p:spPr>
      </p:sp>
      <p:sp>
        <p:nvSpPr>
          <p:cNvPr id="16" name="Text 14"/>
          <p:cNvSpPr txBox="1"/>
          <p:nvPr/>
        </p:nvSpPr>
        <p:spPr>
          <a:xfrm>
            <a:off x="768096" y="3749040"/>
            <a:ext cx="1572768" cy="274320"/>
          </a:xfrm>
          <a:prstGeom prst="rect">
            <a:avLst/>
          </a:prstGeom>
          <a:noFill/>
          <a:ln/>
        </p:spPr>
        <p:txBody>
          <a:bodyPr wrap="square" lIns="0" tIns="0" rIns="0" bIns="0" rtlCol="0" anchor="ctr"/>
          <a:lstStyle/>
          <a:p>
            <a:pPr algn="ctr" indent="0" marL="0">
              <a:buNone/>
            </a:pPr>
            <a:r>
              <a:rPr lang="en-US" sz="800" b="1" spc="60" kern="0" dirty="0">
                <a:solidFill>
                  <a:srgbClr val="FFFFFF"/>
                </a:solidFill>
                <a:latin typeface="Calibri" pitchFamily="34" charset="0"/>
                <a:ea typeface="Calibri" pitchFamily="34" charset="-122"/>
                <a:cs typeface="Calibri" pitchFamily="34" charset="-120"/>
              </a:rPr>
              <a:t>NOT BUNDLED</a:t>
            </a:r>
            <a:endParaRPr lang="en-US" sz="800" dirty="0"/>
          </a:p>
        </p:txBody>
      </p:sp>
      <p:sp>
        <p:nvSpPr>
          <p:cNvPr id="17" name="Text 15"/>
          <p:cNvSpPr txBox="1"/>
          <p:nvPr/>
        </p:nvSpPr>
        <p:spPr>
          <a:xfrm>
            <a:off x="2450592" y="3730752"/>
            <a:ext cx="3291840" cy="310896"/>
          </a:xfrm>
          <a:prstGeom prst="rect">
            <a:avLst/>
          </a:prstGeom>
          <a:noFill/>
          <a:ln/>
        </p:spPr>
        <p:txBody>
          <a:bodyPr wrap="square" lIns="0" tIns="0" rIns="0" bIns="0" rtlCol="0" anchor="ctr"/>
          <a:lstStyle/>
          <a:p>
            <a:pPr indent="0" marL="0">
              <a:buNone/>
            </a:pPr>
            <a:r>
              <a:rPr lang="en-US" sz="1450" b="1" dirty="0">
                <a:solidFill>
                  <a:srgbClr val="14301F"/>
                </a:solidFill>
                <a:latin typeface="Calibri" pitchFamily="34" charset="0"/>
                <a:ea typeface="Calibri" pitchFamily="34" charset="-122"/>
                <a:cs typeface="Calibri" pitchFamily="34" charset="-120"/>
              </a:rPr>
              <a:t>Image datasets</a:t>
            </a:r>
            <a:endParaRPr lang="en-US" sz="1450" dirty="0"/>
          </a:p>
        </p:txBody>
      </p:sp>
      <p:sp>
        <p:nvSpPr>
          <p:cNvPr id="18" name="Text 16"/>
          <p:cNvSpPr txBox="1"/>
          <p:nvPr/>
        </p:nvSpPr>
        <p:spPr>
          <a:xfrm>
            <a:off x="768096" y="4151376"/>
            <a:ext cx="4956048" cy="1005840"/>
          </a:xfrm>
          <a:prstGeom prst="rect">
            <a:avLst/>
          </a:prstGeom>
          <a:noFill/>
          <a:ln/>
        </p:spPr>
        <p:txBody>
          <a:bodyPr wrap="square" lIns="0" tIns="0" rIns="0" bIns="0" rtlCol="0" anchor="ctr"/>
          <a:lstStyle/>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No labelled sugarcane photo set ships with the project, so disease and</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soil run as clearly-labelled DEMO heuristics rather than a model trained</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on nothing. Documented training path: one folder per class, 100 images</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minimum / 500+ ideal — Kaggle, Mendeley, Roboflow, PlantVillage.</a:t>
            </a:r>
            <a:endParaRPr lang="en-US" sz="1000" dirty="0"/>
          </a:p>
        </p:txBody>
      </p:sp>
      <p:sp>
        <p:nvSpPr>
          <p:cNvPr id="19" name="Shape 17"/>
          <p:cNvSpPr/>
          <p:nvPr/>
        </p:nvSpPr>
        <p:spPr>
          <a:xfrm>
            <a:off x="6245352" y="3547872"/>
            <a:ext cx="5394960" cy="1645920"/>
          </a:xfrm>
          <a:prstGeom prst="roundRect">
            <a:avLst>
              <a:gd name="adj" fmla="val 5556"/>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20" name="Shape 18"/>
          <p:cNvSpPr/>
          <p:nvPr/>
        </p:nvSpPr>
        <p:spPr>
          <a:xfrm>
            <a:off x="6464808" y="3749040"/>
            <a:ext cx="1572768" cy="274320"/>
          </a:xfrm>
          <a:prstGeom prst="roundRect">
            <a:avLst>
              <a:gd name="adj" fmla="val 26667"/>
            </a:avLst>
          </a:prstGeom>
          <a:solidFill>
            <a:srgbClr val="3F7A45"/>
          </a:solidFill>
          <a:ln w="12700">
            <a:solidFill>
              <a:srgbClr val="3F7A45"/>
            </a:solidFill>
            <a:prstDash val="solid"/>
          </a:ln>
        </p:spPr>
      </p:sp>
      <p:sp>
        <p:nvSpPr>
          <p:cNvPr id="21" name="Text 19"/>
          <p:cNvSpPr txBox="1"/>
          <p:nvPr/>
        </p:nvSpPr>
        <p:spPr>
          <a:xfrm>
            <a:off x="6464808" y="3749040"/>
            <a:ext cx="1572768" cy="274320"/>
          </a:xfrm>
          <a:prstGeom prst="rect">
            <a:avLst/>
          </a:prstGeom>
          <a:noFill/>
          <a:ln/>
        </p:spPr>
        <p:txBody>
          <a:bodyPr wrap="square" lIns="0" tIns="0" rIns="0" bIns="0" rtlCol="0" anchor="ctr"/>
          <a:lstStyle/>
          <a:p>
            <a:pPr algn="ctr" indent="0" marL="0">
              <a:buNone/>
            </a:pPr>
            <a:r>
              <a:rPr lang="en-US" sz="800" b="1" spc="60" kern="0" dirty="0">
                <a:solidFill>
                  <a:srgbClr val="FFFFFF"/>
                </a:solidFill>
                <a:latin typeface="Calibri" pitchFamily="34" charset="0"/>
                <a:ea typeface="Calibri" pitchFamily="34" charset="-122"/>
                <a:cs typeface="Calibri" pitchFamily="34" charset="-120"/>
              </a:rPr>
              <a:t>GENERATED AT RUNTIME</a:t>
            </a:r>
            <a:endParaRPr lang="en-US" sz="800" dirty="0"/>
          </a:p>
        </p:txBody>
      </p:sp>
      <p:sp>
        <p:nvSpPr>
          <p:cNvPr id="22" name="Text 20"/>
          <p:cNvSpPr txBox="1"/>
          <p:nvPr/>
        </p:nvSpPr>
        <p:spPr>
          <a:xfrm>
            <a:off x="8147304" y="3730752"/>
            <a:ext cx="3291840" cy="310896"/>
          </a:xfrm>
          <a:prstGeom prst="rect">
            <a:avLst/>
          </a:prstGeom>
          <a:noFill/>
          <a:ln/>
        </p:spPr>
        <p:txBody>
          <a:bodyPr wrap="square" lIns="0" tIns="0" rIns="0" bIns="0" rtlCol="0" anchor="ctr"/>
          <a:lstStyle/>
          <a:p>
            <a:pPr indent="0" marL="0">
              <a:buNone/>
            </a:pPr>
            <a:r>
              <a:rPr lang="en-US" sz="1450" b="1" dirty="0">
                <a:solidFill>
                  <a:srgbClr val="14301F"/>
                </a:solidFill>
                <a:latin typeface="Calibri" pitchFamily="34" charset="0"/>
                <a:ea typeface="Calibri" pitchFamily="34" charset="-122"/>
                <a:cs typeface="Calibri" pitchFamily="34" charset="-120"/>
              </a:rPr>
              <a:t>Your own records</a:t>
            </a:r>
            <a:endParaRPr lang="en-US" sz="1450" dirty="0"/>
          </a:p>
        </p:txBody>
      </p:sp>
      <p:sp>
        <p:nvSpPr>
          <p:cNvPr id="23" name="Text 21"/>
          <p:cNvSpPr txBox="1"/>
          <p:nvPr/>
        </p:nvSpPr>
        <p:spPr>
          <a:xfrm>
            <a:off x="6464808" y="4151376"/>
            <a:ext cx="4956048" cy="1005840"/>
          </a:xfrm>
          <a:prstGeom prst="rect">
            <a:avLst/>
          </a:prstGeom>
          <a:noFill/>
          <a:ln/>
        </p:spPr>
        <p:txBody>
          <a:bodyPr wrap="square" lIns="0" tIns="0" rIns="0" bIns="0" rtlCol="0" anchor="ctr"/>
          <a:lstStyle/>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Every analysis is saved per user: irrigation_records, plant_analyses,</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soil_analyses and chat_messages.</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These feed the dashboard trend chart, the plant-health history and the</a:t>
            </a:r>
            <a:endParaRPr lang="en-US" sz="1000" dirty="0"/>
          </a:p>
          <a:p>
            <a:pPr indent="0" marL="0">
              <a:lnSpc>
                <a:spcPts val="1400"/>
              </a:lnSpc>
              <a:buNone/>
            </a:pPr>
            <a:r>
              <a:rPr lang="en-US" sz="1000" dirty="0">
                <a:solidFill>
                  <a:srgbClr val="26332C"/>
                </a:solidFill>
                <a:latin typeface="Calibri" pitchFamily="34" charset="0"/>
                <a:ea typeface="Calibri" pitchFamily="34" charset="-122"/>
                <a:cs typeface="Calibri" pitchFamily="34" charset="-120"/>
              </a:rPr>
              <a:t>assistant, which answers only from your own saved records.</a:t>
            </a:r>
            <a:endParaRPr lang="en-US" sz="1000" dirty="0"/>
          </a:p>
        </p:txBody>
      </p:sp>
      <p:sp>
        <p:nvSpPr>
          <p:cNvPr id="24" name="Shape 22"/>
          <p:cNvSpPr/>
          <p:nvPr/>
        </p:nvSpPr>
        <p:spPr>
          <a:xfrm>
            <a:off x="548640" y="5468112"/>
            <a:ext cx="11091672" cy="822960"/>
          </a:xfrm>
          <a:prstGeom prst="roundRect">
            <a:avLst>
              <a:gd name="adj" fmla="val 11111"/>
            </a:avLst>
          </a:prstGeom>
          <a:solidFill>
            <a:srgbClr val="E9F0E1"/>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25" name="Text 23"/>
          <p:cNvSpPr txBox="1"/>
          <p:nvPr/>
        </p:nvSpPr>
        <p:spPr>
          <a:xfrm>
            <a:off x="822960" y="5550408"/>
            <a:ext cx="10543032" cy="685800"/>
          </a:xfrm>
          <a:prstGeom prst="rect">
            <a:avLst/>
          </a:prstGeom>
          <a:noFill/>
          <a:ln/>
        </p:spPr>
        <p:txBody>
          <a:bodyPr wrap="square" lIns="0" tIns="0" rIns="0" bIns="0" rtlCol="0" anchor="ctr"/>
          <a:lstStyle/>
          <a:p>
            <a:pPr indent="0" marL="0">
              <a:lnSpc>
                <a:spcPts val="1500"/>
              </a:lnSpc>
              <a:buNone/>
            </a:pPr>
            <a:r>
              <a:rPr lang="en-US" sz="1100" b="1" dirty="0">
                <a:solidFill>
                  <a:srgbClr val="14301F"/>
                </a:solidFill>
                <a:latin typeface="Calibri" pitchFamily="34" charset="0"/>
                <a:ea typeface="Calibri" pitchFamily="34" charset="-122"/>
                <a:cs typeface="Calibri" pitchFamily="34" charset="-120"/>
              </a:rPr>
              <a:t>The 9 irrigation features:  </a:t>
            </a:r>
            <a:pPr indent="0" marL="0">
              <a:lnSpc>
                <a:spcPts val="1500"/>
              </a:lnSpc>
              <a:buNone/>
            </a:pPr>
            <a:r>
              <a:rPr lang="en-US" sz="1100" dirty="0">
                <a:solidFill>
                  <a:srgbClr val="26332C"/>
                </a:solidFill>
                <a:latin typeface="Calibri" pitchFamily="34" charset="0"/>
                <a:ea typeface="Calibri" pitchFamily="34" charset="-122"/>
                <a:cs typeface="Calibri" pitchFamily="34" charset="-120"/>
              </a:rPr>
              <a:t>soil moisture · temperature · humidity · rainfall · rain probability · wind speed · weather condition · soil type · growth stage</a:t>
            </a:r>
            <a:endParaRPr lang="en-US" sz="1100" dirty="0"/>
          </a:p>
          <a:p>
            <a:pPr indent="0" marL="0">
              <a:lnSpc>
                <a:spcPts val="1500"/>
              </a:lnSpc>
              <a:buNone/>
            </a:pPr>
            <a:r>
              <a:rPr lang="en-US" sz="1000" dirty="0">
                <a:solidFill>
                  <a:srgbClr val="5A6A61"/>
                </a:solidFill>
                <a:latin typeface="Calibri" pitchFamily="34" charset="0"/>
                <a:ea typeface="Calibri" pitchFamily="34" charset="-122"/>
                <a:cs typeface="Calibri" pitchFamily="34" charset="-120"/>
              </a:rPr>
              <a:t>Targets: water_requirement_mm (regression) and irrigation_required (classification). Swap in a CSV of your own logged field decisions and the synthetic-data warnings disappear from the app.</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03504"/>
          </a:xfrm>
          <a:prstGeom prst="rect">
            <a:avLst/>
          </a:prstGeom>
          <a:noFill/>
          <a:ln/>
        </p:spPr>
        <p:txBody>
          <a:bodyPr wrap="square" lIns="0" tIns="0" rIns="0" bIns="0" rtlCol="0" anchor="ctr"/>
          <a:lstStyle/>
          <a:p>
            <a:pPr indent="0" marL="0">
              <a:buNone/>
            </a:pPr>
            <a:r>
              <a:rPr lang="en-US" sz="3200" b="1" dirty="0">
                <a:solidFill>
                  <a:srgbClr val="14301F"/>
                </a:solidFill>
                <a:latin typeface="Cambria" pitchFamily="34" charset="0"/>
                <a:ea typeface="Cambria" pitchFamily="34" charset="-122"/>
                <a:cs typeface="Cambria" pitchFamily="34" charset="-120"/>
              </a:rPr>
              <a:t>Algorithms behind each answer</a:t>
            </a:r>
            <a:endParaRPr lang="en-US" sz="3200" dirty="0"/>
          </a:p>
        </p:txBody>
      </p:sp>
      <p:sp>
        <p:nvSpPr>
          <p:cNvPr id="3" name="Text 1"/>
          <p:cNvSpPr txBox="1"/>
          <p:nvPr/>
        </p:nvSpPr>
        <p:spPr>
          <a:xfrm>
            <a:off x="548640" y="1005840"/>
            <a:ext cx="10725912" cy="420624"/>
          </a:xfrm>
          <a:prstGeom prst="rect">
            <a:avLst/>
          </a:prstGeom>
          <a:noFill/>
          <a:ln/>
        </p:spPr>
        <p:txBody>
          <a:bodyPr wrap="square" lIns="0" tIns="0" rIns="0" bIns="0" rtlCol="0" anchor="ctr"/>
          <a:lstStyle/>
          <a:p>
            <a:pPr indent="0" marL="0">
              <a:buNone/>
            </a:pPr>
            <a:r>
              <a:rPr lang="en-US" sz="1350" dirty="0">
                <a:solidFill>
                  <a:srgbClr val="5A6A61"/>
                </a:solidFill>
                <a:latin typeface="Calibri" pitchFamily="34" charset="0"/>
                <a:ea typeface="Calibri" pitchFamily="34" charset="-122"/>
                <a:cs typeface="Calibri" pitchFamily="34" charset="-120"/>
              </a:rPr>
              <a:t>Six engines, each chosen for the data actually available to it — and each one declares its own type in the response.</a:t>
            </a:r>
            <a:endParaRPr lang="en-US" sz="1350" dirty="0"/>
          </a:p>
        </p:txBody>
      </p:sp>
      <p:sp>
        <p:nvSpPr>
          <p:cNvPr id="4" name="Shape 2"/>
          <p:cNvSpPr/>
          <p:nvPr/>
        </p:nvSpPr>
        <p:spPr>
          <a:xfrm>
            <a:off x="548640" y="1691640"/>
            <a:ext cx="3520440" cy="1645920"/>
          </a:xfrm>
          <a:prstGeom prst="roundRect">
            <a:avLst>
              <a:gd name="adj" fmla="val 5556"/>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5" name="Shape 3"/>
          <p:cNvSpPr/>
          <p:nvPr/>
        </p:nvSpPr>
        <p:spPr>
          <a:xfrm>
            <a:off x="731520" y="1874520"/>
            <a:ext cx="347472" cy="347472"/>
          </a:xfrm>
          <a:prstGeom prst="ellipse">
            <a:avLst/>
          </a:prstGeom>
          <a:solidFill>
            <a:srgbClr val="2C5F2D"/>
          </a:solidFill>
          <a:ln w="12700">
            <a:solidFill>
              <a:srgbClr val="2C5F2D"/>
            </a:solidFill>
            <a:prstDash val="solid"/>
          </a:ln>
        </p:spPr>
      </p:sp>
      <p:sp>
        <p:nvSpPr>
          <p:cNvPr id="6" name="Text 4"/>
          <p:cNvSpPr txBox="1"/>
          <p:nvPr/>
        </p:nvSpPr>
        <p:spPr>
          <a:xfrm>
            <a:off x="731520" y="18745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170432" y="1874520"/>
            <a:ext cx="2734056" cy="347472"/>
          </a:xfrm>
          <a:prstGeom prst="rect">
            <a:avLst/>
          </a:prstGeom>
          <a:noFill/>
          <a:ln/>
        </p:spPr>
        <p:txBody>
          <a:bodyPr wrap="square" lIns="0" tIns="0" rIns="0" bIns="0" rtlCol="0" anchor="ctr"/>
          <a:lstStyle/>
          <a:p>
            <a:pPr indent="0" marL="0">
              <a:buNone/>
            </a:pPr>
            <a:r>
              <a:rPr lang="en-US" sz="1350" b="1" dirty="0">
                <a:solidFill>
                  <a:srgbClr val="14301F"/>
                </a:solidFill>
                <a:latin typeface="Calibri" pitchFamily="34" charset="0"/>
                <a:ea typeface="Calibri" pitchFamily="34" charset="-122"/>
                <a:cs typeface="Calibri" pitchFamily="34" charset="-120"/>
              </a:rPr>
              <a:t>Irrigation</a:t>
            </a:r>
            <a:endParaRPr lang="en-US" sz="1350" dirty="0"/>
          </a:p>
        </p:txBody>
      </p:sp>
      <p:sp>
        <p:nvSpPr>
          <p:cNvPr id="8" name="Text 6"/>
          <p:cNvSpPr txBox="1"/>
          <p:nvPr/>
        </p:nvSpPr>
        <p:spPr>
          <a:xfrm>
            <a:off x="731520" y="2295144"/>
            <a:ext cx="3154680" cy="1005840"/>
          </a:xfrm>
          <a:prstGeom prst="rect">
            <a:avLst/>
          </a:prstGeom>
          <a:noFill/>
          <a:ln/>
        </p:spPr>
        <p:txBody>
          <a:bodyPr wrap="square" lIns="0" tIns="0" rIns="0" bIns="0" rtlCol="0" anchor="ctr"/>
          <a:lstStyle/>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RandomForestRegressor (water in mm) plus a</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RandomForestClassifier (irrigate or not) over the 9</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features, wrapped around an FAO-56-style water</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balance: ET₀ × Kc − effective rain. If the classifier</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disagrees with the balance, the app says so.</a:t>
            </a:r>
            <a:endParaRPr lang="en-US" sz="950" dirty="0"/>
          </a:p>
        </p:txBody>
      </p:sp>
      <p:sp>
        <p:nvSpPr>
          <p:cNvPr id="9" name="Shape 7"/>
          <p:cNvSpPr/>
          <p:nvPr/>
        </p:nvSpPr>
        <p:spPr>
          <a:xfrm>
            <a:off x="4334256" y="1691640"/>
            <a:ext cx="3520440" cy="1645920"/>
          </a:xfrm>
          <a:prstGeom prst="roundRect">
            <a:avLst>
              <a:gd name="adj" fmla="val 5556"/>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0" name="Shape 8"/>
          <p:cNvSpPr/>
          <p:nvPr/>
        </p:nvSpPr>
        <p:spPr>
          <a:xfrm>
            <a:off x="4517136" y="1874520"/>
            <a:ext cx="347472" cy="347472"/>
          </a:xfrm>
          <a:prstGeom prst="ellipse">
            <a:avLst/>
          </a:prstGeom>
          <a:solidFill>
            <a:srgbClr val="2C5F2D"/>
          </a:solidFill>
          <a:ln w="12700">
            <a:solidFill>
              <a:srgbClr val="2C5F2D"/>
            </a:solidFill>
            <a:prstDash val="solid"/>
          </a:ln>
        </p:spPr>
      </p:sp>
      <p:sp>
        <p:nvSpPr>
          <p:cNvPr id="11" name="Text 9"/>
          <p:cNvSpPr txBox="1"/>
          <p:nvPr/>
        </p:nvSpPr>
        <p:spPr>
          <a:xfrm>
            <a:off x="4517136" y="18745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4956048" y="1874520"/>
            <a:ext cx="2734056" cy="347472"/>
          </a:xfrm>
          <a:prstGeom prst="rect">
            <a:avLst/>
          </a:prstGeom>
          <a:noFill/>
          <a:ln/>
        </p:spPr>
        <p:txBody>
          <a:bodyPr wrap="square" lIns="0" tIns="0" rIns="0" bIns="0" rtlCol="0" anchor="ctr"/>
          <a:lstStyle/>
          <a:p>
            <a:pPr indent="0" marL="0">
              <a:buNone/>
            </a:pPr>
            <a:r>
              <a:rPr lang="en-US" sz="1350" b="1" dirty="0">
                <a:solidFill>
                  <a:srgbClr val="14301F"/>
                </a:solidFill>
                <a:latin typeface="Calibri" pitchFamily="34" charset="0"/>
                <a:ea typeface="Calibri" pitchFamily="34" charset="-122"/>
                <a:cs typeface="Calibri" pitchFamily="34" charset="-120"/>
              </a:rPr>
              <a:t>Water balance</a:t>
            </a:r>
            <a:endParaRPr lang="en-US" sz="1350" dirty="0"/>
          </a:p>
        </p:txBody>
      </p:sp>
      <p:sp>
        <p:nvSpPr>
          <p:cNvPr id="13" name="Text 11"/>
          <p:cNvSpPr txBox="1"/>
          <p:nvPr/>
        </p:nvSpPr>
        <p:spPr>
          <a:xfrm>
            <a:off x="4517136" y="2295144"/>
            <a:ext cx="3154680" cy="1005840"/>
          </a:xfrm>
          <a:prstGeom prst="rect">
            <a:avLst/>
          </a:prstGeom>
          <a:noFill/>
          <a:ln/>
        </p:spPr>
        <p:txBody>
          <a:bodyPr wrap="square" lIns="0" tIns="0" rIns="0" bIns="0" rtlCol="0" anchor="ctr"/>
          <a:lstStyle/>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The transparent fallback, and the source of the</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training labels. Kc 0.50 → 1.25 by growth stage,</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moisture triggers per soil type, application</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efficiency 0.55 flood → 0.90 drip, rainfall</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effectiveness 0.75. Every constant is documented.</a:t>
            </a:r>
            <a:endParaRPr lang="en-US" sz="950" dirty="0"/>
          </a:p>
        </p:txBody>
      </p:sp>
      <p:sp>
        <p:nvSpPr>
          <p:cNvPr id="14" name="Shape 12"/>
          <p:cNvSpPr/>
          <p:nvPr/>
        </p:nvSpPr>
        <p:spPr>
          <a:xfrm>
            <a:off x="8119872" y="1691640"/>
            <a:ext cx="3520440" cy="1645920"/>
          </a:xfrm>
          <a:prstGeom prst="roundRect">
            <a:avLst>
              <a:gd name="adj" fmla="val 5556"/>
            </a:avLst>
          </a:prstGeom>
          <a:solidFill>
            <a:srgbClr val="FCF6E8"/>
          </a:solidFill>
          <a:ln w="12700">
            <a:solidFill>
              <a:srgbClr val="EBD9AC"/>
            </a:solidFill>
            <a:prstDash val="solid"/>
          </a:ln>
          <a:effectLst>
            <a:outerShdw sx="100000" sy="100000" kx="0" ky="0" algn="bl" rotWithShape="0" blurRad="127000" dist="25400" dir="5400000">
              <a:srgbClr val="2C5F2D">
                <a:alpha val="13000"/>
              </a:srgbClr>
            </a:outerShdw>
          </a:effectLst>
        </p:spPr>
      </p:sp>
      <p:sp>
        <p:nvSpPr>
          <p:cNvPr id="15" name="Shape 13"/>
          <p:cNvSpPr/>
          <p:nvPr/>
        </p:nvSpPr>
        <p:spPr>
          <a:xfrm>
            <a:off x="8302752" y="1874520"/>
            <a:ext cx="347472" cy="347472"/>
          </a:xfrm>
          <a:prstGeom prst="ellipse">
            <a:avLst/>
          </a:prstGeom>
          <a:solidFill>
            <a:srgbClr val="9A5B08"/>
          </a:solidFill>
          <a:ln w="12700">
            <a:solidFill>
              <a:srgbClr val="9A5B08"/>
            </a:solidFill>
            <a:prstDash val="solid"/>
          </a:ln>
        </p:spPr>
      </p:sp>
      <p:sp>
        <p:nvSpPr>
          <p:cNvPr id="16" name="Text 14"/>
          <p:cNvSpPr txBox="1"/>
          <p:nvPr/>
        </p:nvSpPr>
        <p:spPr>
          <a:xfrm>
            <a:off x="8302752" y="18745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8741664" y="1874520"/>
            <a:ext cx="2734056" cy="347472"/>
          </a:xfrm>
          <a:prstGeom prst="rect">
            <a:avLst/>
          </a:prstGeom>
          <a:noFill/>
          <a:ln/>
        </p:spPr>
        <p:txBody>
          <a:bodyPr wrap="square" lIns="0" tIns="0" rIns="0" bIns="0" rtlCol="0" anchor="ctr"/>
          <a:lstStyle/>
          <a:p>
            <a:pPr indent="0" marL="0">
              <a:buNone/>
            </a:pPr>
            <a:r>
              <a:rPr lang="en-US" sz="1350" b="1" dirty="0">
                <a:solidFill>
                  <a:srgbClr val="14301F"/>
                </a:solidFill>
                <a:latin typeface="Calibri" pitchFamily="34" charset="0"/>
                <a:ea typeface="Calibri" pitchFamily="34" charset="-122"/>
                <a:cs typeface="Calibri" pitchFamily="34" charset="-120"/>
              </a:rPr>
              <a:t>Disease  ·  DEMO</a:t>
            </a:r>
            <a:endParaRPr lang="en-US" sz="1350" dirty="0"/>
          </a:p>
        </p:txBody>
      </p:sp>
      <p:sp>
        <p:nvSpPr>
          <p:cNvPr id="18" name="Text 16"/>
          <p:cNvSpPr txBox="1"/>
          <p:nvPr/>
        </p:nvSpPr>
        <p:spPr>
          <a:xfrm>
            <a:off x="8302752" y="2295144"/>
            <a:ext cx="3154680" cy="1005840"/>
          </a:xfrm>
          <a:prstGeom prst="rect">
            <a:avLst/>
          </a:prstGeom>
          <a:noFill/>
          <a:ln/>
        </p:spPr>
        <p:txBody>
          <a:bodyPr wrap="square" lIns="0" tIns="0" rIns="0" bIns="0" rtlCol="0" anchor="ctr"/>
          <a:lstStyle/>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HSV colour masks (green / yellow / brown / dark /</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bleached), brown fragmentation, edge density and</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streak orientation, scored per class. Fragmentation</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is what separates rust from red rot. Confidence is</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capped at 0.88; below 0.42 it answers "unknown".</a:t>
            </a:r>
            <a:endParaRPr lang="en-US" sz="950" dirty="0"/>
          </a:p>
        </p:txBody>
      </p:sp>
      <p:sp>
        <p:nvSpPr>
          <p:cNvPr id="19" name="Shape 17"/>
          <p:cNvSpPr/>
          <p:nvPr/>
        </p:nvSpPr>
        <p:spPr>
          <a:xfrm>
            <a:off x="548640" y="3502152"/>
            <a:ext cx="3520440" cy="1645920"/>
          </a:xfrm>
          <a:prstGeom prst="roundRect">
            <a:avLst>
              <a:gd name="adj" fmla="val 5556"/>
            </a:avLst>
          </a:prstGeom>
          <a:solidFill>
            <a:srgbClr val="FCF6E8"/>
          </a:solidFill>
          <a:ln w="12700">
            <a:solidFill>
              <a:srgbClr val="EBD9AC"/>
            </a:solidFill>
            <a:prstDash val="solid"/>
          </a:ln>
          <a:effectLst>
            <a:outerShdw sx="100000" sy="100000" kx="0" ky="0" algn="bl" rotWithShape="0" blurRad="127000" dist="25400" dir="5400000">
              <a:srgbClr val="2C5F2D">
                <a:alpha val="13000"/>
              </a:srgbClr>
            </a:outerShdw>
          </a:effectLst>
        </p:spPr>
      </p:sp>
      <p:sp>
        <p:nvSpPr>
          <p:cNvPr id="20" name="Shape 18"/>
          <p:cNvSpPr/>
          <p:nvPr/>
        </p:nvSpPr>
        <p:spPr>
          <a:xfrm>
            <a:off x="731520" y="3685032"/>
            <a:ext cx="347472" cy="347472"/>
          </a:xfrm>
          <a:prstGeom prst="ellipse">
            <a:avLst/>
          </a:prstGeom>
          <a:solidFill>
            <a:srgbClr val="9A5B08"/>
          </a:solidFill>
          <a:ln w="12700">
            <a:solidFill>
              <a:srgbClr val="9A5B08"/>
            </a:solidFill>
            <a:prstDash val="solid"/>
          </a:ln>
        </p:spPr>
      </p:sp>
      <p:sp>
        <p:nvSpPr>
          <p:cNvPr id="21" name="Text 19"/>
          <p:cNvSpPr txBox="1"/>
          <p:nvPr/>
        </p:nvSpPr>
        <p:spPr>
          <a:xfrm>
            <a:off x="731520" y="3685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1170432" y="3685032"/>
            <a:ext cx="2734056" cy="347472"/>
          </a:xfrm>
          <a:prstGeom prst="rect">
            <a:avLst/>
          </a:prstGeom>
          <a:noFill/>
          <a:ln/>
        </p:spPr>
        <p:txBody>
          <a:bodyPr wrap="square" lIns="0" tIns="0" rIns="0" bIns="0" rtlCol="0" anchor="ctr"/>
          <a:lstStyle/>
          <a:p>
            <a:pPr indent="0" marL="0">
              <a:buNone/>
            </a:pPr>
            <a:r>
              <a:rPr lang="en-US" sz="1350" b="1" dirty="0">
                <a:solidFill>
                  <a:srgbClr val="14301F"/>
                </a:solidFill>
                <a:latin typeface="Calibri" pitchFamily="34" charset="0"/>
                <a:ea typeface="Calibri" pitchFamily="34" charset="-122"/>
                <a:cs typeface="Calibri" pitchFamily="34" charset="-120"/>
              </a:rPr>
              <a:t>Soil  ·  DEMO</a:t>
            </a:r>
            <a:endParaRPr lang="en-US" sz="1350" dirty="0"/>
          </a:p>
        </p:txBody>
      </p:sp>
      <p:sp>
        <p:nvSpPr>
          <p:cNvPr id="23" name="Text 21"/>
          <p:cNvSpPr txBox="1"/>
          <p:nvPr/>
        </p:nvSpPr>
        <p:spPr>
          <a:xfrm>
            <a:off x="731520" y="4105656"/>
            <a:ext cx="3154680" cy="1005840"/>
          </a:xfrm>
          <a:prstGeom prst="rect">
            <a:avLst/>
          </a:prstGeom>
          <a:noFill/>
          <a:ln/>
        </p:spPr>
        <p:txBody>
          <a:bodyPr wrap="square" lIns="0" tIns="0" rIns="0" bIns="0" rtlCol="0" anchor="ctr"/>
          <a:lstStyle/>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A weighted mean of membership functions over hue,</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saturation, brightness and graininess → 5 soil classes.</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A mean, not a sum, so one failed criterion drags the</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score down. It reports appearance only — a photo</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cannot measure NPK, pH or conductivity.</a:t>
            </a:r>
            <a:endParaRPr lang="en-US" sz="950" dirty="0"/>
          </a:p>
        </p:txBody>
      </p:sp>
      <p:sp>
        <p:nvSpPr>
          <p:cNvPr id="24" name="Shape 22"/>
          <p:cNvSpPr/>
          <p:nvPr/>
        </p:nvSpPr>
        <p:spPr>
          <a:xfrm>
            <a:off x="4334256" y="3502152"/>
            <a:ext cx="3520440" cy="1645920"/>
          </a:xfrm>
          <a:prstGeom prst="roundRect">
            <a:avLst>
              <a:gd name="adj" fmla="val 5556"/>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25" name="Shape 23"/>
          <p:cNvSpPr/>
          <p:nvPr/>
        </p:nvSpPr>
        <p:spPr>
          <a:xfrm>
            <a:off x="4517136" y="3685032"/>
            <a:ext cx="347472" cy="347472"/>
          </a:xfrm>
          <a:prstGeom prst="ellipse">
            <a:avLst/>
          </a:prstGeom>
          <a:solidFill>
            <a:srgbClr val="2C5F2D"/>
          </a:solidFill>
          <a:ln w="12700">
            <a:solidFill>
              <a:srgbClr val="2C5F2D"/>
            </a:solidFill>
            <a:prstDash val="solid"/>
          </a:ln>
        </p:spPr>
      </p:sp>
      <p:sp>
        <p:nvSpPr>
          <p:cNvPr id="26" name="Text 24"/>
          <p:cNvSpPr txBox="1"/>
          <p:nvPr/>
        </p:nvSpPr>
        <p:spPr>
          <a:xfrm>
            <a:off x="4517136" y="3685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4956048" y="3685032"/>
            <a:ext cx="2734056" cy="347472"/>
          </a:xfrm>
          <a:prstGeom prst="rect">
            <a:avLst/>
          </a:prstGeom>
          <a:noFill/>
          <a:ln/>
        </p:spPr>
        <p:txBody>
          <a:bodyPr wrap="square" lIns="0" tIns="0" rIns="0" bIns="0" rtlCol="0" anchor="ctr"/>
          <a:lstStyle/>
          <a:p>
            <a:pPr indent="0" marL="0">
              <a:buNone/>
            </a:pPr>
            <a:r>
              <a:rPr lang="en-US" sz="1350" b="1" dirty="0">
                <a:solidFill>
                  <a:srgbClr val="14301F"/>
                </a:solidFill>
                <a:latin typeface="Calibri" pitchFamily="34" charset="0"/>
                <a:ea typeface="Calibri" pitchFamily="34" charset="-122"/>
                <a:cs typeface="Calibri" pitchFamily="34" charset="-120"/>
              </a:rPr>
              <a:t>Variety ranking</a:t>
            </a:r>
            <a:endParaRPr lang="en-US" sz="1350" dirty="0"/>
          </a:p>
        </p:txBody>
      </p:sp>
      <p:sp>
        <p:nvSpPr>
          <p:cNvPr id="28" name="Text 26"/>
          <p:cNvSpPr txBox="1"/>
          <p:nvPr/>
        </p:nvSpPr>
        <p:spPr>
          <a:xfrm>
            <a:off x="4517136" y="4105656"/>
            <a:ext cx="3154680" cy="1005840"/>
          </a:xfrm>
          <a:prstGeom prst="rect">
            <a:avLst/>
          </a:prstGeom>
          <a:noFill/>
          <a:ln/>
        </p:spPr>
        <p:txBody>
          <a:bodyPr wrap="square" lIns="0" tIns="0" rIns="0" bIns="0" rtlCol="0" anchor="ctr"/>
          <a:lstStyle/>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Weighted multi-criteria fit across 12 varieties:</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soil 30 % · region 24 % · water 20 % ·</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climate 12 % · season 9 % · irrigation 5 %.</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Returns a ranked list with the reasoning and the</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cautions attached to each variety.</a:t>
            </a:r>
            <a:endParaRPr lang="en-US" sz="950" dirty="0"/>
          </a:p>
        </p:txBody>
      </p:sp>
      <p:sp>
        <p:nvSpPr>
          <p:cNvPr id="29" name="Shape 27"/>
          <p:cNvSpPr/>
          <p:nvPr/>
        </p:nvSpPr>
        <p:spPr>
          <a:xfrm>
            <a:off x="8119872" y="3502152"/>
            <a:ext cx="3520440" cy="1645920"/>
          </a:xfrm>
          <a:prstGeom prst="roundRect">
            <a:avLst>
              <a:gd name="adj" fmla="val 5556"/>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30" name="Shape 28"/>
          <p:cNvSpPr/>
          <p:nvPr/>
        </p:nvSpPr>
        <p:spPr>
          <a:xfrm>
            <a:off x="8302752" y="3685032"/>
            <a:ext cx="347472" cy="347472"/>
          </a:xfrm>
          <a:prstGeom prst="ellipse">
            <a:avLst/>
          </a:prstGeom>
          <a:solidFill>
            <a:srgbClr val="2C5F2D"/>
          </a:solidFill>
          <a:ln w="12700">
            <a:solidFill>
              <a:srgbClr val="2C5F2D"/>
            </a:solidFill>
            <a:prstDash val="solid"/>
          </a:ln>
        </p:spPr>
      </p:sp>
      <p:sp>
        <p:nvSpPr>
          <p:cNvPr id="31" name="Text 29"/>
          <p:cNvSpPr txBox="1"/>
          <p:nvPr/>
        </p:nvSpPr>
        <p:spPr>
          <a:xfrm>
            <a:off x="8302752" y="3685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30"/>
          <p:cNvSpPr txBox="1"/>
          <p:nvPr/>
        </p:nvSpPr>
        <p:spPr>
          <a:xfrm>
            <a:off x="8741664" y="3685032"/>
            <a:ext cx="2734056" cy="347472"/>
          </a:xfrm>
          <a:prstGeom prst="rect">
            <a:avLst/>
          </a:prstGeom>
          <a:noFill/>
          <a:ln/>
        </p:spPr>
        <p:txBody>
          <a:bodyPr wrap="square" lIns="0" tIns="0" rIns="0" bIns="0" rtlCol="0" anchor="ctr"/>
          <a:lstStyle/>
          <a:p>
            <a:pPr indent="0" marL="0">
              <a:buNone/>
            </a:pPr>
            <a:r>
              <a:rPr lang="en-US" sz="1350" b="1" dirty="0">
                <a:solidFill>
                  <a:srgbClr val="14301F"/>
                </a:solidFill>
                <a:latin typeface="Calibri" pitchFamily="34" charset="0"/>
                <a:ea typeface="Calibri" pitchFamily="34" charset="-122"/>
                <a:cs typeface="Calibri" pitchFamily="34" charset="-120"/>
              </a:rPr>
              <a:t>Fertilizer &amp; assistant</a:t>
            </a:r>
            <a:endParaRPr lang="en-US" sz="1350" dirty="0"/>
          </a:p>
        </p:txBody>
      </p:sp>
      <p:sp>
        <p:nvSpPr>
          <p:cNvPr id="33" name="Text 31"/>
          <p:cNvSpPr txBox="1"/>
          <p:nvPr/>
        </p:nvSpPr>
        <p:spPr>
          <a:xfrm>
            <a:off x="8302752" y="4105656"/>
            <a:ext cx="3154680" cy="1005840"/>
          </a:xfrm>
          <a:prstGeom prst="rect">
            <a:avLst/>
          </a:prstGeom>
          <a:noFill/>
          <a:ln/>
        </p:spPr>
        <p:txBody>
          <a:bodyPr wrap="square" lIns="0" tIns="0" rIns="0" bIns="0" rtlCol="0" anchor="ctr"/>
          <a:lstStyle/>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Fertilizer: stage rule engine, 5 growth stages × 6 soil</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types → nutrient priorities and a split schedule, with</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no kg/ha dosages by design. Assistant: keyword intent</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matching over your saved records and the JSON base,</a:t>
            </a:r>
            <a:endParaRPr lang="en-US" sz="950" dirty="0"/>
          </a:p>
          <a:p>
            <a:pPr indent="0" marL="0">
              <a:lnSpc>
                <a:spcPts val="1250"/>
              </a:lnSpc>
              <a:buNone/>
            </a:pPr>
            <a:r>
              <a:rPr lang="en-US" sz="950" dirty="0">
                <a:solidFill>
                  <a:srgbClr val="26332C"/>
                </a:solidFill>
                <a:latin typeface="Calibri" pitchFamily="34" charset="0"/>
                <a:ea typeface="Calibri" pitchFamily="34" charset="-122"/>
                <a:cs typeface="Calibri" pitchFamily="34" charset="-120"/>
              </a:rPr>
              <a:t>citing which records it used. Not an LLM.</a:t>
            </a:r>
            <a:endParaRPr lang="en-US" sz="950" dirty="0"/>
          </a:p>
        </p:txBody>
      </p:sp>
      <p:sp>
        <p:nvSpPr>
          <p:cNvPr id="34" name="Shape 32"/>
          <p:cNvSpPr/>
          <p:nvPr/>
        </p:nvSpPr>
        <p:spPr>
          <a:xfrm>
            <a:off x="548640" y="5422392"/>
            <a:ext cx="11091672" cy="960120"/>
          </a:xfrm>
          <a:prstGeom prst="roundRect">
            <a:avLst>
              <a:gd name="adj" fmla="val 9524"/>
            </a:avLst>
          </a:prstGeom>
          <a:solidFill>
            <a:srgbClr val="14301F"/>
          </a:solidFill>
          <a:ln w="12700">
            <a:solidFill>
              <a:srgbClr val="14301F"/>
            </a:solidFill>
            <a:prstDash val="solid"/>
          </a:ln>
          <a:effectLst>
            <a:outerShdw sx="100000" sy="100000" kx="0" ky="0" algn="bl" rotWithShape="0" blurRad="127000" dist="25400" dir="5400000">
              <a:srgbClr val="2C5F2D">
                <a:alpha val="13000"/>
              </a:srgbClr>
            </a:outerShdw>
          </a:effectLst>
        </p:spPr>
      </p:sp>
      <p:sp>
        <p:nvSpPr>
          <p:cNvPr id="35" name="Shape 33"/>
          <p:cNvSpPr/>
          <p:nvPr/>
        </p:nvSpPr>
        <p:spPr>
          <a:xfrm>
            <a:off x="822960" y="5705856"/>
            <a:ext cx="402336" cy="402336"/>
          </a:xfrm>
          <a:prstGeom prst="ellipse">
            <a:avLst/>
          </a:prstGeom>
          <a:solidFill>
            <a:srgbClr val="E0A526"/>
          </a:solidFill>
          <a:ln w="12700">
            <a:solidFill>
              <a:srgbClr val="E0A526"/>
            </a:solidFill>
            <a:prstDash val="solid"/>
          </a:ln>
        </p:spPr>
      </p:sp>
      <p:sp>
        <p:nvSpPr>
          <p:cNvPr id="36" name="Text 34"/>
          <p:cNvSpPr txBox="1"/>
          <p:nvPr/>
        </p:nvSpPr>
        <p:spPr>
          <a:xfrm>
            <a:off x="822960" y="5705856"/>
            <a:ext cx="402336" cy="402336"/>
          </a:xfrm>
          <a:prstGeom prst="rect">
            <a:avLst/>
          </a:prstGeom>
          <a:noFill/>
          <a:ln/>
        </p:spPr>
        <p:txBody>
          <a:bodyPr wrap="square" lIns="0" tIns="0" rIns="0" bIns="0" rtlCol="0" anchor="ctr"/>
          <a:lstStyle/>
          <a:p>
            <a:pPr algn="ctr" indent="0" marL="0">
              <a:buNone/>
            </a:pPr>
            <a:r>
              <a:rPr lang="en-US" sz="1400" b="1" dirty="0">
                <a:solidFill>
                  <a:srgbClr val="14301F"/>
                </a:solidFill>
                <a:latin typeface="Calibri" pitchFamily="34" charset="0"/>
                <a:ea typeface="Calibri" pitchFamily="34" charset="-122"/>
                <a:cs typeface="Calibri" pitchFamily="34" charset="-120"/>
              </a:rPr>
              <a:t>✓</a:t>
            </a:r>
            <a:endParaRPr lang="en-US" sz="1400" dirty="0"/>
          </a:p>
        </p:txBody>
      </p:sp>
      <p:sp>
        <p:nvSpPr>
          <p:cNvPr id="37" name="Text 35"/>
          <p:cNvSpPr txBox="1"/>
          <p:nvPr/>
        </p:nvSpPr>
        <p:spPr>
          <a:xfrm>
            <a:off x="1353312" y="5522976"/>
            <a:ext cx="9994392" cy="786384"/>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Trained model (local run):  R² 0.962  ·  MAE 1.35 mm  ·  accuracy 96.4 %  ·  F1 0.94 on 2,400 held-out rows.</a:t>
            </a:r>
            <a:endParaRPr lang="en-US" sz="1150" dirty="0"/>
          </a:p>
          <a:p>
            <a:pPr indent="0" marL="0">
              <a:lnSpc>
                <a:spcPts val="1500"/>
              </a:lnSpc>
              <a:buNone/>
            </a:pPr>
            <a:r>
              <a:rPr lang="en-US" sz="1050" dirty="0">
                <a:solidFill>
                  <a:srgbClr val="C4D6BA"/>
                </a:solidFill>
                <a:latin typeface="Calibri" pitchFamily="34" charset="0"/>
                <a:ea typeface="Calibri" pitchFamily="34" charset="-122"/>
                <a:cs typeface="Calibri" pitchFamily="34" charset="-120"/>
              </a:rPr>
              <a:t>Those numbers measure how faithfully the forest reproduces the simulation it was trained on — not field accuracy. Every API response carries model_source (trained_model / rule_engine / demo_heuristic) and the UI renders a badge for it, so nothing is presented as more than it is.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Sugarcane AI</dc:title>
  <dc:subject>PptxGenJS Presentation</dc:subject>
  <dc:creator>Smart Sugarcane AI</dc:creator>
  <cp:lastModifiedBy>Smart Sugarcane AI</cp:lastModifiedBy>
  <cp:revision>1</cp:revision>
  <dcterms:created xsi:type="dcterms:W3CDTF">2026-09-01T05:26:04Z</dcterms:created>
  <dcterms:modified xsi:type="dcterms:W3CDTF">2026-09-01T05:26:04Z</dcterms:modified>
</cp:coreProperties>
</file>