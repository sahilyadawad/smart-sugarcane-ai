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Our project is a website for sugarcane farmers. It does four main jobs: when to water, disease from a photo, which variety to plant, and which fertilizer is needed now. It is live on the internet at this address. It uses no paid AI service - all the intelligence is our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these one by one - this is the easiest slide to explain. Irrigation is the main feature. Disease and soil work from a photo. Varieties and fertilizer give advice. The assistant answers questions, and history keeps a record so the farmer can see if the crop is getting better. The yellow box is important: our app never hides how an answer was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end simply means what the user sees in the browser. We used React to build the pages and TypeScript so that mistakes are caught early. There are 13 pages, and you must log in first. The bottom row is the user journey - open the site, log in, choose a feature, give the input, and get the answer. Explain this row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end means the code running on the server. Python with FastAPI receives the request. scikit-learn is the library that runs our trained model. PostgreSQL is the database where users and results are stored. The bottom row is one request from start to finish - use it to explain what happens the moment the farmer clicks the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data, plus one honest gap. Box one is the training data for irrigation - the computer made 12,000 example situations using a water formula, and the model learns from those. Box two is the farming knowledge we typed in ourselves. Box three is the honest part: no good sugarcane photo dataset was available, so we did not pretend - disease and soil use colour rules and are marked DEMO. Box four is the data the app builds up as the farmer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algorithm slide. Read down the middle column: only the first one is real machine learning - a Random Forest trained on our 12,000 examples. The second is a formula. Disease and soil use image colour rules and we mark them DEMO. Varieties is a marks-out-of-100 scoring system. Fertilizer and chat look up our knowledge files. Finish on the dark bar: our accuracy is 96 percent, but we are honest that it is measured against the formula, not a real field. Examiners respect that more than a big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1F"/>
        </a:solidFill>
      </p:bgPr>
    </p:bg>
    <p:spTree>
      <p:nvGrpSpPr>
        <p:cNvPr id="1" name=""/>
        <p:cNvGrpSpPr/>
        <p:nvPr/>
      </p:nvGrpSpPr>
      <p:grpSpPr>
        <a:xfrm>
          <a:off x="0" y="0"/>
          <a:ext cx="0" cy="0"/>
          <a:chOff x="0" y="0"/>
          <a:chExt cx="0" cy="0"/>
        </a:xfrm>
      </p:grpSpPr>
      <p:sp>
        <p:nvSpPr>
          <p:cNvPr id="2" name="Shape 0"/>
          <p:cNvSpPr/>
          <p:nvPr/>
        </p:nvSpPr>
        <p:spPr>
          <a:xfrm>
            <a:off x="9646920" y="-502920"/>
            <a:ext cx="4114800" cy="4114800"/>
          </a:xfrm>
          <a:prstGeom prst="ellipse">
            <a:avLst/>
          </a:prstGeom>
          <a:solidFill>
            <a:srgbClr val="2C5F2D">
              <a:alpha val="58000"/>
            </a:srgbClr>
          </a:solidFill>
          <a:ln w="12700">
            <a:solidFill>
              <a:srgbClr val="14301F"/>
            </a:solidFill>
            <a:prstDash val="solid"/>
          </a:ln>
        </p:spPr>
      </p:sp>
      <p:sp>
        <p:nvSpPr>
          <p:cNvPr id="3" name="Shape 1"/>
          <p:cNvSpPr/>
          <p:nvPr/>
        </p:nvSpPr>
        <p:spPr>
          <a:xfrm>
            <a:off x="10881360" y="3822192"/>
            <a:ext cx="1143000" cy="1143000"/>
          </a:xfrm>
          <a:prstGeom prst="ellipse">
            <a:avLst/>
          </a:prstGeom>
          <a:solidFill>
            <a:srgbClr val="E0A526">
              <a:alpha val="45000"/>
            </a:srgbClr>
          </a:solidFill>
          <a:ln w="12700">
            <a:solidFill>
              <a:srgbClr val="14301F"/>
            </a:solidFill>
            <a:prstDash val="solid"/>
          </a:ln>
        </p:spPr>
      </p:sp>
      <p:sp>
        <p:nvSpPr>
          <p:cNvPr id="4" name="Text 2"/>
          <p:cNvSpPr txBox="1"/>
          <p:nvPr/>
        </p:nvSpPr>
        <p:spPr>
          <a:xfrm>
            <a:off x="777240" y="868680"/>
            <a:ext cx="8229600" cy="292608"/>
          </a:xfrm>
          <a:prstGeom prst="rect">
            <a:avLst/>
          </a:prstGeom>
          <a:noFill/>
          <a:ln/>
        </p:spPr>
        <p:txBody>
          <a:bodyPr wrap="square" lIns="0" tIns="0" rIns="0" bIns="0" rtlCol="0" anchor="ctr"/>
          <a:lstStyle/>
          <a:p>
            <a:pPr indent="0" marL="0">
              <a:buNone/>
            </a:pPr>
            <a:r>
              <a:rPr lang="en-US" sz="1150" b="1" spc="200" kern="0" dirty="0">
                <a:solidFill>
                  <a:srgbClr val="E0A526"/>
                </a:solidFill>
                <a:latin typeface="Calibri" pitchFamily="34" charset="0"/>
                <a:ea typeface="Calibri" pitchFamily="34" charset="-122"/>
                <a:cs typeface="Calibri" pitchFamily="34" charset="-120"/>
              </a:rPr>
              <a:t>MAJOR PROJECT  ·  AI WEB APPLICATION</a:t>
            </a:r>
            <a:endParaRPr lang="en-US" sz="1150" dirty="0"/>
          </a:p>
        </p:txBody>
      </p:sp>
      <p:sp>
        <p:nvSpPr>
          <p:cNvPr id="5" name="Text 3"/>
          <p:cNvSpPr txBox="1"/>
          <p:nvPr/>
        </p:nvSpPr>
        <p:spPr>
          <a:xfrm>
            <a:off x="731520" y="1234440"/>
            <a:ext cx="8778240" cy="105156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Smart Sugarcane AI</a:t>
            </a:r>
            <a:endParaRPr lang="en-US" sz="5000" dirty="0"/>
          </a:p>
        </p:txBody>
      </p:sp>
      <p:sp>
        <p:nvSpPr>
          <p:cNvPr id="6" name="Text 4"/>
          <p:cNvSpPr txBox="1"/>
          <p:nvPr/>
        </p:nvSpPr>
        <p:spPr>
          <a:xfrm>
            <a:off x="777240" y="2304288"/>
            <a:ext cx="8229600" cy="868680"/>
          </a:xfrm>
          <a:prstGeom prst="rect">
            <a:avLst/>
          </a:prstGeom>
          <a:noFill/>
          <a:ln/>
        </p:spPr>
        <p:txBody>
          <a:bodyPr wrap="square" lIns="0" tIns="0" rIns="0" bIns="0" rtlCol="0" anchor="ctr"/>
          <a:lstStyle/>
          <a:p>
            <a:pPr indent="0" marL="0">
              <a:lnSpc>
                <a:spcPts val="2500"/>
              </a:lnSpc>
              <a:buNone/>
            </a:pPr>
            <a:r>
              <a:rPr lang="en-US" sz="1650" dirty="0">
                <a:solidFill>
                  <a:srgbClr val="97BC62"/>
                </a:solidFill>
                <a:latin typeface="Calibri" pitchFamily="34" charset="0"/>
                <a:ea typeface="Calibri" pitchFamily="34" charset="-122"/>
                <a:cs typeface="Calibri" pitchFamily="34" charset="-120"/>
              </a:rPr>
              <a:t>A website that helps a sugarcane farmer decide when to water the field, check plant disease from a photo, and pick the right variety and fertilizer.</a:t>
            </a:r>
            <a:endParaRPr lang="en-US" sz="1650" dirty="0"/>
          </a:p>
        </p:txBody>
      </p:sp>
      <p:sp>
        <p:nvSpPr>
          <p:cNvPr id="7" name="Shape 5"/>
          <p:cNvSpPr/>
          <p:nvPr/>
        </p:nvSpPr>
        <p:spPr>
          <a:xfrm>
            <a:off x="777240" y="3310128"/>
            <a:ext cx="4160520" cy="512064"/>
          </a:xfrm>
          <a:prstGeom prst="roundRect">
            <a:avLst>
              <a:gd name="adj" fmla="val 25000"/>
            </a:avLst>
          </a:prstGeom>
          <a:solidFill>
            <a:srgbClr val="1D4030"/>
          </a:solidFill>
          <a:ln w="12700">
            <a:solidFill>
              <a:srgbClr val="97BC62"/>
            </a:solidFill>
            <a:prstDash val="solid"/>
          </a:ln>
        </p:spPr>
      </p:sp>
      <p:sp>
        <p:nvSpPr>
          <p:cNvPr id="8" name="Text 6"/>
          <p:cNvSpPr txBox="1"/>
          <p:nvPr/>
        </p:nvSpPr>
        <p:spPr>
          <a:xfrm>
            <a:off x="777240" y="3310128"/>
            <a:ext cx="4160520"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smart-sugarcane-ai.vercel.app</a:t>
            </a:r>
            <a:endParaRPr lang="en-US" sz="1450" dirty="0"/>
          </a:p>
        </p:txBody>
      </p:sp>
      <p:sp>
        <p:nvSpPr>
          <p:cNvPr id="9" name="Shape 7"/>
          <p:cNvSpPr/>
          <p:nvPr/>
        </p:nvSpPr>
        <p:spPr>
          <a:xfrm>
            <a:off x="777240" y="4315968"/>
            <a:ext cx="2148840" cy="1298448"/>
          </a:xfrm>
          <a:prstGeom prst="roundRect">
            <a:avLst>
              <a:gd name="adj" fmla="val 7042"/>
            </a:avLst>
          </a:prstGeom>
          <a:solidFill>
            <a:srgbClr val="1D4030"/>
          </a:solidFill>
          <a:ln w="12700">
            <a:solidFill>
              <a:srgbClr val="1D4030"/>
            </a:solidFill>
            <a:prstDash val="solid"/>
          </a:ln>
        </p:spPr>
      </p:sp>
      <p:sp>
        <p:nvSpPr>
          <p:cNvPr id="10" name="Text 8"/>
          <p:cNvSpPr txBox="1"/>
          <p:nvPr/>
        </p:nvSpPr>
        <p:spPr>
          <a:xfrm>
            <a:off x="77724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7</a:t>
            </a:r>
            <a:endParaRPr lang="en-US" sz="3000" dirty="0"/>
          </a:p>
        </p:txBody>
      </p:sp>
      <p:sp>
        <p:nvSpPr>
          <p:cNvPr id="11" name="Text 9"/>
          <p:cNvSpPr txBox="1"/>
          <p:nvPr/>
        </p:nvSpPr>
        <p:spPr>
          <a:xfrm>
            <a:off x="777240" y="5074920"/>
            <a:ext cx="2148840" cy="457200"/>
          </a:xfrm>
          <a:prstGeom prst="rect">
            <a:avLst/>
          </a:prstGeom>
          <a:noFill/>
          <a:ln/>
        </p:spPr>
        <p:txBody>
          <a:bodyPr wrap="square" lIns="0" tIns="0" rIns="0" bIns="0" rtlCol="0" anchor="ctr"/>
          <a:lstStyle/>
          <a:p>
            <a:pPr algn="ctr" indent="0" marL="0">
              <a:buNone/>
            </a:pPr>
            <a:r>
              <a:rPr lang="en-US" sz="1150" dirty="0">
                <a:solidFill>
                  <a:srgbClr val="97BC62"/>
                </a:solidFill>
                <a:latin typeface="Calibri" pitchFamily="34" charset="0"/>
                <a:ea typeface="Calibri" pitchFamily="34" charset="-122"/>
                <a:cs typeface="Calibri" pitchFamily="34" charset="-120"/>
              </a:rPr>
              <a:t>features</a:t>
            </a:r>
            <a:endParaRPr lang="en-US" sz="1150" dirty="0"/>
          </a:p>
        </p:txBody>
      </p:sp>
      <p:sp>
        <p:nvSpPr>
          <p:cNvPr id="12" name="Shape 10"/>
          <p:cNvSpPr/>
          <p:nvPr/>
        </p:nvSpPr>
        <p:spPr>
          <a:xfrm>
            <a:off x="3154680" y="4315968"/>
            <a:ext cx="2148840" cy="1298448"/>
          </a:xfrm>
          <a:prstGeom prst="roundRect">
            <a:avLst>
              <a:gd name="adj" fmla="val 7042"/>
            </a:avLst>
          </a:prstGeom>
          <a:solidFill>
            <a:srgbClr val="1D4030"/>
          </a:solidFill>
          <a:ln w="12700">
            <a:solidFill>
              <a:srgbClr val="1D4030"/>
            </a:solidFill>
            <a:prstDash val="solid"/>
          </a:ln>
        </p:spPr>
      </p:sp>
      <p:sp>
        <p:nvSpPr>
          <p:cNvPr id="13" name="Text 11"/>
          <p:cNvSpPr txBox="1"/>
          <p:nvPr/>
        </p:nvSpPr>
        <p:spPr>
          <a:xfrm>
            <a:off x="315468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12,000</a:t>
            </a:r>
            <a:endParaRPr lang="en-US" sz="3000" dirty="0"/>
          </a:p>
        </p:txBody>
      </p:sp>
      <p:sp>
        <p:nvSpPr>
          <p:cNvPr id="14" name="Text 12"/>
          <p:cNvSpPr txBox="1"/>
          <p:nvPr/>
        </p:nvSpPr>
        <p:spPr>
          <a:xfrm>
            <a:off x="3154680" y="5074920"/>
            <a:ext cx="2148840" cy="457200"/>
          </a:xfrm>
          <a:prstGeom prst="rect">
            <a:avLst/>
          </a:prstGeom>
          <a:noFill/>
          <a:ln/>
        </p:spPr>
        <p:txBody>
          <a:bodyPr wrap="square" lIns="0" tIns="0" rIns="0" bIns="0" rtlCol="0" anchor="ctr"/>
          <a:lstStyle/>
          <a:p>
            <a:pPr algn="ctr" indent="0" marL="0">
              <a:buNone/>
            </a:pPr>
            <a:r>
              <a:rPr lang="en-US" sz="1150" dirty="0">
                <a:solidFill>
                  <a:srgbClr val="97BC62"/>
                </a:solidFill>
                <a:latin typeface="Calibri" pitchFamily="34" charset="0"/>
                <a:ea typeface="Calibri" pitchFamily="34" charset="-122"/>
                <a:cs typeface="Calibri" pitchFamily="34" charset="-120"/>
              </a:rPr>
              <a:t>rows of training data</a:t>
            </a:r>
            <a:endParaRPr lang="en-US" sz="1150" dirty="0"/>
          </a:p>
        </p:txBody>
      </p:sp>
      <p:sp>
        <p:nvSpPr>
          <p:cNvPr id="15" name="Shape 13"/>
          <p:cNvSpPr/>
          <p:nvPr/>
        </p:nvSpPr>
        <p:spPr>
          <a:xfrm>
            <a:off x="5532120" y="4315968"/>
            <a:ext cx="2148840" cy="1298448"/>
          </a:xfrm>
          <a:prstGeom prst="roundRect">
            <a:avLst>
              <a:gd name="adj" fmla="val 7042"/>
            </a:avLst>
          </a:prstGeom>
          <a:solidFill>
            <a:srgbClr val="1D4030"/>
          </a:solidFill>
          <a:ln w="12700">
            <a:solidFill>
              <a:srgbClr val="1D4030"/>
            </a:solidFill>
            <a:prstDash val="solid"/>
          </a:ln>
        </p:spPr>
      </p:sp>
      <p:sp>
        <p:nvSpPr>
          <p:cNvPr id="16" name="Text 14"/>
          <p:cNvSpPr txBox="1"/>
          <p:nvPr/>
        </p:nvSpPr>
        <p:spPr>
          <a:xfrm>
            <a:off x="553212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13</a:t>
            </a:r>
            <a:endParaRPr lang="en-US" sz="3000" dirty="0"/>
          </a:p>
        </p:txBody>
      </p:sp>
      <p:sp>
        <p:nvSpPr>
          <p:cNvPr id="17" name="Text 15"/>
          <p:cNvSpPr txBox="1"/>
          <p:nvPr/>
        </p:nvSpPr>
        <p:spPr>
          <a:xfrm>
            <a:off x="5532120" y="5074920"/>
            <a:ext cx="2148840" cy="457200"/>
          </a:xfrm>
          <a:prstGeom prst="rect">
            <a:avLst/>
          </a:prstGeom>
          <a:noFill/>
          <a:ln/>
        </p:spPr>
        <p:txBody>
          <a:bodyPr wrap="square" lIns="0" tIns="0" rIns="0" bIns="0" rtlCol="0" anchor="ctr"/>
          <a:lstStyle/>
          <a:p>
            <a:pPr algn="ctr" indent="0" marL="0">
              <a:buNone/>
            </a:pPr>
            <a:r>
              <a:rPr lang="en-US" sz="1150" dirty="0">
                <a:solidFill>
                  <a:srgbClr val="97BC62"/>
                </a:solidFill>
                <a:latin typeface="Calibri" pitchFamily="34" charset="0"/>
                <a:ea typeface="Calibri" pitchFamily="34" charset="-122"/>
                <a:cs typeface="Calibri" pitchFamily="34" charset="-120"/>
              </a:rPr>
              <a:t>pages</a:t>
            </a:r>
            <a:endParaRPr lang="en-US" sz="1150" dirty="0"/>
          </a:p>
        </p:txBody>
      </p:sp>
      <p:sp>
        <p:nvSpPr>
          <p:cNvPr id="18" name="Shape 16"/>
          <p:cNvSpPr/>
          <p:nvPr/>
        </p:nvSpPr>
        <p:spPr>
          <a:xfrm>
            <a:off x="7909560" y="4315968"/>
            <a:ext cx="2148840" cy="1298448"/>
          </a:xfrm>
          <a:prstGeom prst="roundRect">
            <a:avLst>
              <a:gd name="adj" fmla="val 7042"/>
            </a:avLst>
          </a:prstGeom>
          <a:solidFill>
            <a:srgbClr val="1D4030"/>
          </a:solidFill>
          <a:ln w="12700">
            <a:solidFill>
              <a:srgbClr val="1D4030"/>
            </a:solidFill>
            <a:prstDash val="solid"/>
          </a:ln>
        </p:spPr>
      </p:sp>
      <p:sp>
        <p:nvSpPr>
          <p:cNvPr id="19" name="Text 17"/>
          <p:cNvSpPr txBox="1"/>
          <p:nvPr/>
        </p:nvSpPr>
        <p:spPr>
          <a:xfrm>
            <a:off x="7909560" y="4434840"/>
            <a:ext cx="2148840" cy="640080"/>
          </a:xfrm>
          <a:prstGeom prst="rect">
            <a:avLst/>
          </a:prstGeom>
          <a:noFill/>
          <a:ln/>
        </p:spPr>
        <p:txBody>
          <a:bodyPr wrap="square" lIns="0" tIns="0" rIns="0" bIns="0" rtlCol="0" anchor="ctr"/>
          <a:lstStyle/>
          <a:p>
            <a:pPr algn="ctr" indent="0" marL="0">
              <a:buNone/>
            </a:pPr>
            <a:r>
              <a:rPr lang="en-US" sz="3000" b="1" dirty="0">
                <a:solidFill>
                  <a:srgbClr val="E0A526"/>
                </a:solidFill>
                <a:latin typeface="Cambria" pitchFamily="34" charset="0"/>
                <a:ea typeface="Cambria" pitchFamily="34" charset="-122"/>
                <a:cs typeface="Cambria" pitchFamily="34" charset="-120"/>
              </a:rPr>
              <a:t>0</a:t>
            </a:r>
            <a:endParaRPr lang="en-US" sz="3000" dirty="0"/>
          </a:p>
        </p:txBody>
      </p:sp>
      <p:sp>
        <p:nvSpPr>
          <p:cNvPr id="20" name="Text 18"/>
          <p:cNvSpPr txBox="1"/>
          <p:nvPr/>
        </p:nvSpPr>
        <p:spPr>
          <a:xfrm>
            <a:off x="7909560" y="5074920"/>
            <a:ext cx="2148840" cy="457200"/>
          </a:xfrm>
          <a:prstGeom prst="rect">
            <a:avLst/>
          </a:prstGeom>
          <a:noFill/>
          <a:ln/>
        </p:spPr>
        <p:txBody>
          <a:bodyPr wrap="square" lIns="0" tIns="0" rIns="0" bIns="0" rtlCol="0" anchor="ctr"/>
          <a:lstStyle/>
          <a:p>
            <a:pPr algn="ctr" indent="0" marL="0">
              <a:buNone/>
            </a:pPr>
            <a:r>
              <a:rPr lang="en-US" sz="1150" dirty="0">
                <a:solidFill>
                  <a:srgbClr val="97BC62"/>
                </a:solidFill>
                <a:latin typeface="Calibri" pitchFamily="34" charset="0"/>
                <a:ea typeface="Calibri" pitchFamily="34" charset="-122"/>
                <a:cs typeface="Calibri" pitchFamily="34" charset="-120"/>
              </a:rPr>
              <a:t>paid AI services used</a:t>
            </a:r>
            <a:endParaRPr lang="en-US" sz="1150" dirty="0"/>
          </a:p>
        </p:txBody>
      </p:sp>
      <p:sp>
        <p:nvSpPr>
          <p:cNvPr id="21" name="Text 19"/>
          <p:cNvSpPr txBox="1"/>
          <p:nvPr/>
        </p:nvSpPr>
        <p:spPr>
          <a:xfrm>
            <a:off x="777240" y="5897880"/>
            <a:ext cx="10058400" cy="365760"/>
          </a:xfrm>
          <a:prstGeom prst="rect">
            <a:avLst/>
          </a:prstGeom>
          <a:noFill/>
          <a:ln/>
        </p:spPr>
        <p:txBody>
          <a:bodyPr wrap="square" lIns="0" tIns="0" rIns="0" bIns="0" rtlCol="0" anchor="ctr"/>
          <a:lstStyle/>
          <a:p>
            <a:pPr indent="0" marL="0">
              <a:buNone/>
            </a:pPr>
            <a:r>
              <a:rPr lang="en-US" sz="1200" spc="60" kern="0" dirty="0">
                <a:solidFill>
                  <a:srgbClr val="7E9384"/>
                </a:solidFill>
                <a:latin typeface="Calibri" pitchFamily="34" charset="0"/>
                <a:ea typeface="Calibri" pitchFamily="34" charset="-122"/>
                <a:cs typeface="Calibri" pitchFamily="34" charset="-120"/>
              </a:rPr>
              <a:t>Front end: React   ·   Back end: Python (FastAPI)   ·   Database: PostgreSQL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21792"/>
          </a:xfrm>
          <a:prstGeom prst="rect">
            <a:avLst/>
          </a:prstGeom>
          <a:noFill/>
          <a:ln/>
        </p:spPr>
        <p:txBody>
          <a:bodyPr wrap="square" lIns="0" tIns="0" rIns="0" bIns="0" rtlCol="0" anchor="ctr"/>
          <a:lstStyle/>
          <a:p>
            <a:pPr indent="0" marL="0">
              <a:buNone/>
            </a:pPr>
            <a:r>
              <a:rPr lang="en-US" sz="3400" b="1" dirty="0">
                <a:solidFill>
                  <a:srgbClr val="14301F"/>
                </a:solidFill>
                <a:latin typeface="Cambria" pitchFamily="34" charset="0"/>
                <a:ea typeface="Cambria" pitchFamily="34" charset="-122"/>
                <a:cs typeface="Cambria" pitchFamily="34" charset="-120"/>
              </a:rPr>
              <a:t>What the website does</a:t>
            </a:r>
            <a:endParaRPr lang="en-US" sz="3400" dirty="0"/>
          </a:p>
        </p:txBody>
      </p:sp>
      <p:sp>
        <p:nvSpPr>
          <p:cNvPr id="3" name="Text 1"/>
          <p:cNvSpPr txBox="1"/>
          <p:nvPr/>
        </p:nvSpPr>
        <p:spPr>
          <a:xfrm>
            <a:off x="548640" y="1042416"/>
            <a:ext cx="10725912" cy="402336"/>
          </a:xfrm>
          <a:prstGeom prst="rect">
            <a:avLst/>
          </a:prstGeom>
          <a:noFill/>
          <a:ln/>
        </p:spPr>
        <p:txBody>
          <a:bodyPr wrap="square" lIns="0" tIns="0" rIns="0" bIns="0" rtlCol="0" anchor="ctr"/>
          <a:lstStyle/>
          <a:p>
            <a:pPr indent="0" marL="0">
              <a:buNone/>
            </a:pPr>
            <a:r>
              <a:rPr lang="en-US" sz="1450" dirty="0">
                <a:solidFill>
                  <a:srgbClr val="5A6A61"/>
                </a:solidFill>
                <a:latin typeface="Calibri" pitchFamily="34" charset="0"/>
                <a:ea typeface="Calibri" pitchFamily="34" charset="-122"/>
                <a:cs typeface="Calibri" pitchFamily="34" charset="-120"/>
              </a:rPr>
              <a:t>Seven features. Each one asks a few simple questions, and gives an answer with the reason for it.</a:t>
            </a:r>
            <a:endParaRPr lang="en-US" sz="1450" dirty="0"/>
          </a:p>
        </p:txBody>
      </p:sp>
      <p:sp>
        <p:nvSpPr>
          <p:cNvPr id="4" name="Shape 2"/>
          <p:cNvSpPr/>
          <p:nvPr/>
        </p:nvSpPr>
        <p:spPr>
          <a:xfrm>
            <a:off x="548640" y="1737360"/>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 name="Shape 3"/>
          <p:cNvSpPr/>
          <p:nvPr/>
        </p:nvSpPr>
        <p:spPr>
          <a:xfrm>
            <a:off x="749808" y="2066544"/>
            <a:ext cx="365760" cy="365760"/>
          </a:xfrm>
          <a:prstGeom prst="ellipse">
            <a:avLst/>
          </a:prstGeom>
          <a:solidFill>
            <a:srgbClr val="2C5F2D"/>
          </a:solidFill>
          <a:ln w="12700">
            <a:solidFill>
              <a:srgbClr val="2C5F2D"/>
            </a:solidFill>
            <a:prstDash val="solid"/>
          </a:ln>
        </p:spPr>
      </p:sp>
      <p:sp>
        <p:nvSpPr>
          <p:cNvPr id="6" name="Text 4"/>
          <p:cNvSpPr txBox="1"/>
          <p:nvPr/>
        </p:nvSpPr>
        <p:spPr>
          <a:xfrm>
            <a:off x="749808" y="206654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261872" y="1938528"/>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Irrigation</a:t>
            </a:r>
            <a:endParaRPr lang="en-US" sz="1500" dirty="0"/>
          </a:p>
        </p:txBody>
      </p:sp>
      <p:sp>
        <p:nvSpPr>
          <p:cNvPr id="8" name="Text 6"/>
          <p:cNvSpPr txBox="1"/>
          <p:nvPr/>
        </p:nvSpPr>
        <p:spPr>
          <a:xfrm>
            <a:off x="1261872" y="2286000"/>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Tells you whether to water today, and how much</a:t>
            </a:r>
            <a:endParaRPr lang="en-US" sz="1300" dirty="0"/>
          </a:p>
        </p:txBody>
      </p:sp>
      <p:sp>
        <p:nvSpPr>
          <p:cNvPr id="9" name="Shape 7"/>
          <p:cNvSpPr/>
          <p:nvPr/>
        </p:nvSpPr>
        <p:spPr>
          <a:xfrm>
            <a:off x="548640" y="2916936"/>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0" name="Shape 8"/>
          <p:cNvSpPr/>
          <p:nvPr/>
        </p:nvSpPr>
        <p:spPr>
          <a:xfrm>
            <a:off x="749808" y="3246120"/>
            <a:ext cx="365760" cy="365760"/>
          </a:xfrm>
          <a:prstGeom prst="ellipse">
            <a:avLst/>
          </a:prstGeom>
          <a:solidFill>
            <a:srgbClr val="2C5F2D"/>
          </a:solidFill>
          <a:ln w="12700">
            <a:solidFill>
              <a:srgbClr val="2C5F2D"/>
            </a:solidFill>
            <a:prstDash val="solid"/>
          </a:ln>
        </p:spPr>
      </p:sp>
      <p:sp>
        <p:nvSpPr>
          <p:cNvPr id="11" name="Text 9"/>
          <p:cNvSpPr txBox="1"/>
          <p:nvPr/>
        </p:nvSpPr>
        <p:spPr>
          <a:xfrm>
            <a:off x="749808" y="324612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261872" y="3118104"/>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Disease check</a:t>
            </a:r>
            <a:endParaRPr lang="en-US" sz="1500" dirty="0"/>
          </a:p>
        </p:txBody>
      </p:sp>
      <p:sp>
        <p:nvSpPr>
          <p:cNvPr id="13" name="Text 11"/>
          <p:cNvSpPr txBox="1"/>
          <p:nvPr/>
        </p:nvSpPr>
        <p:spPr>
          <a:xfrm>
            <a:off x="1261872" y="3465576"/>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Upload a leaf photo, get the likely disease</a:t>
            </a:r>
            <a:endParaRPr lang="en-US" sz="1300" dirty="0"/>
          </a:p>
        </p:txBody>
      </p:sp>
      <p:sp>
        <p:nvSpPr>
          <p:cNvPr id="14" name="Shape 12"/>
          <p:cNvSpPr/>
          <p:nvPr/>
        </p:nvSpPr>
        <p:spPr>
          <a:xfrm>
            <a:off x="548640" y="4096512"/>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5" name="Shape 13"/>
          <p:cNvSpPr/>
          <p:nvPr/>
        </p:nvSpPr>
        <p:spPr>
          <a:xfrm>
            <a:off x="749808" y="4425696"/>
            <a:ext cx="365760" cy="365760"/>
          </a:xfrm>
          <a:prstGeom prst="ellipse">
            <a:avLst/>
          </a:prstGeom>
          <a:solidFill>
            <a:srgbClr val="2C5F2D"/>
          </a:solidFill>
          <a:ln w="12700">
            <a:solidFill>
              <a:srgbClr val="2C5F2D"/>
            </a:solidFill>
            <a:prstDash val="solid"/>
          </a:ln>
        </p:spPr>
      </p:sp>
      <p:sp>
        <p:nvSpPr>
          <p:cNvPr id="16" name="Text 14"/>
          <p:cNvSpPr txBox="1"/>
          <p:nvPr/>
        </p:nvSpPr>
        <p:spPr>
          <a:xfrm>
            <a:off x="749808" y="44256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261872" y="4297680"/>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Soil check</a:t>
            </a:r>
            <a:endParaRPr lang="en-US" sz="1500" dirty="0"/>
          </a:p>
        </p:txBody>
      </p:sp>
      <p:sp>
        <p:nvSpPr>
          <p:cNvPr id="18" name="Text 16"/>
          <p:cNvSpPr txBox="1"/>
          <p:nvPr/>
        </p:nvSpPr>
        <p:spPr>
          <a:xfrm>
            <a:off x="1261872" y="4645152"/>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Upload a soil photo, get the soil type</a:t>
            </a:r>
            <a:endParaRPr lang="en-US" sz="1300" dirty="0"/>
          </a:p>
        </p:txBody>
      </p:sp>
      <p:sp>
        <p:nvSpPr>
          <p:cNvPr id="19" name="Shape 17"/>
          <p:cNvSpPr/>
          <p:nvPr/>
        </p:nvSpPr>
        <p:spPr>
          <a:xfrm>
            <a:off x="548640" y="5276088"/>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0" name="Shape 18"/>
          <p:cNvSpPr/>
          <p:nvPr/>
        </p:nvSpPr>
        <p:spPr>
          <a:xfrm>
            <a:off x="749808" y="5605272"/>
            <a:ext cx="365760" cy="365760"/>
          </a:xfrm>
          <a:prstGeom prst="ellipse">
            <a:avLst/>
          </a:prstGeom>
          <a:solidFill>
            <a:srgbClr val="2C5F2D"/>
          </a:solidFill>
          <a:ln w="12700">
            <a:solidFill>
              <a:srgbClr val="2C5F2D"/>
            </a:solidFill>
            <a:prstDash val="solid"/>
          </a:ln>
        </p:spPr>
      </p:sp>
      <p:sp>
        <p:nvSpPr>
          <p:cNvPr id="21" name="Text 19"/>
          <p:cNvSpPr txBox="1"/>
          <p:nvPr/>
        </p:nvSpPr>
        <p:spPr>
          <a:xfrm>
            <a:off x="749808" y="560527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txBox="1"/>
          <p:nvPr/>
        </p:nvSpPr>
        <p:spPr>
          <a:xfrm>
            <a:off x="1261872" y="5477256"/>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Varieties</a:t>
            </a:r>
            <a:endParaRPr lang="en-US" sz="1500" dirty="0"/>
          </a:p>
        </p:txBody>
      </p:sp>
      <p:sp>
        <p:nvSpPr>
          <p:cNvPr id="23" name="Text 21"/>
          <p:cNvSpPr txBox="1"/>
          <p:nvPr/>
        </p:nvSpPr>
        <p:spPr>
          <a:xfrm>
            <a:off x="1261872" y="5824728"/>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Suggests which sugarcane variety suits your farm</a:t>
            </a:r>
            <a:endParaRPr lang="en-US" sz="1300" dirty="0"/>
          </a:p>
        </p:txBody>
      </p:sp>
      <p:sp>
        <p:nvSpPr>
          <p:cNvPr id="24" name="Shape 22"/>
          <p:cNvSpPr/>
          <p:nvPr/>
        </p:nvSpPr>
        <p:spPr>
          <a:xfrm>
            <a:off x="6245352" y="1737360"/>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5" name="Shape 23"/>
          <p:cNvSpPr/>
          <p:nvPr/>
        </p:nvSpPr>
        <p:spPr>
          <a:xfrm>
            <a:off x="6446520" y="2066544"/>
            <a:ext cx="365760" cy="365760"/>
          </a:xfrm>
          <a:prstGeom prst="ellipse">
            <a:avLst/>
          </a:prstGeom>
          <a:solidFill>
            <a:srgbClr val="2C5F2D"/>
          </a:solidFill>
          <a:ln w="12700">
            <a:solidFill>
              <a:srgbClr val="2C5F2D"/>
            </a:solidFill>
            <a:prstDash val="solid"/>
          </a:ln>
        </p:spPr>
      </p:sp>
      <p:sp>
        <p:nvSpPr>
          <p:cNvPr id="26" name="Text 24"/>
          <p:cNvSpPr txBox="1"/>
          <p:nvPr/>
        </p:nvSpPr>
        <p:spPr>
          <a:xfrm>
            <a:off x="6446520" y="206654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7" name="Text 25"/>
          <p:cNvSpPr txBox="1"/>
          <p:nvPr/>
        </p:nvSpPr>
        <p:spPr>
          <a:xfrm>
            <a:off x="6958584" y="1938528"/>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Fertilizer</a:t>
            </a:r>
            <a:endParaRPr lang="en-US" sz="1500" dirty="0"/>
          </a:p>
        </p:txBody>
      </p:sp>
      <p:sp>
        <p:nvSpPr>
          <p:cNvPr id="28" name="Text 26"/>
          <p:cNvSpPr txBox="1"/>
          <p:nvPr/>
        </p:nvSpPr>
        <p:spPr>
          <a:xfrm>
            <a:off x="6958584" y="2286000"/>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Tells you which nutrient the crop needs at this stage</a:t>
            </a:r>
            <a:endParaRPr lang="en-US" sz="1300" dirty="0"/>
          </a:p>
        </p:txBody>
      </p:sp>
      <p:sp>
        <p:nvSpPr>
          <p:cNvPr id="29" name="Shape 27"/>
          <p:cNvSpPr/>
          <p:nvPr/>
        </p:nvSpPr>
        <p:spPr>
          <a:xfrm>
            <a:off x="6245352" y="2916936"/>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0" name="Shape 28"/>
          <p:cNvSpPr/>
          <p:nvPr/>
        </p:nvSpPr>
        <p:spPr>
          <a:xfrm>
            <a:off x="6446520" y="3246120"/>
            <a:ext cx="365760" cy="365760"/>
          </a:xfrm>
          <a:prstGeom prst="ellipse">
            <a:avLst/>
          </a:prstGeom>
          <a:solidFill>
            <a:srgbClr val="2C5F2D"/>
          </a:solidFill>
          <a:ln w="12700">
            <a:solidFill>
              <a:srgbClr val="2C5F2D"/>
            </a:solidFill>
            <a:prstDash val="solid"/>
          </a:ln>
        </p:spPr>
      </p:sp>
      <p:sp>
        <p:nvSpPr>
          <p:cNvPr id="31" name="Text 29"/>
          <p:cNvSpPr txBox="1"/>
          <p:nvPr/>
        </p:nvSpPr>
        <p:spPr>
          <a:xfrm>
            <a:off x="6446520" y="324612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32" name="Text 30"/>
          <p:cNvSpPr txBox="1"/>
          <p:nvPr/>
        </p:nvSpPr>
        <p:spPr>
          <a:xfrm>
            <a:off x="6958584" y="3118104"/>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Assistant</a:t>
            </a:r>
            <a:endParaRPr lang="en-US" sz="1500" dirty="0"/>
          </a:p>
        </p:txBody>
      </p:sp>
      <p:sp>
        <p:nvSpPr>
          <p:cNvPr id="33" name="Text 31"/>
          <p:cNvSpPr txBox="1"/>
          <p:nvPr/>
        </p:nvSpPr>
        <p:spPr>
          <a:xfrm>
            <a:off x="6958584" y="3465576"/>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Ask a question in simple words, get an answer</a:t>
            </a:r>
            <a:endParaRPr lang="en-US" sz="1300" dirty="0"/>
          </a:p>
        </p:txBody>
      </p:sp>
      <p:sp>
        <p:nvSpPr>
          <p:cNvPr id="34" name="Shape 32"/>
          <p:cNvSpPr/>
          <p:nvPr/>
        </p:nvSpPr>
        <p:spPr>
          <a:xfrm>
            <a:off x="6245352" y="4096512"/>
            <a:ext cx="5394960" cy="1024128"/>
          </a:xfrm>
          <a:prstGeom prst="roundRect">
            <a:avLst>
              <a:gd name="adj" fmla="val 8929"/>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5" name="Shape 33"/>
          <p:cNvSpPr/>
          <p:nvPr/>
        </p:nvSpPr>
        <p:spPr>
          <a:xfrm>
            <a:off x="6446520" y="4425696"/>
            <a:ext cx="365760" cy="365760"/>
          </a:xfrm>
          <a:prstGeom prst="ellipse">
            <a:avLst/>
          </a:prstGeom>
          <a:solidFill>
            <a:srgbClr val="2C5F2D"/>
          </a:solidFill>
          <a:ln w="12700">
            <a:solidFill>
              <a:srgbClr val="2C5F2D"/>
            </a:solidFill>
            <a:prstDash val="solid"/>
          </a:ln>
        </p:spPr>
      </p:sp>
      <p:sp>
        <p:nvSpPr>
          <p:cNvPr id="36" name="Text 34"/>
          <p:cNvSpPr txBox="1"/>
          <p:nvPr/>
        </p:nvSpPr>
        <p:spPr>
          <a:xfrm>
            <a:off x="6446520" y="44256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a:t>
            </a:r>
            <a:endParaRPr lang="en-US" sz="1150" dirty="0"/>
          </a:p>
        </p:txBody>
      </p:sp>
      <p:sp>
        <p:nvSpPr>
          <p:cNvPr id="37" name="Text 35"/>
          <p:cNvSpPr txBox="1"/>
          <p:nvPr/>
        </p:nvSpPr>
        <p:spPr>
          <a:xfrm>
            <a:off x="6958584" y="4297680"/>
            <a:ext cx="4480560" cy="32918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History</a:t>
            </a:r>
            <a:endParaRPr lang="en-US" sz="1500" dirty="0"/>
          </a:p>
        </p:txBody>
      </p:sp>
      <p:sp>
        <p:nvSpPr>
          <p:cNvPr id="38" name="Text 36"/>
          <p:cNvSpPr txBox="1"/>
          <p:nvPr/>
        </p:nvSpPr>
        <p:spPr>
          <a:xfrm>
            <a:off x="6958584" y="4645152"/>
            <a:ext cx="448056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Saves every result and shows if the crop is improving</a:t>
            </a:r>
            <a:endParaRPr lang="en-US" sz="1300" dirty="0"/>
          </a:p>
        </p:txBody>
      </p:sp>
      <p:sp>
        <p:nvSpPr>
          <p:cNvPr id="39" name="Shape 37"/>
          <p:cNvSpPr/>
          <p:nvPr/>
        </p:nvSpPr>
        <p:spPr>
          <a:xfrm>
            <a:off x="6245352" y="5276088"/>
            <a:ext cx="5394960" cy="1024128"/>
          </a:xfrm>
          <a:prstGeom prst="roundRect">
            <a:avLst>
              <a:gd name="adj" fmla="val 8929"/>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40" name="Shape 38"/>
          <p:cNvSpPr/>
          <p:nvPr/>
        </p:nvSpPr>
        <p:spPr>
          <a:xfrm>
            <a:off x="6446520" y="5605272"/>
            <a:ext cx="365760" cy="365760"/>
          </a:xfrm>
          <a:prstGeom prst="ellipse">
            <a:avLst/>
          </a:prstGeom>
          <a:solidFill>
            <a:srgbClr val="E0A526"/>
          </a:solidFill>
          <a:ln w="12700">
            <a:solidFill>
              <a:srgbClr val="E0A526"/>
            </a:solidFill>
            <a:prstDash val="solid"/>
          </a:ln>
        </p:spPr>
      </p:sp>
      <p:sp>
        <p:nvSpPr>
          <p:cNvPr id="41" name="Text 39"/>
          <p:cNvSpPr txBox="1"/>
          <p:nvPr/>
        </p:nvSpPr>
        <p:spPr>
          <a:xfrm>
            <a:off x="6446520" y="5605272"/>
            <a:ext cx="365760" cy="365760"/>
          </a:xfrm>
          <a:prstGeom prst="rect">
            <a:avLst/>
          </a:prstGeom>
          <a:noFill/>
          <a:ln/>
        </p:spPr>
        <p:txBody>
          <a:bodyPr wrap="square" lIns="0" tIns="0" rIns="0" bIns="0" rtlCol="0" anchor="ctr"/>
          <a:lstStyle/>
          <a:p>
            <a:pPr algn="ctr" indent="0" marL="0">
              <a:buNone/>
            </a:pPr>
            <a:r>
              <a:rPr lang="en-US" sz="1150" b="1" dirty="0">
                <a:solidFill>
                  <a:srgbClr val="14301F"/>
                </a:solidFill>
                <a:latin typeface="Calibri" pitchFamily="34" charset="0"/>
                <a:ea typeface="Calibri" pitchFamily="34" charset="-122"/>
                <a:cs typeface="Calibri" pitchFamily="34" charset="-120"/>
              </a:rPr>
              <a:t>!</a:t>
            </a:r>
            <a:endParaRPr lang="en-US" sz="1150" dirty="0"/>
          </a:p>
        </p:txBody>
      </p:sp>
      <p:sp>
        <p:nvSpPr>
          <p:cNvPr id="42" name="Text 40"/>
          <p:cNvSpPr txBox="1"/>
          <p:nvPr/>
        </p:nvSpPr>
        <p:spPr>
          <a:xfrm>
            <a:off x="6958584" y="5440680"/>
            <a:ext cx="4480560" cy="713232"/>
          </a:xfrm>
          <a:prstGeom prst="rect">
            <a:avLst/>
          </a:prstGeom>
          <a:noFill/>
          <a:ln/>
        </p:spPr>
        <p:txBody>
          <a:bodyPr wrap="square" lIns="0" tIns="0" rIns="0" bIns="0" rtlCol="0" anchor="ctr"/>
          <a:lstStyle/>
          <a:p>
            <a:pPr indent="0" marL="0">
              <a:lnSpc>
                <a:spcPts val="1700"/>
              </a:lnSpc>
              <a:buNone/>
            </a:pPr>
            <a:r>
              <a:rPr lang="en-US" sz="1250" b="1" dirty="0">
                <a:solidFill>
                  <a:srgbClr val="14301F"/>
                </a:solidFill>
                <a:latin typeface="Calibri" pitchFamily="34" charset="0"/>
                <a:ea typeface="Calibri" pitchFamily="34" charset="-122"/>
                <a:cs typeface="Calibri" pitchFamily="34" charset="-120"/>
              </a:rPr>
              <a:t>Every answer says how it was made.</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Some features use a trained model, some use rules — the app always tells you which.</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21792"/>
          </a:xfrm>
          <a:prstGeom prst="rect">
            <a:avLst/>
          </a:prstGeom>
          <a:noFill/>
          <a:ln/>
        </p:spPr>
        <p:txBody>
          <a:bodyPr wrap="square" lIns="0" tIns="0" rIns="0" bIns="0" rtlCol="0" anchor="ctr"/>
          <a:lstStyle/>
          <a:p>
            <a:pPr indent="0" marL="0">
              <a:buNone/>
            </a:pPr>
            <a:r>
              <a:rPr lang="en-US" sz="3400" b="1" dirty="0">
                <a:solidFill>
                  <a:srgbClr val="14301F"/>
                </a:solidFill>
                <a:latin typeface="Cambria" pitchFamily="34" charset="0"/>
                <a:ea typeface="Cambria" pitchFamily="34" charset="-122"/>
                <a:cs typeface="Cambria" pitchFamily="34" charset="-120"/>
              </a:rPr>
              <a:t>Front end — what the user sees</a:t>
            </a:r>
            <a:endParaRPr lang="en-US" sz="3400" dirty="0"/>
          </a:p>
        </p:txBody>
      </p:sp>
      <p:sp>
        <p:nvSpPr>
          <p:cNvPr id="3" name="Text 1"/>
          <p:cNvSpPr txBox="1"/>
          <p:nvPr/>
        </p:nvSpPr>
        <p:spPr>
          <a:xfrm>
            <a:off x="548640" y="1042416"/>
            <a:ext cx="10725912" cy="402336"/>
          </a:xfrm>
          <a:prstGeom prst="rect">
            <a:avLst/>
          </a:prstGeom>
          <a:noFill/>
          <a:ln/>
        </p:spPr>
        <p:txBody>
          <a:bodyPr wrap="square" lIns="0" tIns="0" rIns="0" bIns="0" rtlCol="0" anchor="ctr"/>
          <a:lstStyle/>
          <a:p>
            <a:pPr indent="0" marL="0">
              <a:buNone/>
            </a:pPr>
            <a:r>
              <a:rPr lang="en-US" sz="1450" dirty="0">
                <a:solidFill>
                  <a:srgbClr val="5A6A61"/>
                </a:solidFill>
                <a:latin typeface="Calibri" pitchFamily="34" charset="0"/>
                <a:ea typeface="Calibri" pitchFamily="34" charset="-122"/>
                <a:cs typeface="Calibri" pitchFamily="34" charset="-120"/>
              </a:rPr>
              <a:t>The part that runs inside the browser: the pages, the forms and the charts.</a:t>
            </a:r>
            <a:endParaRPr lang="en-US" sz="1450" dirty="0"/>
          </a:p>
        </p:txBody>
      </p:sp>
      <p:sp>
        <p:nvSpPr>
          <p:cNvPr id="4" name="Shape 2"/>
          <p:cNvSpPr/>
          <p:nvPr/>
        </p:nvSpPr>
        <p:spPr>
          <a:xfrm>
            <a:off x="548640" y="1691640"/>
            <a:ext cx="5394960" cy="2377440"/>
          </a:xfrm>
          <a:prstGeom prst="roundRect">
            <a:avLst>
              <a:gd name="adj" fmla="val 3846"/>
            </a:avLst>
          </a:prstGeom>
          <a:solidFill>
            <a:srgbClr val="14301F"/>
          </a:solidFill>
          <a:ln w="12700">
            <a:solidFill>
              <a:srgbClr val="14301F"/>
            </a:solidFill>
            <a:prstDash val="solid"/>
          </a:ln>
          <a:effectLst>
            <a:outerShdw sx="100000" sy="100000" kx="0" ky="0" algn="bl" rotWithShape="0" blurRad="127000" dist="25400" dir="5400000">
              <a:srgbClr val="2C5F2D">
                <a:alpha val="13000"/>
              </a:srgbClr>
            </a:outerShdw>
          </a:effectLst>
        </p:spPr>
      </p:sp>
      <p:sp>
        <p:nvSpPr>
          <p:cNvPr id="5" name="Text 3"/>
          <p:cNvSpPr txBox="1"/>
          <p:nvPr/>
        </p:nvSpPr>
        <p:spPr>
          <a:xfrm>
            <a:off x="822960" y="1874520"/>
            <a:ext cx="3291840" cy="274320"/>
          </a:xfrm>
          <a:prstGeom prst="rect">
            <a:avLst/>
          </a:prstGeom>
          <a:noFill/>
          <a:ln/>
        </p:spPr>
        <p:txBody>
          <a:bodyPr wrap="square" lIns="0" tIns="0" rIns="0" bIns="0" rtlCol="0" anchor="ctr"/>
          <a:lstStyle/>
          <a:p>
            <a:pPr indent="0" marL="0">
              <a:buNone/>
            </a:pPr>
            <a:r>
              <a:rPr lang="en-US" sz="1100" b="1" spc="150" kern="0" dirty="0">
                <a:solidFill>
                  <a:srgbClr val="E0A526"/>
                </a:solidFill>
                <a:latin typeface="Calibri" pitchFamily="34" charset="0"/>
                <a:ea typeface="Calibri" pitchFamily="34" charset="-122"/>
                <a:cs typeface="Calibri" pitchFamily="34" charset="-120"/>
              </a:rPr>
              <a:t>BUILT WITH</a:t>
            </a:r>
            <a:endParaRPr lang="en-US" sz="1100" dirty="0"/>
          </a:p>
        </p:txBody>
      </p:sp>
      <p:sp>
        <p:nvSpPr>
          <p:cNvPr id="6" name="Shape 4"/>
          <p:cNvSpPr/>
          <p:nvPr/>
        </p:nvSpPr>
        <p:spPr>
          <a:xfrm>
            <a:off x="841248" y="2404872"/>
            <a:ext cx="100584" cy="100584"/>
          </a:xfrm>
          <a:prstGeom prst="ellipse">
            <a:avLst/>
          </a:prstGeom>
          <a:solidFill>
            <a:srgbClr val="97BC62"/>
          </a:solidFill>
          <a:ln w="12700">
            <a:solidFill>
              <a:srgbClr val="97BC62"/>
            </a:solidFill>
            <a:prstDash val="solid"/>
          </a:ln>
        </p:spPr>
      </p:sp>
      <p:sp>
        <p:nvSpPr>
          <p:cNvPr id="7" name="Text 5"/>
          <p:cNvSpPr txBox="1"/>
          <p:nvPr/>
        </p:nvSpPr>
        <p:spPr>
          <a:xfrm>
            <a:off x="1078992" y="2286000"/>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React  </a:t>
            </a:r>
            <a:pPr indent="0" marL="0">
              <a:buNone/>
            </a:pPr>
            <a:r>
              <a:rPr lang="en-US" sz="1200" dirty="0">
                <a:solidFill>
                  <a:srgbClr val="97BC62"/>
                </a:solidFill>
                <a:latin typeface="Calibri" pitchFamily="34" charset="0"/>
                <a:ea typeface="Calibri" pitchFamily="34" charset="-122"/>
                <a:cs typeface="Calibri" pitchFamily="34" charset="-120"/>
              </a:rPr>
              <a:t>— builds the pages</a:t>
            </a:r>
            <a:endParaRPr lang="en-US" sz="1300" dirty="0"/>
          </a:p>
        </p:txBody>
      </p:sp>
      <p:sp>
        <p:nvSpPr>
          <p:cNvPr id="8" name="Shape 6"/>
          <p:cNvSpPr/>
          <p:nvPr/>
        </p:nvSpPr>
        <p:spPr>
          <a:xfrm>
            <a:off x="841248" y="2788920"/>
            <a:ext cx="100584" cy="100584"/>
          </a:xfrm>
          <a:prstGeom prst="ellipse">
            <a:avLst/>
          </a:prstGeom>
          <a:solidFill>
            <a:srgbClr val="97BC62"/>
          </a:solidFill>
          <a:ln w="12700">
            <a:solidFill>
              <a:srgbClr val="97BC62"/>
            </a:solidFill>
            <a:prstDash val="solid"/>
          </a:ln>
        </p:spPr>
      </p:sp>
      <p:sp>
        <p:nvSpPr>
          <p:cNvPr id="9" name="Text 7"/>
          <p:cNvSpPr txBox="1"/>
          <p:nvPr/>
        </p:nvSpPr>
        <p:spPr>
          <a:xfrm>
            <a:off x="1078992" y="2670048"/>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TypeScript  </a:t>
            </a:r>
            <a:pPr indent="0" marL="0">
              <a:buNone/>
            </a:pPr>
            <a:r>
              <a:rPr lang="en-US" sz="1200" dirty="0">
                <a:solidFill>
                  <a:srgbClr val="97BC62"/>
                </a:solidFill>
                <a:latin typeface="Calibri" pitchFamily="34" charset="0"/>
                <a:ea typeface="Calibri" pitchFamily="34" charset="-122"/>
                <a:cs typeface="Calibri" pitchFamily="34" charset="-120"/>
              </a:rPr>
              <a:t>— catches mistakes before they run</a:t>
            </a:r>
            <a:endParaRPr lang="en-US" sz="1300" dirty="0"/>
          </a:p>
        </p:txBody>
      </p:sp>
      <p:sp>
        <p:nvSpPr>
          <p:cNvPr id="10" name="Shape 8"/>
          <p:cNvSpPr/>
          <p:nvPr/>
        </p:nvSpPr>
        <p:spPr>
          <a:xfrm>
            <a:off x="841248" y="3172968"/>
            <a:ext cx="100584" cy="100584"/>
          </a:xfrm>
          <a:prstGeom prst="ellipse">
            <a:avLst/>
          </a:prstGeom>
          <a:solidFill>
            <a:srgbClr val="97BC62"/>
          </a:solidFill>
          <a:ln w="12700">
            <a:solidFill>
              <a:srgbClr val="97BC62"/>
            </a:solidFill>
            <a:prstDash val="solid"/>
          </a:ln>
        </p:spPr>
      </p:sp>
      <p:sp>
        <p:nvSpPr>
          <p:cNvPr id="11" name="Text 9"/>
          <p:cNvSpPr txBox="1"/>
          <p:nvPr/>
        </p:nvSpPr>
        <p:spPr>
          <a:xfrm>
            <a:off x="1078992" y="3054096"/>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Tailwind CSS  </a:t>
            </a:r>
            <a:pPr indent="0" marL="0">
              <a:buNone/>
            </a:pPr>
            <a:r>
              <a:rPr lang="en-US" sz="1200" dirty="0">
                <a:solidFill>
                  <a:srgbClr val="97BC62"/>
                </a:solidFill>
                <a:latin typeface="Calibri" pitchFamily="34" charset="0"/>
                <a:ea typeface="Calibri" pitchFamily="34" charset="-122"/>
                <a:cs typeface="Calibri" pitchFamily="34" charset="-120"/>
              </a:rPr>
              <a:t>— does the styling</a:t>
            </a:r>
            <a:endParaRPr lang="en-US" sz="1300" dirty="0"/>
          </a:p>
        </p:txBody>
      </p:sp>
      <p:sp>
        <p:nvSpPr>
          <p:cNvPr id="12" name="Shape 10"/>
          <p:cNvSpPr/>
          <p:nvPr/>
        </p:nvSpPr>
        <p:spPr>
          <a:xfrm>
            <a:off x="841248" y="3557016"/>
            <a:ext cx="100584" cy="100584"/>
          </a:xfrm>
          <a:prstGeom prst="ellipse">
            <a:avLst/>
          </a:prstGeom>
          <a:solidFill>
            <a:srgbClr val="97BC62"/>
          </a:solidFill>
          <a:ln w="12700">
            <a:solidFill>
              <a:srgbClr val="97BC62"/>
            </a:solidFill>
            <a:prstDash val="solid"/>
          </a:ln>
        </p:spPr>
      </p:sp>
      <p:sp>
        <p:nvSpPr>
          <p:cNvPr id="13" name="Text 11"/>
          <p:cNvSpPr txBox="1"/>
          <p:nvPr/>
        </p:nvSpPr>
        <p:spPr>
          <a:xfrm>
            <a:off x="1078992" y="3438144"/>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Vite  </a:t>
            </a:r>
            <a:pPr indent="0" marL="0">
              <a:buNone/>
            </a:pPr>
            <a:r>
              <a:rPr lang="en-US" sz="1200" dirty="0">
                <a:solidFill>
                  <a:srgbClr val="97BC62"/>
                </a:solidFill>
                <a:latin typeface="Calibri" pitchFamily="34" charset="0"/>
                <a:ea typeface="Calibri" pitchFamily="34" charset="-122"/>
                <a:cs typeface="Calibri" pitchFamily="34" charset="-120"/>
              </a:rPr>
              <a:t>— runs and builds the project</a:t>
            </a:r>
            <a:endParaRPr lang="en-US" sz="1300" dirty="0"/>
          </a:p>
        </p:txBody>
      </p:sp>
      <p:sp>
        <p:nvSpPr>
          <p:cNvPr id="14" name="Shape 12"/>
          <p:cNvSpPr/>
          <p:nvPr/>
        </p:nvSpPr>
        <p:spPr>
          <a:xfrm>
            <a:off x="6245352" y="1691640"/>
            <a:ext cx="5394960" cy="2377440"/>
          </a:xfrm>
          <a:prstGeom prst="roundRect">
            <a:avLst>
              <a:gd name="adj" fmla="val 384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5" name="Text 13"/>
          <p:cNvSpPr txBox="1"/>
          <p:nvPr/>
        </p:nvSpPr>
        <p:spPr>
          <a:xfrm>
            <a:off x="6519672" y="1874520"/>
            <a:ext cx="3291840" cy="274320"/>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WHAT IS INSIDE</a:t>
            </a:r>
            <a:endParaRPr lang="en-US" sz="1100" dirty="0"/>
          </a:p>
        </p:txBody>
      </p:sp>
      <p:sp>
        <p:nvSpPr>
          <p:cNvPr id="16" name="Shape 14"/>
          <p:cNvSpPr/>
          <p:nvPr/>
        </p:nvSpPr>
        <p:spPr>
          <a:xfrm>
            <a:off x="6537960" y="2404872"/>
            <a:ext cx="100584" cy="100584"/>
          </a:xfrm>
          <a:prstGeom prst="ellipse">
            <a:avLst/>
          </a:prstGeom>
          <a:solidFill>
            <a:srgbClr val="2C5F2D"/>
          </a:solidFill>
          <a:ln w="12700">
            <a:solidFill>
              <a:srgbClr val="2C5F2D"/>
            </a:solidFill>
            <a:prstDash val="solid"/>
          </a:ln>
        </p:spPr>
      </p:sp>
      <p:sp>
        <p:nvSpPr>
          <p:cNvPr id="17" name="Text 15"/>
          <p:cNvSpPr txBox="1"/>
          <p:nvPr/>
        </p:nvSpPr>
        <p:spPr>
          <a:xfrm>
            <a:off x="6775704" y="2286000"/>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13 pages — one for each feature</a:t>
            </a:r>
            <a:endParaRPr lang="en-US" sz="1300" dirty="0"/>
          </a:p>
        </p:txBody>
      </p:sp>
      <p:sp>
        <p:nvSpPr>
          <p:cNvPr id="18" name="Shape 16"/>
          <p:cNvSpPr/>
          <p:nvPr/>
        </p:nvSpPr>
        <p:spPr>
          <a:xfrm>
            <a:off x="6537960" y="2788920"/>
            <a:ext cx="100584" cy="100584"/>
          </a:xfrm>
          <a:prstGeom prst="ellipse">
            <a:avLst/>
          </a:prstGeom>
          <a:solidFill>
            <a:srgbClr val="2C5F2D"/>
          </a:solidFill>
          <a:ln w="12700">
            <a:solidFill>
              <a:srgbClr val="2C5F2D"/>
            </a:solidFill>
            <a:prstDash val="solid"/>
          </a:ln>
        </p:spPr>
      </p:sp>
      <p:sp>
        <p:nvSpPr>
          <p:cNvPr id="19" name="Text 17"/>
          <p:cNvSpPr txBox="1"/>
          <p:nvPr/>
        </p:nvSpPr>
        <p:spPr>
          <a:xfrm>
            <a:off x="6775704" y="2670048"/>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Login protection: you must sign in to use it</a:t>
            </a:r>
            <a:endParaRPr lang="en-US" sz="1300" dirty="0"/>
          </a:p>
        </p:txBody>
      </p:sp>
      <p:sp>
        <p:nvSpPr>
          <p:cNvPr id="20" name="Shape 18"/>
          <p:cNvSpPr/>
          <p:nvPr/>
        </p:nvSpPr>
        <p:spPr>
          <a:xfrm>
            <a:off x="6537960" y="3172968"/>
            <a:ext cx="100584" cy="100584"/>
          </a:xfrm>
          <a:prstGeom prst="ellipse">
            <a:avLst/>
          </a:prstGeom>
          <a:solidFill>
            <a:srgbClr val="2C5F2D"/>
          </a:solidFill>
          <a:ln w="12700">
            <a:solidFill>
              <a:srgbClr val="2C5F2D"/>
            </a:solidFill>
            <a:prstDash val="solid"/>
          </a:ln>
        </p:spPr>
      </p:sp>
      <p:sp>
        <p:nvSpPr>
          <p:cNvPr id="21" name="Text 19"/>
          <p:cNvSpPr txBox="1"/>
          <p:nvPr/>
        </p:nvSpPr>
        <p:spPr>
          <a:xfrm>
            <a:off x="6775704" y="3054096"/>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Charts that show your past results</a:t>
            </a:r>
            <a:endParaRPr lang="en-US" sz="1300" dirty="0"/>
          </a:p>
        </p:txBody>
      </p:sp>
      <p:sp>
        <p:nvSpPr>
          <p:cNvPr id="22" name="Shape 20"/>
          <p:cNvSpPr/>
          <p:nvPr/>
        </p:nvSpPr>
        <p:spPr>
          <a:xfrm>
            <a:off x="6537960" y="3557016"/>
            <a:ext cx="100584" cy="100584"/>
          </a:xfrm>
          <a:prstGeom prst="ellipse">
            <a:avLst/>
          </a:prstGeom>
          <a:solidFill>
            <a:srgbClr val="2C5F2D"/>
          </a:solidFill>
          <a:ln w="12700">
            <a:solidFill>
              <a:srgbClr val="2C5F2D"/>
            </a:solidFill>
            <a:prstDash val="solid"/>
          </a:ln>
        </p:spPr>
      </p:sp>
      <p:sp>
        <p:nvSpPr>
          <p:cNvPr id="23" name="Text 21"/>
          <p:cNvSpPr txBox="1"/>
          <p:nvPr/>
        </p:nvSpPr>
        <p:spPr>
          <a:xfrm>
            <a:off x="6775704" y="3438144"/>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Works on mobile and laptop, light and dark</a:t>
            </a:r>
            <a:endParaRPr lang="en-US" sz="1300" dirty="0"/>
          </a:p>
        </p:txBody>
      </p:sp>
      <p:sp>
        <p:nvSpPr>
          <p:cNvPr id="24" name="Text 22"/>
          <p:cNvSpPr txBox="1"/>
          <p:nvPr/>
        </p:nvSpPr>
        <p:spPr>
          <a:xfrm>
            <a:off x="548640" y="4315968"/>
            <a:ext cx="6400800" cy="274320"/>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HOW A USER MOVES THROUGH THE SITE</a:t>
            </a:r>
            <a:endParaRPr lang="en-US" sz="1100" dirty="0"/>
          </a:p>
        </p:txBody>
      </p:sp>
      <p:sp>
        <p:nvSpPr>
          <p:cNvPr id="25" name="Shape 23"/>
          <p:cNvSpPr/>
          <p:nvPr/>
        </p:nvSpPr>
        <p:spPr>
          <a:xfrm>
            <a:off x="548640" y="4663440"/>
            <a:ext cx="205740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6" name="Shape 24"/>
          <p:cNvSpPr/>
          <p:nvPr/>
        </p:nvSpPr>
        <p:spPr>
          <a:xfrm>
            <a:off x="731520" y="4846320"/>
            <a:ext cx="329184" cy="329184"/>
          </a:xfrm>
          <a:prstGeom prst="ellipse">
            <a:avLst/>
          </a:prstGeom>
          <a:solidFill>
            <a:srgbClr val="2C5F2D"/>
          </a:solidFill>
          <a:ln w="12700">
            <a:solidFill>
              <a:srgbClr val="2C5F2D"/>
            </a:solidFill>
            <a:prstDash val="solid"/>
          </a:ln>
        </p:spPr>
      </p:sp>
      <p:sp>
        <p:nvSpPr>
          <p:cNvPr id="27" name="Text 25"/>
          <p:cNvSpPr txBox="1"/>
          <p:nvPr/>
        </p:nvSpPr>
        <p:spPr>
          <a:xfrm>
            <a:off x="731520"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8" name="Text 26"/>
          <p:cNvSpPr txBox="1"/>
          <p:nvPr/>
        </p:nvSpPr>
        <p:spPr>
          <a:xfrm>
            <a:off x="731520" y="5266944"/>
            <a:ext cx="169164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Open the website</a:t>
            </a:r>
            <a:endParaRPr lang="en-US" sz="1250" dirty="0"/>
          </a:p>
        </p:txBody>
      </p:sp>
      <p:sp>
        <p:nvSpPr>
          <p:cNvPr id="29" name="Shape 27"/>
          <p:cNvSpPr/>
          <p:nvPr/>
        </p:nvSpPr>
        <p:spPr>
          <a:xfrm rot="5400000">
            <a:off x="2592324" y="5248656"/>
            <a:ext cx="201168" cy="201168"/>
          </a:xfrm>
          <a:prstGeom prst="triangle">
            <a:avLst/>
          </a:prstGeom>
          <a:solidFill>
            <a:srgbClr val="97BC62"/>
          </a:solidFill>
          <a:ln w="12700">
            <a:solidFill>
              <a:srgbClr val="97BC62"/>
            </a:solidFill>
            <a:prstDash val="solid"/>
          </a:ln>
        </p:spPr>
      </p:sp>
      <p:sp>
        <p:nvSpPr>
          <p:cNvPr id="30" name="Shape 28"/>
          <p:cNvSpPr/>
          <p:nvPr/>
        </p:nvSpPr>
        <p:spPr>
          <a:xfrm>
            <a:off x="2779776" y="4663440"/>
            <a:ext cx="205740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1" name="Shape 29"/>
          <p:cNvSpPr/>
          <p:nvPr/>
        </p:nvSpPr>
        <p:spPr>
          <a:xfrm>
            <a:off x="2962656" y="4846320"/>
            <a:ext cx="329184" cy="329184"/>
          </a:xfrm>
          <a:prstGeom prst="ellipse">
            <a:avLst/>
          </a:prstGeom>
          <a:solidFill>
            <a:srgbClr val="2C5F2D"/>
          </a:solidFill>
          <a:ln w="12700">
            <a:solidFill>
              <a:srgbClr val="2C5F2D"/>
            </a:solidFill>
            <a:prstDash val="solid"/>
          </a:ln>
        </p:spPr>
      </p:sp>
      <p:sp>
        <p:nvSpPr>
          <p:cNvPr id="32" name="Text 30"/>
          <p:cNvSpPr txBox="1"/>
          <p:nvPr/>
        </p:nvSpPr>
        <p:spPr>
          <a:xfrm>
            <a:off x="2962656"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33" name="Text 31"/>
          <p:cNvSpPr txBox="1"/>
          <p:nvPr/>
        </p:nvSpPr>
        <p:spPr>
          <a:xfrm>
            <a:off x="2962656" y="5266944"/>
            <a:ext cx="169164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Sign in to the account</a:t>
            </a:r>
            <a:endParaRPr lang="en-US" sz="1250" dirty="0"/>
          </a:p>
        </p:txBody>
      </p:sp>
      <p:sp>
        <p:nvSpPr>
          <p:cNvPr id="34" name="Shape 32"/>
          <p:cNvSpPr/>
          <p:nvPr/>
        </p:nvSpPr>
        <p:spPr>
          <a:xfrm rot="5400000">
            <a:off x="4823460" y="5248656"/>
            <a:ext cx="201168" cy="201168"/>
          </a:xfrm>
          <a:prstGeom prst="triangle">
            <a:avLst/>
          </a:prstGeom>
          <a:solidFill>
            <a:srgbClr val="97BC62"/>
          </a:solidFill>
          <a:ln w="12700">
            <a:solidFill>
              <a:srgbClr val="97BC62"/>
            </a:solidFill>
            <a:prstDash val="solid"/>
          </a:ln>
        </p:spPr>
      </p:sp>
      <p:sp>
        <p:nvSpPr>
          <p:cNvPr id="35" name="Shape 33"/>
          <p:cNvSpPr/>
          <p:nvPr/>
        </p:nvSpPr>
        <p:spPr>
          <a:xfrm>
            <a:off x="5010912" y="4663440"/>
            <a:ext cx="205740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6" name="Shape 34"/>
          <p:cNvSpPr/>
          <p:nvPr/>
        </p:nvSpPr>
        <p:spPr>
          <a:xfrm>
            <a:off x="5193792" y="4846320"/>
            <a:ext cx="329184" cy="329184"/>
          </a:xfrm>
          <a:prstGeom prst="ellipse">
            <a:avLst/>
          </a:prstGeom>
          <a:solidFill>
            <a:srgbClr val="2C5F2D"/>
          </a:solidFill>
          <a:ln w="12700">
            <a:solidFill>
              <a:srgbClr val="2C5F2D"/>
            </a:solidFill>
            <a:prstDash val="solid"/>
          </a:ln>
        </p:spPr>
      </p:sp>
      <p:sp>
        <p:nvSpPr>
          <p:cNvPr id="37" name="Text 35"/>
          <p:cNvSpPr txBox="1"/>
          <p:nvPr/>
        </p:nvSpPr>
        <p:spPr>
          <a:xfrm>
            <a:off x="5193792"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8" name="Text 36"/>
          <p:cNvSpPr txBox="1"/>
          <p:nvPr/>
        </p:nvSpPr>
        <p:spPr>
          <a:xfrm>
            <a:off x="5193792" y="5266944"/>
            <a:ext cx="169164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Choose a feature</a:t>
            </a:r>
            <a:endParaRPr lang="en-US" sz="1250" dirty="0"/>
          </a:p>
        </p:txBody>
      </p:sp>
      <p:sp>
        <p:nvSpPr>
          <p:cNvPr id="39" name="Shape 37"/>
          <p:cNvSpPr/>
          <p:nvPr/>
        </p:nvSpPr>
        <p:spPr>
          <a:xfrm rot="5400000">
            <a:off x="7054596" y="5248656"/>
            <a:ext cx="201168" cy="201168"/>
          </a:xfrm>
          <a:prstGeom prst="triangle">
            <a:avLst/>
          </a:prstGeom>
          <a:solidFill>
            <a:srgbClr val="97BC62"/>
          </a:solidFill>
          <a:ln w="12700">
            <a:solidFill>
              <a:srgbClr val="97BC62"/>
            </a:solidFill>
            <a:prstDash val="solid"/>
          </a:ln>
        </p:spPr>
      </p:sp>
      <p:sp>
        <p:nvSpPr>
          <p:cNvPr id="40" name="Shape 38"/>
          <p:cNvSpPr/>
          <p:nvPr/>
        </p:nvSpPr>
        <p:spPr>
          <a:xfrm>
            <a:off x="7242048" y="4663440"/>
            <a:ext cx="205740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41" name="Shape 39"/>
          <p:cNvSpPr/>
          <p:nvPr/>
        </p:nvSpPr>
        <p:spPr>
          <a:xfrm>
            <a:off x="7424928" y="4846320"/>
            <a:ext cx="329184" cy="329184"/>
          </a:xfrm>
          <a:prstGeom prst="ellipse">
            <a:avLst/>
          </a:prstGeom>
          <a:solidFill>
            <a:srgbClr val="2C5F2D"/>
          </a:solidFill>
          <a:ln w="12700">
            <a:solidFill>
              <a:srgbClr val="2C5F2D"/>
            </a:solidFill>
            <a:prstDash val="solid"/>
          </a:ln>
        </p:spPr>
      </p:sp>
      <p:sp>
        <p:nvSpPr>
          <p:cNvPr id="42" name="Text 40"/>
          <p:cNvSpPr txBox="1"/>
          <p:nvPr/>
        </p:nvSpPr>
        <p:spPr>
          <a:xfrm>
            <a:off x="7424928"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43" name="Text 41"/>
          <p:cNvSpPr txBox="1"/>
          <p:nvPr/>
        </p:nvSpPr>
        <p:spPr>
          <a:xfrm>
            <a:off x="7424928" y="5266944"/>
            <a:ext cx="169164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Type data or upload a photo</a:t>
            </a:r>
            <a:endParaRPr lang="en-US" sz="1250" dirty="0"/>
          </a:p>
        </p:txBody>
      </p:sp>
      <p:sp>
        <p:nvSpPr>
          <p:cNvPr id="44" name="Shape 42"/>
          <p:cNvSpPr/>
          <p:nvPr/>
        </p:nvSpPr>
        <p:spPr>
          <a:xfrm rot="5400000">
            <a:off x="9285732" y="5248656"/>
            <a:ext cx="201168" cy="201168"/>
          </a:xfrm>
          <a:prstGeom prst="triangle">
            <a:avLst/>
          </a:prstGeom>
          <a:solidFill>
            <a:srgbClr val="97BC62"/>
          </a:solidFill>
          <a:ln w="12700">
            <a:solidFill>
              <a:srgbClr val="97BC62"/>
            </a:solidFill>
            <a:prstDash val="solid"/>
          </a:ln>
        </p:spPr>
      </p:sp>
      <p:sp>
        <p:nvSpPr>
          <p:cNvPr id="45" name="Shape 43"/>
          <p:cNvSpPr/>
          <p:nvPr/>
        </p:nvSpPr>
        <p:spPr>
          <a:xfrm>
            <a:off x="9473184" y="4663440"/>
            <a:ext cx="205740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46" name="Shape 44"/>
          <p:cNvSpPr/>
          <p:nvPr/>
        </p:nvSpPr>
        <p:spPr>
          <a:xfrm>
            <a:off x="9656064" y="4846320"/>
            <a:ext cx="329184" cy="329184"/>
          </a:xfrm>
          <a:prstGeom prst="ellipse">
            <a:avLst/>
          </a:prstGeom>
          <a:solidFill>
            <a:srgbClr val="2C5F2D"/>
          </a:solidFill>
          <a:ln w="12700">
            <a:solidFill>
              <a:srgbClr val="2C5F2D"/>
            </a:solidFill>
            <a:prstDash val="solid"/>
          </a:ln>
        </p:spPr>
      </p:sp>
      <p:sp>
        <p:nvSpPr>
          <p:cNvPr id="47" name="Text 45"/>
          <p:cNvSpPr txBox="1"/>
          <p:nvPr/>
        </p:nvSpPr>
        <p:spPr>
          <a:xfrm>
            <a:off x="9656064"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48" name="Text 46"/>
          <p:cNvSpPr txBox="1"/>
          <p:nvPr/>
        </p:nvSpPr>
        <p:spPr>
          <a:xfrm>
            <a:off x="9656064" y="5266944"/>
            <a:ext cx="169164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Get the answer with reasons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21792"/>
          </a:xfrm>
          <a:prstGeom prst="rect">
            <a:avLst/>
          </a:prstGeom>
          <a:noFill/>
          <a:ln/>
        </p:spPr>
        <p:txBody>
          <a:bodyPr wrap="square" lIns="0" tIns="0" rIns="0" bIns="0" rtlCol="0" anchor="ctr"/>
          <a:lstStyle/>
          <a:p>
            <a:pPr indent="0" marL="0">
              <a:buNone/>
            </a:pPr>
            <a:r>
              <a:rPr lang="en-US" sz="3400" b="1" dirty="0">
                <a:solidFill>
                  <a:srgbClr val="14301F"/>
                </a:solidFill>
                <a:latin typeface="Cambria" pitchFamily="34" charset="0"/>
                <a:ea typeface="Cambria" pitchFamily="34" charset="-122"/>
                <a:cs typeface="Cambria" pitchFamily="34" charset="-120"/>
              </a:rPr>
              <a:t>Back end — the brain on the server</a:t>
            </a:r>
            <a:endParaRPr lang="en-US" sz="3400" dirty="0"/>
          </a:p>
        </p:txBody>
      </p:sp>
      <p:sp>
        <p:nvSpPr>
          <p:cNvPr id="3" name="Text 1"/>
          <p:cNvSpPr txBox="1"/>
          <p:nvPr/>
        </p:nvSpPr>
        <p:spPr>
          <a:xfrm>
            <a:off x="548640" y="1042416"/>
            <a:ext cx="10725912" cy="402336"/>
          </a:xfrm>
          <a:prstGeom prst="rect">
            <a:avLst/>
          </a:prstGeom>
          <a:noFill/>
          <a:ln/>
        </p:spPr>
        <p:txBody>
          <a:bodyPr wrap="square" lIns="0" tIns="0" rIns="0" bIns="0" rtlCol="0" anchor="ctr"/>
          <a:lstStyle/>
          <a:p>
            <a:pPr indent="0" marL="0">
              <a:buNone/>
            </a:pPr>
            <a:r>
              <a:rPr lang="en-US" sz="1450" dirty="0">
                <a:solidFill>
                  <a:srgbClr val="5A6A61"/>
                </a:solidFill>
                <a:latin typeface="Calibri" pitchFamily="34" charset="0"/>
                <a:ea typeface="Calibri" pitchFamily="34" charset="-122"/>
                <a:cs typeface="Calibri" pitchFamily="34" charset="-120"/>
              </a:rPr>
              <a:t>The part the user does not see: it checks the input, does the calculation, saves it and sends the answer back.</a:t>
            </a:r>
            <a:endParaRPr lang="en-US" sz="1450" dirty="0"/>
          </a:p>
        </p:txBody>
      </p:sp>
      <p:sp>
        <p:nvSpPr>
          <p:cNvPr id="4" name="Shape 2"/>
          <p:cNvSpPr/>
          <p:nvPr/>
        </p:nvSpPr>
        <p:spPr>
          <a:xfrm>
            <a:off x="548640" y="1691640"/>
            <a:ext cx="5394960" cy="2377440"/>
          </a:xfrm>
          <a:prstGeom prst="roundRect">
            <a:avLst>
              <a:gd name="adj" fmla="val 3846"/>
            </a:avLst>
          </a:prstGeom>
          <a:solidFill>
            <a:srgbClr val="14301F"/>
          </a:solidFill>
          <a:ln w="12700">
            <a:solidFill>
              <a:srgbClr val="14301F"/>
            </a:solidFill>
            <a:prstDash val="solid"/>
          </a:ln>
          <a:effectLst>
            <a:outerShdw sx="100000" sy="100000" kx="0" ky="0" algn="bl" rotWithShape="0" blurRad="127000" dist="25400" dir="5400000">
              <a:srgbClr val="2C5F2D">
                <a:alpha val="13000"/>
              </a:srgbClr>
            </a:outerShdw>
          </a:effectLst>
        </p:spPr>
      </p:sp>
      <p:sp>
        <p:nvSpPr>
          <p:cNvPr id="5" name="Text 3"/>
          <p:cNvSpPr txBox="1"/>
          <p:nvPr/>
        </p:nvSpPr>
        <p:spPr>
          <a:xfrm>
            <a:off x="822960" y="1874520"/>
            <a:ext cx="3291840" cy="274320"/>
          </a:xfrm>
          <a:prstGeom prst="rect">
            <a:avLst/>
          </a:prstGeom>
          <a:noFill/>
          <a:ln/>
        </p:spPr>
        <p:txBody>
          <a:bodyPr wrap="square" lIns="0" tIns="0" rIns="0" bIns="0" rtlCol="0" anchor="ctr"/>
          <a:lstStyle/>
          <a:p>
            <a:pPr indent="0" marL="0">
              <a:buNone/>
            </a:pPr>
            <a:r>
              <a:rPr lang="en-US" sz="1100" b="1" spc="150" kern="0" dirty="0">
                <a:solidFill>
                  <a:srgbClr val="E0A526"/>
                </a:solidFill>
                <a:latin typeface="Calibri" pitchFamily="34" charset="0"/>
                <a:ea typeface="Calibri" pitchFamily="34" charset="-122"/>
                <a:cs typeface="Calibri" pitchFamily="34" charset="-120"/>
              </a:rPr>
              <a:t>BUILT WITH</a:t>
            </a:r>
            <a:endParaRPr lang="en-US" sz="1100" dirty="0"/>
          </a:p>
        </p:txBody>
      </p:sp>
      <p:sp>
        <p:nvSpPr>
          <p:cNvPr id="6" name="Shape 4"/>
          <p:cNvSpPr/>
          <p:nvPr/>
        </p:nvSpPr>
        <p:spPr>
          <a:xfrm>
            <a:off x="841248" y="2404872"/>
            <a:ext cx="100584" cy="100584"/>
          </a:xfrm>
          <a:prstGeom prst="ellipse">
            <a:avLst/>
          </a:prstGeom>
          <a:solidFill>
            <a:srgbClr val="97BC62"/>
          </a:solidFill>
          <a:ln w="12700">
            <a:solidFill>
              <a:srgbClr val="97BC62"/>
            </a:solidFill>
            <a:prstDash val="solid"/>
          </a:ln>
        </p:spPr>
      </p:sp>
      <p:sp>
        <p:nvSpPr>
          <p:cNvPr id="7" name="Text 5"/>
          <p:cNvSpPr txBox="1"/>
          <p:nvPr/>
        </p:nvSpPr>
        <p:spPr>
          <a:xfrm>
            <a:off x="1078992" y="2286000"/>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Python  </a:t>
            </a:r>
            <a:pPr indent="0" marL="0">
              <a:buNone/>
            </a:pPr>
            <a:r>
              <a:rPr lang="en-US" sz="1200" dirty="0">
                <a:solidFill>
                  <a:srgbClr val="97BC62"/>
                </a:solidFill>
                <a:latin typeface="Calibri" pitchFamily="34" charset="0"/>
                <a:ea typeface="Calibri" pitchFamily="34" charset="-122"/>
                <a:cs typeface="Calibri" pitchFamily="34" charset="-120"/>
              </a:rPr>
              <a:t>— the language everything is written in</a:t>
            </a:r>
            <a:endParaRPr lang="en-US" sz="1300" dirty="0"/>
          </a:p>
        </p:txBody>
      </p:sp>
      <p:sp>
        <p:nvSpPr>
          <p:cNvPr id="8" name="Shape 6"/>
          <p:cNvSpPr/>
          <p:nvPr/>
        </p:nvSpPr>
        <p:spPr>
          <a:xfrm>
            <a:off x="841248" y="2788920"/>
            <a:ext cx="100584" cy="100584"/>
          </a:xfrm>
          <a:prstGeom prst="ellipse">
            <a:avLst/>
          </a:prstGeom>
          <a:solidFill>
            <a:srgbClr val="97BC62"/>
          </a:solidFill>
          <a:ln w="12700">
            <a:solidFill>
              <a:srgbClr val="97BC62"/>
            </a:solidFill>
            <a:prstDash val="solid"/>
          </a:ln>
        </p:spPr>
      </p:sp>
      <p:sp>
        <p:nvSpPr>
          <p:cNvPr id="9" name="Text 7"/>
          <p:cNvSpPr txBox="1"/>
          <p:nvPr/>
        </p:nvSpPr>
        <p:spPr>
          <a:xfrm>
            <a:off x="1078992" y="2670048"/>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FastAPI  </a:t>
            </a:r>
            <a:pPr indent="0" marL="0">
              <a:buNone/>
            </a:pPr>
            <a:r>
              <a:rPr lang="en-US" sz="1200" dirty="0">
                <a:solidFill>
                  <a:srgbClr val="97BC62"/>
                </a:solidFill>
                <a:latin typeface="Calibri" pitchFamily="34" charset="0"/>
                <a:ea typeface="Calibri" pitchFamily="34" charset="-122"/>
                <a:cs typeface="Calibri" pitchFamily="34" charset="-120"/>
              </a:rPr>
              <a:t>— receives requests from the website</a:t>
            </a:r>
            <a:endParaRPr lang="en-US" sz="1300" dirty="0"/>
          </a:p>
        </p:txBody>
      </p:sp>
      <p:sp>
        <p:nvSpPr>
          <p:cNvPr id="10" name="Shape 8"/>
          <p:cNvSpPr/>
          <p:nvPr/>
        </p:nvSpPr>
        <p:spPr>
          <a:xfrm>
            <a:off x="841248" y="3172968"/>
            <a:ext cx="100584" cy="100584"/>
          </a:xfrm>
          <a:prstGeom prst="ellipse">
            <a:avLst/>
          </a:prstGeom>
          <a:solidFill>
            <a:srgbClr val="97BC62"/>
          </a:solidFill>
          <a:ln w="12700">
            <a:solidFill>
              <a:srgbClr val="97BC62"/>
            </a:solidFill>
            <a:prstDash val="solid"/>
          </a:ln>
        </p:spPr>
      </p:sp>
      <p:sp>
        <p:nvSpPr>
          <p:cNvPr id="11" name="Text 9"/>
          <p:cNvSpPr txBox="1"/>
          <p:nvPr/>
        </p:nvSpPr>
        <p:spPr>
          <a:xfrm>
            <a:off x="1078992" y="3054096"/>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scikit-learn  </a:t>
            </a:r>
            <a:pPr indent="0" marL="0">
              <a:buNone/>
            </a:pPr>
            <a:r>
              <a:rPr lang="en-US" sz="1200" dirty="0">
                <a:solidFill>
                  <a:srgbClr val="97BC62"/>
                </a:solidFill>
                <a:latin typeface="Calibri" pitchFamily="34" charset="0"/>
                <a:ea typeface="Calibri" pitchFamily="34" charset="-122"/>
                <a:cs typeface="Calibri" pitchFamily="34" charset="-120"/>
              </a:rPr>
              <a:t>— trains and runs the ML model</a:t>
            </a:r>
            <a:endParaRPr lang="en-US" sz="1300" dirty="0"/>
          </a:p>
        </p:txBody>
      </p:sp>
      <p:sp>
        <p:nvSpPr>
          <p:cNvPr id="12" name="Shape 10"/>
          <p:cNvSpPr/>
          <p:nvPr/>
        </p:nvSpPr>
        <p:spPr>
          <a:xfrm>
            <a:off x="841248" y="3557016"/>
            <a:ext cx="100584" cy="100584"/>
          </a:xfrm>
          <a:prstGeom prst="ellipse">
            <a:avLst/>
          </a:prstGeom>
          <a:solidFill>
            <a:srgbClr val="97BC62"/>
          </a:solidFill>
          <a:ln w="12700">
            <a:solidFill>
              <a:srgbClr val="97BC62"/>
            </a:solidFill>
            <a:prstDash val="solid"/>
          </a:ln>
        </p:spPr>
      </p:sp>
      <p:sp>
        <p:nvSpPr>
          <p:cNvPr id="13" name="Text 11"/>
          <p:cNvSpPr txBox="1"/>
          <p:nvPr/>
        </p:nvSpPr>
        <p:spPr>
          <a:xfrm>
            <a:off x="1078992" y="3438144"/>
            <a:ext cx="466344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PostgreSQL  </a:t>
            </a:r>
            <a:pPr indent="0" marL="0">
              <a:buNone/>
            </a:pPr>
            <a:r>
              <a:rPr lang="en-US" sz="1200" dirty="0">
                <a:solidFill>
                  <a:srgbClr val="97BC62"/>
                </a:solidFill>
                <a:latin typeface="Calibri" pitchFamily="34" charset="0"/>
                <a:ea typeface="Calibri" pitchFamily="34" charset="-122"/>
                <a:cs typeface="Calibri" pitchFamily="34" charset="-120"/>
              </a:rPr>
              <a:t>— stores users and all results</a:t>
            </a:r>
            <a:endParaRPr lang="en-US" sz="1300" dirty="0"/>
          </a:p>
        </p:txBody>
      </p:sp>
      <p:sp>
        <p:nvSpPr>
          <p:cNvPr id="14" name="Shape 12"/>
          <p:cNvSpPr/>
          <p:nvPr/>
        </p:nvSpPr>
        <p:spPr>
          <a:xfrm>
            <a:off x="6245352" y="1691640"/>
            <a:ext cx="5394960" cy="2377440"/>
          </a:xfrm>
          <a:prstGeom prst="roundRect">
            <a:avLst>
              <a:gd name="adj" fmla="val 3846"/>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5" name="Text 13"/>
          <p:cNvSpPr txBox="1"/>
          <p:nvPr/>
        </p:nvSpPr>
        <p:spPr>
          <a:xfrm>
            <a:off x="6519672" y="1874520"/>
            <a:ext cx="3291840" cy="274320"/>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WHAT IT STORES</a:t>
            </a:r>
            <a:endParaRPr lang="en-US" sz="1100" dirty="0"/>
          </a:p>
        </p:txBody>
      </p:sp>
      <p:sp>
        <p:nvSpPr>
          <p:cNvPr id="16" name="Shape 14"/>
          <p:cNvSpPr/>
          <p:nvPr/>
        </p:nvSpPr>
        <p:spPr>
          <a:xfrm>
            <a:off x="6537960" y="2404872"/>
            <a:ext cx="100584" cy="100584"/>
          </a:xfrm>
          <a:prstGeom prst="ellipse">
            <a:avLst/>
          </a:prstGeom>
          <a:solidFill>
            <a:srgbClr val="2C5F2D"/>
          </a:solidFill>
          <a:ln w="12700">
            <a:solidFill>
              <a:srgbClr val="2C5F2D"/>
            </a:solidFill>
            <a:prstDash val="solid"/>
          </a:ln>
        </p:spPr>
      </p:sp>
      <p:sp>
        <p:nvSpPr>
          <p:cNvPr id="17" name="Text 15"/>
          <p:cNvSpPr txBox="1"/>
          <p:nvPr/>
        </p:nvSpPr>
        <p:spPr>
          <a:xfrm>
            <a:off x="6775704" y="2286000"/>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Users — name, email, password (encrypted)</a:t>
            </a:r>
            <a:endParaRPr lang="en-US" sz="1300" dirty="0"/>
          </a:p>
        </p:txBody>
      </p:sp>
      <p:sp>
        <p:nvSpPr>
          <p:cNvPr id="18" name="Shape 16"/>
          <p:cNvSpPr/>
          <p:nvPr/>
        </p:nvSpPr>
        <p:spPr>
          <a:xfrm>
            <a:off x="6537960" y="2788920"/>
            <a:ext cx="100584" cy="100584"/>
          </a:xfrm>
          <a:prstGeom prst="ellipse">
            <a:avLst/>
          </a:prstGeom>
          <a:solidFill>
            <a:srgbClr val="2C5F2D"/>
          </a:solidFill>
          <a:ln w="12700">
            <a:solidFill>
              <a:srgbClr val="2C5F2D"/>
            </a:solidFill>
            <a:prstDash val="solid"/>
          </a:ln>
        </p:spPr>
      </p:sp>
      <p:sp>
        <p:nvSpPr>
          <p:cNvPr id="19" name="Text 17"/>
          <p:cNvSpPr txBox="1"/>
          <p:nvPr/>
        </p:nvSpPr>
        <p:spPr>
          <a:xfrm>
            <a:off x="6775704" y="2670048"/>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Irrigation records — every watering decision</a:t>
            </a:r>
            <a:endParaRPr lang="en-US" sz="1300" dirty="0"/>
          </a:p>
        </p:txBody>
      </p:sp>
      <p:sp>
        <p:nvSpPr>
          <p:cNvPr id="20" name="Shape 18"/>
          <p:cNvSpPr/>
          <p:nvPr/>
        </p:nvSpPr>
        <p:spPr>
          <a:xfrm>
            <a:off x="6537960" y="3172968"/>
            <a:ext cx="100584" cy="100584"/>
          </a:xfrm>
          <a:prstGeom prst="ellipse">
            <a:avLst/>
          </a:prstGeom>
          <a:solidFill>
            <a:srgbClr val="2C5F2D"/>
          </a:solidFill>
          <a:ln w="12700">
            <a:solidFill>
              <a:srgbClr val="2C5F2D"/>
            </a:solidFill>
            <a:prstDash val="solid"/>
          </a:ln>
        </p:spPr>
      </p:sp>
      <p:sp>
        <p:nvSpPr>
          <p:cNvPr id="21" name="Text 19"/>
          <p:cNvSpPr txBox="1"/>
          <p:nvPr/>
        </p:nvSpPr>
        <p:spPr>
          <a:xfrm>
            <a:off x="6775704" y="3054096"/>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Plant and soil results — every photo checked</a:t>
            </a:r>
            <a:endParaRPr lang="en-US" sz="1300" dirty="0"/>
          </a:p>
        </p:txBody>
      </p:sp>
      <p:sp>
        <p:nvSpPr>
          <p:cNvPr id="22" name="Shape 20"/>
          <p:cNvSpPr/>
          <p:nvPr/>
        </p:nvSpPr>
        <p:spPr>
          <a:xfrm>
            <a:off x="6537960" y="3557016"/>
            <a:ext cx="100584" cy="100584"/>
          </a:xfrm>
          <a:prstGeom prst="ellipse">
            <a:avLst/>
          </a:prstGeom>
          <a:solidFill>
            <a:srgbClr val="2C5F2D"/>
          </a:solidFill>
          <a:ln w="12700">
            <a:solidFill>
              <a:srgbClr val="2C5F2D"/>
            </a:solidFill>
            <a:prstDash val="solid"/>
          </a:ln>
        </p:spPr>
      </p:sp>
      <p:sp>
        <p:nvSpPr>
          <p:cNvPr id="23" name="Text 21"/>
          <p:cNvSpPr txBox="1"/>
          <p:nvPr/>
        </p:nvSpPr>
        <p:spPr>
          <a:xfrm>
            <a:off x="6775704" y="3438144"/>
            <a:ext cx="4663440" cy="329184"/>
          </a:xfrm>
          <a:prstGeom prst="rect">
            <a:avLst/>
          </a:prstGeom>
          <a:noFill/>
          <a:ln/>
        </p:spPr>
        <p:txBody>
          <a:bodyPr wrap="square" lIns="0" tIns="0" rIns="0" bIns="0" rtlCol="0" anchor="ctr"/>
          <a:lstStyle/>
          <a:p>
            <a:pPr indent="0" marL="0">
              <a:buNone/>
            </a:pPr>
            <a:r>
              <a:rPr lang="en-US" sz="1300" dirty="0">
                <a:solidFill>
                  <a:srgbClr val="26332C"/>
                </a:solidFill>
                <a:latin typeface="Calibri" pitchFamily="34" charset="0"/>
                <a:ea typeface="Calibri" pitchFamily="34" charset="-122"/>
                <a:cs typeface="Calibri" pitchFamily="34" charset="-120"/>
              </a:rPr>
              <a:t>Chat messages — your questions and answers</a:t>
            </a:r>
            <a:endParaRPr lang="en-US" sz="1300" dirty="0"/>
          </a:p>
        </p:txBody>
      </p:sp>
      <p:sp>
        <p:nvSpPr>
          <p:cNvPr id="24" name="Text 22"/>
          <p:cNvSpPr txBox="1"/>
          <p:nvPr/>
        </p:nvSpPr>
        <p:spPr>
          <a:xfrm>
            <a:off x="548640" y="4315968"/>
            <a:ext cx="6400800" cy="274320"/>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WHAT HAPPENS WHEN YOU CLICK "GET RESULT"</a:t>
            </a:r>
            <a:endParaRPr lang="en-US" sz="1100" dirty="0"/>
          </a:p>
        </p:txBody>
      </p:sp>
      <p:sp>
        <p:nvSpPr>
          <p:cNvPr id="25" name="Shape 23"/>
          <p:cNvSpPr/>
          <p:nvPr/>
        </p:nvSpPr>
        <p:spPr>
          <a:xfrm>
            <a:off x="548640" y="4663440"/>
            <a:ext cx="256032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6" name="Shape 24"/>
          <p:cNvSpPr/>
          <p:nvPr/>
        </p:nvSpPr>
        <p:spPr>
          <a:xfrm>
            <a:off x="731520" y="4846320"/>
            <a:ext cx="329184" cy="329184"/>
          </a:xfrm>
          <a:prstGeom prst="ellipse">
            <a:avLst/>
          </a:prstGeom>
          <a:solidFill>
            <a:srgbClr val="2C5F2D"/>
          </a:solidFill>
          <a:ln w="12700">
            <a:solidFill>
              <a:srgbClr val="2C5F2D"/>
            </a:solidFill>
            <a:prstDash val="solid"/>
          </a:ln>
        </p:spPr>
      </p:sp>
      <p:sp>
        <p:nvSpPr>
          <p:cNvPr id="27" name="Text 25"/>
          <p:cNvSpPr txBox="1"/>
          <p:nvPr/>
        </p:nvSpPr>
        <p:spPr>
          <a:xfrm>
            <a:off x="731520"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8" name="Text 26"/>
          <p:cNvSpPr txBox="1"/>
          <p:nvPr/>
        </p:nvSpPr>
        <p:spPr>
          <a:xfrm>
            <a:off x="731520" y="5266944"/>
            <a:ext cx="219456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The page sends your data to the server</a:t>
            </a:r>
            <a:endParaRPr lang="en-US" sz="1250" dirty="0"/>
          </a:p>
        </p:txBody>
      </p:sp>
      <p:sp>
        <p:nvSpPr>
          <p:cNvPr id="29" name="Shape 27"/>
          <p:cNvSpPr/>
          <p:nvPr/>
        </p:nvSpPr>
        <p:spPr>
          <a:xfrm rot="5400000">
            <a:off x="3136392" y="5248656"/>
            <a:ext cx="201168" cy="201168"/>
          </a:xfrm>
          <a:prstGeom prst="triangle">
            <a:avLst/>
          </a:prstGeom>
          <a:solidFill>
            <a:srgbClr val="97BC62"/>
          </a:solidFill>
          <a:ln w="12700">
            <a:solidFill>
              <a:srgbClr val="97BC62"/>
            </a:solidFill>
            <a:prstDash val="solid"/>
          </a:ln>
        </p:spPr>
      </p:sp>
      <p:sp>
        <p:nvSpPr>
          <p:cNvPr id="30" name="Shape 28"/>
          <p:cNvSpPr/>
          <p:nvPr/>
        </p:nvSpPr>
        <p:spPr>
          <a:xfrm>
            <a:off x="3364992" y="4663440"/>
            <a:ext cx="256032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1" name="Shape 29"/>
          <p:cNvSpPr/>
          <p:nvPr/>
        </p:nvSpPr>
        <p:spPr>
          <a:xfrm>
            <a:off x="3547872" y="4846320"/>
            <a:ext cx="329184" cy="329184"/>
          </a:xfrm>
          <a:prstGeom prst="ellipse">
            <a:avLst/>
          </a:prstGeom>
          <a:solidFill>
            <a:srgbClr val="2C5F2D"/>
          </a:solidFill>
          <a:ln w="12700">
            <a:solidFill>
              <a:srgbClr val="2C5F2D"/>
            </a:solidFill>
            <a:prstDash val="solid"/>
          </a:ln>
        </p:spPr>
      </p:sp>
      <p:sp>
        <p:nvSpPr>
          <p:cNvPr id="32" name="Text 30"/>
          <p:cNvSpPr txBox="1"/>
          <p:nvPr/>
        </p:nvSpPr>
        <p:spPr>
          <a:xfrm>
            <a:off x="3547872"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33" name="Text 31"/>
          <p:cNvSpPr txBox="1"/>
          <p:nvPr/>
        </p:nvSpPr>
        <p:spPr>
          <a:xfrm>
            <a:off x="3547872" y="5266944"/>
            <a:ext cx="219456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The server checks every value is sensible</a:t>
            </a:r>
            <a:endParaRPr lang="en-US" sz="1250" dirty="0"/>
          </a:p>
        </p:txBody>
      </p:sp>
      <p:sp>
        <p:nvSpPr>
          <p:cNvPr id="34" name="Shape 32"/>
          <p:cNvSpPr/>
          <p:nvPr/>
        </p:nvSpPr>
        <p:spPr>
          <a:xfrm rot="5400000">
            <a:off x="5952744" y="5248656"/>
            <a:ext cx="201168" cy="201168"/>
          </a:xfrm>
          <a:prstGeom prst="triangle">
            <a:avLst/>
          </a:prstGeom>
          <a:solidFill>
            <a:srgbClr val="97BC62"/>
          </a:solidFill>
          <a:ln w="12700">
            <a:solidFill>
              <a:srgbClr val="97BC62"/>
            </a:solidFill>
            <a:prstDash val="solid"/>
          </a:ln>
        </p:spPr>
      </p:sp>
      <p:sp>
        <p:nvSpPr>
          <p:cNvPr id="35" name="Shape 33"/>
          <p:cNvSpPr/>
          <p:nvPr/>
        </p:nvSpPr>
        <p:spPr>
          <a:xfrm>
            <a:off x="6181344" y="4663440"/>
            <a:ext cx="256032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6" name="Shape 34"/>
          <p:cNvSpPr/>
          <p:nvPr/>
        </p:nvSpPr>
        <p:spPr>
          <a:xfrm>
            <a:off x="6364224" y="4846320"/>
            <a:ext cx="329184" cy="329184"/>
          </a:xfrm>
          <a:prstGeom prst="ellipse">
            <a:avLst/>
          </a:prstGeom>
          <a:solidFill>
            <a:srgbClr val="2C5F2D"/>
          </a:solidFill>
          <a:ln w="12700">
            <a:solidFill>
              <a:srgbClr val="2C5F2D"/>
            </a:solidFill>
            <a:prstDash val="solid"/>
          </a:ln>
        </p:spPr>
      </p:sp>
      <p:sp>
        <p:nvSpPr>
          <p:cNvPr id="37" name="Text 35"/>
          <p:cNvSpPr txBox="1"/>
          <p:nvPr/>
        </p:nvSpPr>
        <p:spPr>
          <a:xfrm>
            <a:off x="6364224"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8" name="Text 36"/>
          <p:cNvSpPr txBox="1"/>
          <p:nvPr/>
        </p:nvSpPr>
        <p:spPr>
          <a:xfrm>
            <a:off x="6364224" y="5266944"/>
            <a:ext cx="219456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The model or the rules calculate the answer</a:t>
            </a:r>
            <a:endParaRPr lang="en-US" sz="1250" dirty="0"/>
          </a:p>
        </p:txBody>
      </p:sp>
      <p:sp>
        <p:nvSpPr>
          <p:cNvPr id="39" name="Shape 37"/>
          <p:cNvSpPr/>
          <p:nvPr/>
        </p:nvSpPr>
        <p:spPr>
          <a:xfrm rot="5400000">
            <a:off x="8769096" y="5248656"/>
            <a:ext cx="201168" cy="201168"/>
          </a:xfrm>
          <a:prstGeom prst="triangle">
            <a:avLst/>
          </a:prstGeom>
          <a:solidFill>
            <a:srgbClr val="97BC62"/>
          </a:solidFill>
          <a:ln w="12700">
            <a:solidFill>
              <a:srgbClr val="97BC62"/>
            </a:solidFill>
            <a:prstDash val="solid"/>
          </a:ln>
        </p:spPr>
      </p:sp>
      <p:sp>
        <p:nvSpPr>
          <p:cNvPr id="40" name="Shape 38"/>
          <p:cNvSpPr/>
          <p:nvPr/>
        </p:nvSpPr>
        <p:spPr>
          <a:xfrm>
            <a:off x="8997696" y="4663440"/>
            <a:ext cx="2560320" cy="1371600"/>
          </a:xfrm>
          <a:prstGeom prst="roundRect">
            <a:avLst>
              <a:gd name="adj" fmla="val 6667"/>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41" name="Shape 39"/>
          <p:cNvSpPr/>
          <p:nvPr/>
        </p:nvSpPr>
        <p:spPr>
          <a:xfrm>
            <a:off x="9180576" y="4846320"/>
            <a:ext cx="329184" cy="329184"/>
          </a:xfrm>
          <a:prstGeom prst="ellipse">
            <a:avLst/>
          </a:prstGeom>
          <a:solidFill>
            <a:srgbClr val="2C5F2D"/>
          </a:solidFill>
          <a:ln w="12700">
            <a:solidFill>
              <a:srgbClr val="2C5F2D"/>
            </a:solidFill>
            <a:prstDash val="solid"/>
          </a:ln>
        </p:spPr>
      </p:sp>
      <p:sp>
        <p:nvSpPr>
          <p:cNvPr id="42" name="Text 40"/>
          <p:cNvSpPr txBox="1"/>
          <p:nvPr/>
        </p:nvSpPr>
        <p:spPr>
          <a:xfrm>
            <a:off x="9180576" y="48463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43" name="Text 41"/>
          <p:cNvSpPr txBox="1"/>
          <p:nvPr/>
        </p:nvSpPr>
        <p:spPr>
          <a:xfrm>
            <a:off x="9180576" y="5266944"/>
            <a:ext cx="2194560" cy="62179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The answer is saved and sent back to you</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21792"/>
          </a:xfrm>
          <a:prstGeom prst="rect">
            <a:avLst/>
          </a:prstGeom>
          <a:noFill/>
          <a:ln/>
        </p:spPr>
        <p:txBody>
          <a:bodyPr wrap="square" lIns="0" tIns="0" rIns="0" bIns="0" rtlCol="0" anchor="ctr"/>
          <a:lstStyle/>
          <a:p>
            <a:pPr indent="0" marL="0">
              <a:buNone/>
            </a:pPr>
            <a:r>
              <a:rPr lang="en-US" sz="3400" b="1" dirty="0">
                <a:solidFill>
                  <a:srgbClr val="14301F"/>
                </a:solidFill>
                <a:latin typeface="Cambria" pitchFamily="34" charset="0"/>
                <a:ea typeface="Cambria" pitchFamily="34" charset="-122"/>
                <a:cs typeface="Cambria" pitchFamily="34" charset="-120"/>
              </a:rPr>
              <a:t>Which data we used</a:t>
            </a:r>
            <a:endParaRPr lang="en-US" sz="3400" dirty="0"/>
          </a:p>
        </p:txBody>
      </p:sp>
      <p:sp>
        <p:nvSpPr>
          <p:cNvPr id="3" name="Text 1"/>
          <p:cNvSpPr txBox="1"/>
          <p:nvPr/>
        </p:nvSpPr>
        <p:spPr>
          <a:xfrm>
            <a:off x="548640" y="1042416"/>
            <a:ext cx="10725912" cy="402336"/>
          </a:xfrm>
          <a:prstGeom prst="rect">
            <a:avLst/>
          </a:prstGeom>
          <a:noFill/>
          <a:ln/>
        </p:spPr>
        <p:txBody>
          <a:bodyPr wrap="square" lIns="0" tIns="0" rIns="0" bIns="0" rtlCol="0" anchor="ctr"/>
          <a:lstStyle/>
          <a:p>
            <a:pPr indent="0" marL="0">
              <a:buNone/>
            </a:pPr>
            <a:r>
              <a:rPr lang="en-US" sz="1450" dirty="0">
                <a:solidFill>
                  <a:srgbClr val="5A6A61"/>
                </a:solidFill>
                <a:latin typeface="Calibri" pitchFamily="34" charset="0"/>
                <a:ea typeface="Calibri" pitchFamily="34" charset="-122"/>
                <a:cs typeface="Calibri" pitchFamily="34" charset="-120"/>
              </a:rPr>
              <a:t>Three kinds of data go into this project — and one kind we could not get.</a:t>
            </a:r>
            <a:endParaRPr lang="en-US" sz="1450" dirty="0"/>
          </a:p>
        </p:txBody>
      </p:sp>
      <p:sp>
        <p:nvSpPr>
          <p:cNvPr id="4" name="Shape 2"/>
          <p:cNvSpPr/>
          <p:nvPr/>
        </p:nvSpPr>
        <p:spPr>
          <a:xfrm>
            <a:off x="548640" y="1737360"/>
            <a:ext cx="5394960" cy="2103120"/>
          </a:xfrm>
          <a:prstGeom prst="roundRect">
            <a:avLst>
              <a:gd name="adj" fmla="val 4348"/>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 name="Shape 3"/>
          <p:cNvSpPr/>
          <p:nvPr/>
        </p:nvSpPr>
        <p:spPr>
          <a:xfrm>
            <a:off x="768096" y="1975104"/>
            <a:ext cx="384048" cy="384048"/>
          </a:xfrm>
          <a:prstGeom prst="ellipse">
            <a:avLst/>
          </a:prstGeom>
          <a:solidFill>
            <a:srgbClr val="2C5F2D"/>
          </a:solidFill>
          <a:ln w="12700">
            <a:solidFill>
              <a:srgbClr val="2C5F2D"/>
            </a:solidFill>
            <a:prstDash val="solid"/>
          </a:ln>
        </p:spPr>
      </p:sp>
      <p:sp>
        <p:nvSpPr>
          <p:cNvPr id="6" name="Text 4"/>
          <p:cNvSpPr txBox="1"/>
          <p:nvPr/>
        </p:nvSpPr>
        <p:spPr>
          <a:xfrm>
            <a:off x="768096" y="1975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80160" y="1956816"/>
            <a:ext cx="4480560" cy="42062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Irrigation data — for training</a:t>
            </a:r>
            <a:endParaRPr lang="en-US" sz="1500" dirty="0"/>
          </a:p>
        </p:txBody>
      </p:sp>
      <p:sp>
        <p:nvSpPr>
          <p:cNvPr id="8" name="Text 6"/>
          <p:cNvSpPr txBox="1"/>
          <p:nvPr/>
        </p:nvSpPr>
        <p:spPr>
          <a:xfrm>
            <a:off x="768096" y="2523744"/>
            <a:ext cx="4956048" cy="117043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12,000 rows of example situations.</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Each row has weather, soil and crop stage, and the correct</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water amount. The computer generated these rows using a</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standard water formula. This is what the ML model learns from.</a:t>
            </a:r>
            <a:endParaRPr lang="en-US" sz="1250" dirty="0"/>
          </a:p>
        </p:txBody>
      </p:sp>
      <p:sp>
        <p:nvSpPr>
          <p:cNvPr id="9" name="Shape 7"/>
          <p:cNvSpPr/>
          <p:nvPr/>
        </p:nvSpPr>
        <p:spPr>
          <a:xfrm>
            <a:off x="6245352" y="1737360"/>
            <a:ext cx="5394960" cy="2103120"/>
          </a:xfrm>
          <a:prstGeom prst="roundRect">
            <a:avLst>
              <a:gd name="adj" fmla="val 4348"/>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0" name="Shape 8"/>
          <p:cNvSpPr/>
          <p:nvPr/>
        </p:nvSpPr>
        <p:spPr>
          <a:xfrm>
            <a:off x="6464808" y="1975104"/>
            <a:ext cx="384048" cy="384048"/>
          </a:xfrm>
          <a:prstGeom prst="ellipse">
            <a:avLst/>
          </a:prstGeom>
          <a:solidFill>
            <a:srgbClr val="2C5F2D"/>
          </a:solidFill>
          <a:ln w="12700">
            <a:solidFill>
              <a:srgbClr val="2C5F2D"/>
            </a:solidFill>
            <a:prstDash val="solid"/>
          </a:ln>
        </p:spPr>
      </p:sp>
      <p:sp>
        <p:nvSpPr>
          <p:cNvPr id="11" name="Text 9"/>
          <p:cNvSpPr txBox="1"/>
          <p:nvPr/>
        </p:nvSpPr>
        <p:spPr>
          <a:xfrm>
            <a:off x="6464808" y="1975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976872" y="1956816"/>
            <a:ext cx="4480560" cy="42062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Knowledge files — the book knowledge</a:t>
            </a:r>
            <a:endParaRPr lang="en-US" sz="1500" dirty="0"/>
          </a:p>
        </p:txBody>
      </p:sp>
      <p:sp>
        <p:nvSpPr>
          <p:cNvPr id="13" name="Text 11"/>
          <p:cNvSpPr txBox="1"/>
          <p:nvPr/>
        </p:nvSpPr>
        <p:spPr>
          <a:xfrm>
            <a:off x="6464808" y="2523744"/>
            <a:ext cx="4956048" cy="117043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4 files we wrote by hand, holding the farming knowledge:</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12 sugarcane varieties, 7 diseases, 6 soil types and</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5 growth stages. All the advice the app gives comes from here,</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so a farming expert can correct it without touching the code.</a:t>
            </a:r>
            <a:endParaRPr lang="en-US" sz="1250" dirty="0"/>
          </a:p>
        </p:txBody>
      </p:sp>
      <p:sp>
        <p:nvSpPr>
          <p:cNvPr id="14" name="Shape 12"/>
          <p:cNvSpPr/>
          <p:nvPr/>
        </p:nvSpPr>
        <p:spPr>
          <a:xfrm>
            <a:off x="548640" y="4059936"/>
            <a:ext cx="5394960" cy="2103120"/>
          </a:xfrm>
          <a:prstGeom prst="roundRect">
            <a:avLst>
              <a:gd name="adj" fmla="val 4348"/>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15" name="Shape 13"/>
          <p:cNvSpPr/>
          <p:nvPr/>
        </p:nvSpPr>
        <p:spPr>
          <a:xfrm>
            <a:off x="768096" y="4297680"/>
            <a:ext cx="384048" cy="384048"/>
          </a:xfrm>
          <a:prstGeom prst="ellipse">
            <a:avLst/>
          </a:prstGeom>
          <a:solidFill>
            <a:srgbClr val="9A5B08"/>
          </a:solidFill>
          <a:ln w="12700">
            <a:solidFill>
              <a:srgbClr val="9A5B08"/>
            </a:solidFill>
            <a:prstDash val="solid"/>
          </a:ln>
        </p:spPr>
      </p:sp>
      <p:sp>
        <p:nvSpPr>
          <p:cNvPr id="16" name="Text 14"/>
          <p:cNvSpPr txBox="1"/>
          <p:nvPr/>
        </p:nvSpPr>
        <p:spPr>
          <a:xfrm>
            <a:off x="768096" y="4297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80160" y="4279392"/>
            <a:ext cx="4480560" cy="42062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Photos — we could not get a good set</a:t>
            </a:r>
            <a:endParaRPr lang="en-US" sz="1500" dirty="0"/>
          </a:p>
        </p:txBody>
      </p:sp>
      <p:sp>
        <p:nvSpPr>
          <p:cNvPr id="18" name="Text 16"/>
          <p:cNvSpPr txBox="1"/>
          <p:nvPr/>
        </p:nvSpPr>
        <p:spPr>
          <a:xfrm>
            <a:off x="768096" y="4846320"/>
            <a:ext cx="4956048" cy="117043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There is no reliable, correctly-labelled set of sugarcane</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disease photos available. So instead of faking a trained model,</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disease and soil use simple colour and texture rules, and every</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such result is clearly marked "DEMO" in the app.</a:t>
            </a:r>
            <a:endParaRPr lang="en-US" sz="1250" dirty="0"/>
          </a:p>
        </p:txBody>
      </p:sp>
      <p:sp>
        <p:nvSpPr>
          <p:cNvPr id="19" name="Shape 17"/>
          <p:cNvSpPr/>
          <p:nvPr/>
        </p:nvSpPr>
        <p:spPr>
          <a:xfrm>
            <a:off x="6245352" y="4059936"/>
            <a:ext cx="5394960" cy="2103120"/>
          </a:xfrm>
          <a:prstGeom prst="roundRect">
            <a:avLst>
              <a:gd name="adj" fmla="val 4348"/>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20" name="Shape 18"/>
          <p:cNvSpPr/>
          <p:nvPr/>
        </p:nvSpPr>
        <p:spPr>
          <a:xfrm>
            <a:off x="6464808" y="4297680"/>
            <a:ext cx="384048" cy="384048"/>
          </a:xfrm>
          <a:prstGeom prst="ellipse">
            <a:avLst/>
          </a:prstGeom>
          <a:solidFill>
            <a:srgbClr val="3F7A45"/>
          </a:solidFill>
          <a:ln w="12700">
            <a:solidFill>
              <a:srgbClr val="3F7A45"/>
            </a:solidFill>
            <a:prstDash val="solid"/>
          </a:ln>
        </p:spPr>
      </p:sp>
      <p:sp>
        <p:nvSpPr>
          <p:cNvPr id="21" name="Text 19"/>
          <p:cNvSpPr txBox="1"/>
          <p:nvPr/>
        </p:nvSpPr>
        <p:spPr>
          <a:xfrm>
            <a:off x="6464808" y="4297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76872" y="4279392"/>
            <a:ext cx="4480560" cy="420624"/>
          </a:xfrm>
          <a:prstGeom prst="rect">
            <a:avLst/>
          </a:prstGeom>
          <a:noFill/>
          <a:ln/>
        </p:spPr>
        <p:txBody>
          <a:bodyPr wrap="square" lIns="0" tIns="0" rIns="0" bIns="0" rtlCol="0" anchor="ctr"/>
          <a:lstStyle/>
          <a:p>
            <a:pPr indent="0" marL="0">
              <a:buNone/>
            </a:pPr>
            <a:r>
              <a:rPr lang="en-US" sz="1500" b="1" dirty="0">
                <a:solidFill>
                  <a:srgbClr val="14301F"/>
                </a:solidFill>
                <a:latin typeface="Calibri" pitchFamily="34" charset="0"/>
                <a:ea typeface="Calibri" pitchFamily="34" charset="-122"/>
                <a:cs typeface="Calibri" pitchFamily="34" charset="-120"/>
              </a:rPr>
              <a:t>Your own results — created as you use it</a:t>
            </a:r>
            <a:endParaRPr lang="en-US" sz="1500" dirty="0"/>
          </a:p>
        </p:txBody>
      </p:sp>
      <p:sp>
        <p:nvSpPr>
          <p:cNvPr id="23" name="Text 21"/>
          <p:cNvSpPr txBox="1"/>
          <p:nvPr/>
        </p:nvSpPr>
        <p:spPr>
          <a:xfrm>
            <a:off x="6464808" y="4846320"/>
            <a:ext cx="4956048" cy="1170432"/>
          </a:xfrm>
          <a:prstGeom prst="rect">
            <a:avLst/>
          </a:prstGeom>
          <a:noFill/>
          <a:ln/>
        </p:spPr>
        <p:txBody>
          <a:bodyPr wrap="square" lIns="0" tIns="0" rIns="0" bIns="0" rtlCol="0" anchor="ctr"/>
          <a:lstStyle/>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Every answer the app gives is saved to your account.</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This becomes your own small dataset over time, and it is what</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the history chart and the assistant read from when they</a:t>
            </a:r>
            <a:endParaRPr lang="en-US" sz="1250" dirty="0"/>
          </a:p>
          <a:p>
            <a:pPr indent="0" marL="0">
              <a:lnSpc>
                <a:spcPts val="1700"/>
              </a:lnSpc>
              <a:buNone/>
            </a:pPr>
            <a:r>
              <a:rPr lang="en-US" sz="1250" dirty="0">
                <a:solidFill>
                  <a:srgbClr val="26332C"/>
                </a:solidFill>
                <a:latin typeface="Calibri" pitchFamily="34" charset="0"/>
                <a:ea typeface="Calibri" pitchFamily="34" charset="-122"/>
                <a:cs typeface="Calibri" pitchFamily="34" charset="-120"/>
              </a:rPr>
              <a:t>tell you whether the crop is improving.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21792"/>
          </a:xfrm>
          <a:prstGeom prst="rect">
            <a:avLst/>
          </a:prstGeom>
          <a:noFill/>
          <a:ln/>
        </p:spPr>
        <p:txBody>
          <a:bodyPr wrap="square" lIns="0" tIns="0" rIns="0" bIns="0" rtlCol="0" anchor="ctr"/>
          <a:lstStyle/>
          <a:p>
            <a:pPr indent="0" marL="0">
              <a:buNone/>
            </a:pPr>
            <a:r>
              <a:rPr lang="en-US" sz="3400" b="1" dirty="0">
                <a:solidFill>
                  <a:srgbClr val="14301F"/>
                </a:solidFill>
                <a:latin typeface="Cambria" pitchFamily="34" charset="0"/>
                <a:ea typeface="Cambria" pitchFamily="34" charset="-122"/>
                <a:cs typeface="Cambria" pitchFamily="34" charset="-120"/>
              </a:rPr>
              <a:t>Which method each feature uses</a:t>
            </a:r>
            <a:endParaRPr lang="en-US" sz="3400" dirty="0"/>
          </a:p>
        </p:txBody>
      </p:sp>
      <p:sp>
        <p:nvSpPr>
          <p:cNvPr id="3" name="Text 1"/>
          <p:cNvSpPr txBox="1"/>
          <p:nvPr/>
        </p:nvSpPr>
        <p:spPr>
          <a:xfrm>
            <a:off x="548640" y="1042416"/>
            <a:ext cx="10725912" cy="402336"/>
          </a:xfrm>
          <a:prstGeom prst="rect">
            <a:avLst/>
          </a:prstGeom>
          <a:noFill/>
          <a:ln/>
        </p:spPr>
        <p:txBody>
          <a:bodyPr wrap="square" lIns="0" tIns="0" rIns="0" bIns="0" rtlCol="0" anchor="ctr"/>
          <a:lstStyle/>
          <a:p>
            <a:pPr indent="0" marL="0">
              <a:buNone/>
            </a:pPr>
            <a:r>
              <a:rPr lang="en-US" sz="1450" dirty="0">
                <a:solidFill>
                  <a:srgbClr val="5A6A61"/>
                </a:solidFill>
                <a:latin typeface="Calibri" pitchFamily="34" charset="0"/>
                <a:ea typeface="Calibri" pitchFamily="34" charset="-122"/>
                <a:cs typeface="Calibri" pitchFamily="34" charset="-120"/>
              </a:rPr>
              <a:t>Only irrigation uses real machine learning. The rest use formulas and rules — and we say so.</a:t>
            </a:r>
            <a:endParaRPr lang="en-US" sz="1450" dirty="0"/>
          </a:p>
        </p:txBody>
      </p:sp>
      <p:sp>
        <p:nvSpPr>
          <p:cNvPr id="4" name="Shape 2"/>
          <p:cNvSpPr/>
          <p:nvPr/>
        </p:nvSpPr>
        <p:spPr>
          <a:xfrm>
            <a:off x="548640" y="1691640"/>
            <a:ext cx="11091672" cy="530352"/>
          </a:xfrm>
          <a:prstGeom prst="roundRect">
            <a:avLst>
              <a:gd name="adj" fmla="val 17241"/>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5" name="Shape 3"/>
          <p:cNvSpPr/>
          <p:nvPr/>
        </p:nvSpPr>
        <p:spPr>
          <a:xfrm>
            <a:off x="713232" y="1801368"/>
            <a:ext cx="310896" cy="310896"/>
          </a:xfrm>
          <a:prstGeom prst="ellipse">
            <a:avLst/>
          </a:prstGeom>
          <a:solidFill>
            <a:srgbClr val="2C5F2D"/>
          </a:solidFill>
          <a:ln w="12700">
            <a:solidFill>
              <a:srgbClr val="2C5F2D"/>
            </a:solidFill>
            <a:prstDash val="solid"/>
          </a:ln>
        </p:spPr>
      </p:sp>
      <p:sp>
        <p:nvSpPr>
          <p:cNvPr id="6" name="Text 4"/>
          <p:cNvSpPr txBox="1"/>
          <p:nvPr/>
        </p:nvSpPr>
        <p:spPr>
          <a:xfrm>
            <a:off x="713232" y="180136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115568" y="1691640"/>
            <a:ext cx="1828800" cy="530352"/>
          </a:xfrm>
          <a:prstGeom prst="rect">
            <a:avLst/>
          </a:prstGeom>
          <a:noFill/>
          <a:ln/>
        </p:spPr>
        <p:txBody>
          <a:bodyPr wrap="square" lIns="0" tIns="0" rIns="0" bIns="0" rtlCol="0" anchor="ctr"/>
          <a:lstStyle/>
          <a:p>
            <a:pPr indent="0" marL="0">
              <a:buNone/>
            </a:pPr>
            <a:r>
              <a:rPr lang="en-US" sz="1300" b="1" dirty="0">
                <a:solidFill>
                  <a:srgbClr val="14301F"/>
                </a:solidFill>
                <a:latin typeface="Calibri" pitchFamily="34" charset="0"/>
                <a:ea typeface="Calibri" pitchFamily="34" charset="-122"/>
                <a:cs typeface="Calibri" pitchFamily="34" charset="-120"/>
              </a:rPr>
              <a:t>Irrigation</a:t>
            </a:r>
            <a:endParaRPr lang="en-US" sz="1300" dirty="0"/>
          </a:p>
        </p:txBody>
      </p:sp>
      <p:sp>
        <p:nvSpPr>
          <p:cNvPr id="8" name="Shape 6"/>
          <p:cNvSpPr/>
          <p:nvPr/>
        </p:nvSpPr>
        <p:spPr>
          <a:xfrm>
            <a:off x="3017520" y="1801368"/>
            <a:ext cx="1783080" cy="310896"/>
          </a:xfrm>
          <a:prstGeom prst="roundRect">
            <a:avLst>
              <a:gd name="adj" fmla="val 23529"/>
            </a:avLst>
          </a:prstGeom>
          <a:solidFill>
            <a:srgbClr val="2C5F2D"/>
          </a:solidFill>
          <a:ln w="12700">
            <a:solidFill>
              <a:srgbClr val="2C5F2D"/>
            </a:solidFill>
            <a:prstDash val="solid"/>
          </a:ln>
        </p:spPr>
      </p:sp>
      <p:sp>
        <p:nvSpPr>
          <p:cNvPr id="9" name="Text 7"/>
          <p:cNvSpPr txBox="1"/>
          <p:nvPr/>
        </p:nvSpPr>
        <p:spPr>
          <a:xfrm>
            <a:off x="3017520" y="1801368"/>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Machine Learning</a:t>
            </a:r>
            <a:endParaRPr lang="en-US" sz="950" dirty="0"/>
          </a:p>
        </p:txBody>
      </p:sp>
      <p:sp>
        <p:nvSpPr>
          <p:cNvPr id="10" name="Text 8"/>
          <p:cNvSpPr txBox="1"/>
          <p:nvPr/>
        </p:nvSpPr>
        <p:spPr>
          <a:xfrm>
            <a:off x="4983480" y="1691640"/>
            <a:ext cx="6473952" cy="530352"/>
          </a:xfrm>
          <a:prstGeom prst="rect">
            <a:avLst/>
          </a:prstGeom>
          <a:noFill/>
          <a:ln/>
        </p:spPr>
        <p:txBody>
          <a:bodyPr wrap="square" lIns="0" tIns="0" rIns="0" bIns="0" rtlCol="0" anchor="ctr"/>
          <a:lstStyle/>
          <a:p>
            <a:pPr indent="0" marL="0">
              <a:buNone/>
            </a:pPr>
            <a:r>
              <a:rPr lang="en-US" sz="1200" dirty="0">
                <a:solidFill>
                  <a:srgbClr val="26332C"/>
                </a:solidFill>
                <a:latin typeface="Calibri" pitchFamily="34" charset="0"/>
                <a:ea typeface="Calibri" pitchFamily="34" charset="-122"/>
                <a:cs typeface="Calibri" pitchFamily="34" charset="-120"/>
              </a:rPr>
              <a:t>Random Forest — it learned from the 12,000 examples how much water is needed</a:t>
            </a:r>
            <a:endParaRPr lang="en-US" sz="1200" dirty="0"/>
          </a:p>
        </p:txBody>
      </p:sp>
      <p:sp>
        <p:nvSpPr>
          <p:cNvPr id="11" name="Shape 9"/>
          <p:cNvSpPr/>
          <p:nvPr/>
        </p:nvSpPr>
        <p:spPr>
          <a:xfrm>
            <a:off x="548640" y="2295144"/>
            <a:ext cx="11091672" cy="530352"/>
          </a:xfrm>
          <a:prstGeom prst="roundRect">
            <a:avLst>
              <a:gd name="adj" fmla="val 17241"/>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12" name="Shape 10"/>
          <p:cNvSpPr/>
          <p:nvPr/>
        </p:nvSpPr>
        <p:spPr>
          <a:xfrm>
            <a:off x="713232" y="2404872"/>
            <a:ext cx="310896" cy="310896"/>
          </a:xfrm>
          <a:prstGeom prst="ellipse">
            <a:avLst/>
          </a:prstGeom>
          <a:solidFill>
            <a:srgbClr val="2C5F2D"/>
          </a:solidFill>
          <a:ln w="12700">
            <a:solidFill>
              <a:srgbClr val="2C5F2D"/>
            </a:solidFill>
            <a:prstDash val="solid"/>
          </a:ln>
        </p:spPr>
      </p:sp>
      <p:sp>
        <p:nvSpPr>
          <p:cNvPr id="13" name="Text 11"/>
          <p:cNvSpPr txBox="1"/>
          <p:nvPr/>
        </p:nvSpPr>
        <p:spPr>
          <a:xfrm>
            <a:off x="713232" y="2404872"/>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4" name="Text 12"/>
          <p:cNvSpPr txBox="1"/>
          <p:nvPr/>
        </p:nvSpPr>
        <p:spPr>
          <a:xfrm>
            <a:off x="1115568" y="2295144"/>
            <a:ext cx="1828800" cy="530352"/>
          </a:xfrm>
          <a:prstGeom prst="rect">
            <a:avLst/>
          </a:prstGeom>
          <a:noFill/>
          <a:ln/>
        </p:spPr>
        <p:txBody>
          <a:bodyPr wrap="square" lIns="0" tIns="0" rIns="0" bIns="0" rtlCol="0" anchor="ctr"/>
          <a:lstStyle/>
          <a:p>
            <a:pPr indent="0" marL="0">
              <a:buNone/>
            </a:pPr>
            <a:r>
              <a:rPr lang="en-US" sz="1300" b="1" dirty="0">
                <a:solidFill>
                  <a:srgbClr val="14301F"/>
                </a:solidFill>
                <a:latin typeface="Calibri" pitchFamily="34" charset="0"/>
                <a:ea typeface="Calibri" pitchFamily="34" charset="-122"/>
                <a:cs typeface="Calibri" pitchFamily="34" charset="-120"/>
              </a:rPr>
              <a:t>Water amount</a:t>
            </a:r>
            <a:endParaRPr lang="en-US" sz="1300" dirty="0"/>
          </a:p>
        </p:txBody>
      </p:sp>
      <p:sp>
        <p:nvSpPr>
          <p:cNvPr id="15" name="Shape 13"/>
          <p:cNvSpPr/>
          <p:nvPr/>
        </p:nvSpPr>
        <p:spPr>
          <a:xfrm>
            <a:off x="3017520" y="2404872"/>
            <a:ext cx="1783080" cy="310896"/>
          </a:xfrm>
          <a:prstGeom prst="roundRect">
            <a:avLst>
              <a:gd name="adj" fmla="val 23529"/>
            </a:avLst>
          </a:prstGeom>
          <a:solidFill>
            <a:srgbClr val="2C5F2D"/>
          </a:solidFill>
          <a:ln w="12700">
            <a:solidFill>
              <a:srgbClr val="2C5F2D"/>
            </a:solidFill>
            <a:prstDash val="solid"/>
          </a:ln>
        </p:spPr>
      </p:sp>
      <p:sp>
        <p:nvSpPr>
          <p:cNvPr id="16" name="Text 14"/>
          <p:cNvSpPr txBox="1"/>
          <p:nvPr/>
        </p:nvSpPr>
        <p:spPr>
          <a:xfrm>
            <a:off x="3017520" y="2404872"/>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Formula</a:t>
            </a:r>
            <a:endParaRPr lang="en-US" sz="950" dirty="0"/>
          </a:p>
        </p:txBody>
      </p:sp>
      <p:sp>
        <p:nvSpPr>
          <p:cNvPr id="17" name="Text 15"/>
          <p:cNvSpPr txBox="1"/>
          <p:nvPr/>
        </p:nvSpPr>
        <p:spPr>
          <a:xfrm>
            <a:off x="4983480" y="2295144"/>
            <a:ext cx="6473952" cy="530352"/>
          </a:xfrm>
          <a:prstGeom prst="rect">
            <a:avLst/>
          </a:prstGeom>
          <a:noFill/>
          <a:ln/>
        </p:spPr>
        <p:txBody>
          <a:bodyPr wrap="square" lIns="0" tIns="0" rIns="0" bIns="0" rtlCol="0" anchor="ctr"/>
          <a:lstStyle/>
          <a:p>
            <a:pPr indent="0" marL="0">
              <a:buNone/>
            </a:pPr>
            <a:r>
              <a:rPr lang="en-US" sz="1200" dirty="0">
                <a:solidFill>
                  <a:srgbClr val="26332C"/>
                </a:solidFill>
                <a:latin typeface="Calibri" pitchFamily="34" charset="0"/>
                <a:ea typeface="Calibri" pitchFamily="34" charset="-122"/>
                <a:cs typeface="Calibri" pitchFamily="34" charset="-120"/>
              </a:rPr>
              <a:t>Water needed = what the crop uses − the rain that fell. Standard agriculture method</a:t>
            </a:r>
            <a:endParaRPr lang="en-US" sz="1200" dirty="0"/>
          </a:p>
        </p:txBody>
      </p:sp>
      <p:sp>
        <p:nvSpPr>
          <p:cNvPr id="18" name="Shape 16"/>
          <p:cNvSpPr/>
          <p:nvPr/>
        </p:nvSpPr>
        <p:spPr>
          <a:xfrm>
            <a:off x="548640" y="2898648"/>
            <a:ext cx="11091672" cy="530352"/>
          </a:xfrm>
          <a:prstGeom prst="roundRect">
            <a:avLst>
              <a:gd name="adj" fmla="val 17241"/>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19" name="Shape 17"/>
          <p:cNvSpPr/>
          <p:nvPr/>
        </p:nvSpPr>
        <p:spPr>
          <a:xfrm>
            <a:off x="713232" y="3008376"/>
            <a:ext cx="310896" cy="310896"/>
          </a:xfrm>
          <a:prstGeom prst="ellipse">
            <a:avLst/>
          </a:prstGeom>
          <a:solidFill>
            <a:srgbClr val="9A5B08"/>
          </a:solidFill>
          <a:ln w="12700">
            <a:solidFill>
              <a:srgbClr val="9A5B08"/>
            </a:solidFill>
            <a:prstDash val="solid"/>
          </a:ln>
        </p:spPr>
      </p:sp>
      <p:sp>
        <p:nvSpPr>
          <p:cNvPr id="20" name="Text 18"/>
          <p:cNvSpPr txBox="1"/>
          <p:nvPr/>
        </p:nvSpPr>
        <p:spPr>
          <a:xfrm>
            <a:off x="713232" y="300837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1" name="Text 19"/>
          <p:cNvSpPr txBox="1"/>
          <p:nvPr/>
        </p:nvSpPr>
        <p:spPr>
          <a:xfrm>
            <a:off x="1115568" y="2898648"/>
            <a:ext cx="1828800" cy="530352"/>
          </a:xfrm>
          <a:prstGeom prst="rect">
            <a:avLst/>
          </a:prstGeom>
          <a:noFill/>
          <a:ln/>
        </p:spPr>
        <p:txBody>
          <a:bodyPr wrap="square" lIns="0" tIns="0" rIns="0" bIns="0" rtlCol="0" anchor="ctr"/>
          <a:lstStyle/>
          <a:p>
            <a:pPr indent="0" marL="0">
              <a:buNone/>
            </a:pPr>
            <a:r>
              <a:rPr lang="en-US" sz="1300" b="1" dirty="0">
                <a:solidFill>
                  <a:srgbClr val="14301F"/>
                </a:solidFill>
                <a:latin typeface="Calibri" pitchFamily="34" charset="0"/>
                <a:ea typeface="Calibri" pitchFamily="34" charset="-122"/>
                <a:cs typeface="Calibri" pitchFamily="34" charset="-120"/>
              </a:rPr>
              <a:t>Disease</a:t>
            </a:r>
            <a:endParaRPr lang="en-US" sz="1300" dirty="0"/>
          </a:p>
        </p:txBody>
      </p:sp>
      <p:sp>
        <p:nvSpPr>
          <p:cNvPr id="22" name="Shape 20"/>
          <p:cNvSpPr/>
          <p:nvPr/>
        </p:nvSpPr>
        <p:spPr>
          <a:xfrm>
            <a:off x="3017520" y="3008376"/>
            <a:ext cx="1783080" cy="310896"/>
          </a:xfrm>
          <a:prstGeom prst="roundRect">
            <a:avLst>
              <a:gd name="adj" fmla="val 23529"/>
            </a:avLst>
          </a:prstGeom>
          <a:solidFill>
            <a:srgbClr val="9A5B08"/>
          </a:solidFill>
          <a:ln w="12700">
            <a:solidFill>
              <a:srgbClr val="9A5B08"/>
            </a:solidFill>
            <a:prstDash val="solid"/>
          </a:ln>
        </p:spPr>
      </p:sp>
      <p:sp>
        <p:nvSpPr>
          <p:cNvPr id="23" name="Text 21"/>
          <p:cNvSpPr txBox="1"/>
          <p:nvPr/>
        </p:nvSpPr>
        <p:spPr>
          <a:xfrm>
            <a:off x="3017520" y="3008376"/>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Image rules  (DEMO)</a:t>
            </a:r>
            <a:endParaRPr lang="en-US" sz="950" dirty="0"/>
          </a:p>
        </p:txBody>
      </p:sp>
      <p:sp>
        <p:nvSpPr>
          <p:cNvPr id="24" name="Text 22"/>
          <p:cNvSpPr txBox="1"/>
          <p:nvPr/>
        </p:nvSpPr>
        <p:spPr>
          <a:xfrm>
            <a:off x="4983480" y="2898648"/>
            <a:ext cx="6473952" cy="530352"/>
          </a:xfrm>
          <a:prstGeom prst="rect">
            <a:avLst/>
          </a:prstGeom>
          <a:noFill/>
          <a:ln/>
        </p:spPr>
        <p:txBody>
          <a:bodyPr wrap="square" lIns="0" tIns="0" rIns="0" bIns="0" rtlCol="0" anchor="ctr"/>
          <a:lstStyle/>
          <a:p>
            <a:pPr indent="0" marL="0">
              <a:buNone/>
            </a:pPr>
            <a:r>
              <a:rPr lang="en-US" sz="1200" dirty="0">
                <a:solidFill>
                  <a:srgbClr val="26332C"/>
                </a:solidFill>
                <a:latin typeface="Calibri" pitchFamily="34" charset="0"/>
                <a:ea typeface="Calibri" pitchFamily="34" charset="-122"/>
                <a:cs typeface="Calibri" pitchFamily="34" charset="-120"/>
              </a:rPr>
              <a:t>Measures how much of the leaf is brown, yellow or spotted, then matches a disease</a:t>
            </a:r>
            <a:endParaRPr lang="en-US" sz="1200" dirty="0"/>
          </a:p>
        </p:txBody>
      </p:sp>
      <p:sp>
        <p:nvSpPr>
          <p:cNvPr id="25" name="Shape 23"/>
          <p:cNvSpPr/>
          <p:nvPr/>
        </p:nvSpPr>
        <p:spPr>
          <a:xfrm>
            <a:off x="548640" y="3502152"/>
            <a:ext cx="11091672" cy="530352"/>
          </a:xfrm>
          <a:prstGeom prst="roundRect">
            <a:avLst>
              <a:gd name="adj" fmla="val 17241"/>
            </a:avLst>
          </a:prstGeom>
          <a:solidFill>
            <a:srgbClr val="FCF6E8"/>
          </a:solidFill>
          <a:ln w="12700">
            <a:solidFill>
              <a:srgbClr val="EBD9AC"/>
            </a:solidFill>
            <a:prstDash val="solid"/>
          </a:ln>
          <a:effectLst>
            <a:outerShdw sx="100000" sy="100000" kx="0" ky="0" algn="bl" rotWithShape="0" blurRad="127000" dist="25400" dir="5400000">
              <a:srgbClr val="2C5F2D">
                <a:alpha val="13000"/>
              </a:srgbClr>
            </a:outerShdw>
          </a:effectLst>
        </p:spPr>
      </p:sp>
      <p:sp>
        <p:nvSpPr>
          <p:cNvPr id="26" name="Shape 24"/>
          <p:cNvSpPr/>
          <p:nvPr/>
        </p:nvSpPr>
        <p:spPr>
          <a:xfrm>
            <a:off x="713232" y="3611880"/>
            <a:ext cx="310896" cy="310896"/>
          </a:xfrm>
          <a:prstGeom prst="ellipse">
            <a:avLst/>
          </a:prstGeom>
          <a:solidFill>
            <a:srgbClr val="9A5B08"/>
          </a:solidFill>
          <a:ln w="12700">
            <a:solidFill>
              <a:srgbClr val="9A5B08"/>
            </a:solidFill>
            <a:prstDash val="solid"/>
          </a:ln>
        </p:spPr>
      </p:sp>
      <p:sp>
        <p:nvSpPr>
          <p:cNvPr id="27" name="Text 25"/>
          <p:cNvSpPr txBox="1"/>
          <p:nvPr/>
        </p:nvSpPr>
        <p:spPr>
          <a:xfrm>
            <a:off x="713232" y="3611880"/>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1115568" y="3502152"/>
            <a:ext cx="1828800" cy="530352"/>
          </a:xfrm>
          <a:prstGeom prst="rect">
            <a:avLst/>
          </a:prstGeom>
          <a:noFill/>
          <a:ln/>
        </p:spPr>
        <p:txBody>
          <a:bodyPr wrap="square" lIns="0" tIns="0" rIns="0" bIns="0" rtlCol="0" anchor="ctr"/>
          <a:lstStyle/>
          <a:p>
            <a:pPr indent="0" marL="0">
              <a:buNone/>
            </a:pPr>
            <a:r>
              <a:rPr lang="en-US" sz="1300" b="1" dirty="0">
                <a:solidFill>
                  <a:srgbClr val="14301F"/>
                </a:solidFill>
                <a:latin typeface="Calibri" pitchFamily="34" charset="0"/>
                <a:ea typeface="Calibri" pitchFamily="34" charset="-122"/>
                <a:cs typeface="Calibri" pitchFamily="34" charset="-120"/>
              </a:rPr>
              <a:t>Soil</a:t>
            </a:r>
            <a:endParaRPr lang="en-US" sz="1300" dirty="0"/>
          </a:p>
        </p:txBody>
      </p:sp>
      <p:sp>
        <p:nvSpPr>
          <p:cNvPr id="29" name="Shape 27"/>
          <p:cNvSpPr/>
          <p:nvPr/>
        </p:nvSpPr>
        <p:spPr>
          <a:xfrm>
            <a:off x="3017520" y="3611880"/>
            <a:ext cx="1783080" cy="310896"/>
          </a:xfrm>
          <a:prstGeom prst="roundRect">
            <a:avLst>
              <a:gd name="adj" fmla="val 23529"/>
            </a:avLst>
          </a:prstGeom>
          <a:solidFill>
            <a:srgbClr val="9A5B08"/>
          </a:solidFill>
          <a:ln w="12700">
            <a:solidFill>
              <a:srgbClr val="9A5B08"/>
            </a:solidFill>
            <a:prstDash val="solid"/>
          </a:ln>
        </p:spPr>
      </p:sp>
      <p:sp>
        <p:nvSpPr>
          <p:cNvPr id="30" name="Text 28"/>
          <p:cNvSpPr txBox="1"/>
          <p:nvPr/>
        </p:nvSpPr>
        <p:spPr>
          <a:xfrm>
            <a:off x="3017520" y="3611880"/>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Image rules  (DEMO)</a:t>
            </a:r>
            <a:endParaRPr lang="en-US" sz="950" dirty="0"/>
          </a:p>
        </p:txBody>
      </p:sp>
      <p:sp>
        <p:nvSpPr>
          <p:cNvPr id="31" name="Text 29"/>
          <p:cNvSpPr txBox="1"/>
          <p:nvPr/>
        </p:nvSpPr>
        <p:spPr>
          <a:xfrm>
            <a:off x="4983480" y="3502152"/>
            <a:ext cx="6473952" cy="530352"/>
          </a:xfrm>
          <a:prstGeom prst="rect">
            <a:avLst/>
          </a:prstGeom>
          <a:noFill/>
          <a:ln/>
        </p:spPr>
        <p:txBody>
          <a:bodyPr wrap="square" lIns="0" tIns="0" rIns="0" bIns="0" rtlCol="0" anchor="ctr"/>
          <a:lstStyle/>
          <a:p>
            <a:pPr indent="0" marL="0">
              <a:buNone/>
            </a:pPr>
            <a:r>
              <a:rPr lang="en-US" sz="1200" dirty="0">
                <a:solidFill>
                  <a:srgbClr val="26332C"/>
                </a:solidFill>
                <a:latin typeface="Calibri" pitchFamily="34" charset="0"/>
                <a:ea typeface="Calibri" pitchFamily="34" charset="-122"/>
                <a:cs typeface="Calibri" pitchFamily="34" charset="-120"/>
              </a:rPr>
              <a:t>Matches the colour and roughness of the photo to the 5 common soil types</a:t>
            </a:r>
            <a:endParaRPr lang="en-US" sz="1200" dirty="0"/>
          </a:p>
        </p:txBody>
      </p:sp>
      <p:sp>
        <p:nvSpPr>
          <p:cNvPr id="32" name="Shape 30"/>
          <p:cNvSpPr/>
          <p:nvPr/>
        </p:nvSpPr>
        <p:spPr>
          <a:xfrm>
            <a:off x="548640" y="4105656"/>
            <a:ext cx="11091672" cy="530352"/>
          </a:xfrm>
          <a:prstGeom prst="roundRect">
            <a:avLst>
              <a:gd name="adj" fmla="val 17241"/>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33" name="Shape 31"/>
          <p:cNvSpPr/>
          <p:nvPr/>
        </p:nvSpPr>
        <p:spPr>
          <a:xfrm>
            <a:off x="713232" y="4215384"/>
            <a:ext cx="310896" cy="310896"/>
          </a:xfrm>
          <a:prstGeom prst="ellipse">
            <a:avLst/>
          </a:prstGeom>
          <a:solidFill>
            <a:srgbClr val="2C5F2D"/>
          </a:solidFill>
          <a:ln w="12700">
            <a:solidFill>
              <a:srgbClr val="2C5F2D"/>
            </a:solidFill>
            <a:prstDash val="solid"/>
          </a:ln>
        </p:spPr>
      </p:sp>
      <p:sp>
        <p:nvSpPr>
          <p:cNvPr id="34" name="Text 32"/>
          <p:cNvSpPr txBox="1"/>
          <p:nvPr/>
        </p:nvSpPr>
        <p:spPr>
          <a:xfrm>
            <a:off x="713232" y="421538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5" name="Text 33"/>
          <p:cNvSpPr txBox="1"/>
          <p:nvPr/>
        </p:nvSpPr>
        <p:spPr>
          <a:xfrm>
            <a:off x="1115568" y="4105656"/>
            <a:ext cx="1828800" cy="530352"/>
          </a:xfrm>
          <a:prstGeom prst="rect">
            <a:avLst/>
          </a:prstGeom>
          <a:noFill/>
          <a:ln/>
        </p:spPr>
        <p:txBody>
          <a:bodyPr wrap="square" lIns="0" tIns="0" rIns="0" bIns="0" rtlCol="0" anchor="ctr"/>
          <a:lstStyle/>
          <a:p>
            <a:pPr indent="0" marL="0">
              <a:buNone/>
            </a:pPr>
            <a:r>
              <a:rPr lang="en-US" sz="1300" b="1" dirty="0">
                <a:solidFill>
                  <a:srgbClr val="14301F"/>
                </a:solidFill>
                <a:latin typeface="Calibri" pitchFamily="34" charset="0"/>
                <a:ea typeface="Calibri" pitchFamily="34" charset="-122"/>
                <a:cs typeface="Calibri" pitchFamily="34" charset="-120"/>
              </a:rPr>
              <a:t>Varieties</a:t>
            </a:r>
            <a:endParaRPr lang="en-US" sz="1300" dirty="0"/>
          </a:p>
        </p:txBody>
      </p:sp>
      <p:sp>
        <p:nvSpPr>
          <p:cNvPr id="36" name="Shape 34"/>
          <p:cNvSpPr/>
          <p:nvPr/>
        </p:nvSpPr>
        <p:spPr>
          <a:xfrm>
            <a:off x="3017520" y="4215384"/>
            <a:ext cx="1783080" cy="310896"/>
          </a:xfrm>
          <a:prstGeom prst="roundRect">
            <a:avLst>
              <a:gd name="adj" fmla="val 23529"/>
            </a:avLst>
          </a:prstGeom>
          <a:solidFill>
            <a:srgbClr val="2C5F2D"/>
          </a:solidFill>
          <a:ln w="12700">
            <a:solidFill>
              <a:srgbClr val="2C5F2D"/>
            </a:solidFill>
            <a:prstDash val="solid"/>
          </a:ln>
        </p:spPr>
      </p:sp>
      <p:sp>
        <p:nvSpPr>
          <p:cNvPr id="37" name="Text 35"/>
          <p:cNvSpPr txBox="1"/>
          <p:nvPr/>
        </p:nvSpPr>
        <p:spPr>
          <a:xfrm>
            <a:off x="3017520" y="4215384"/>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Scoring</a:t>
            </a:r>
            <a:endParaRPr lang="en-US" sz="950" dirty="0"/>
          </a:p>
        </p:txBody>
      </p:sp>
      <p:sp>
        <p:nvSpPr>
          <p:cNvPr id="38" name="Text 36"/>
          <p:cNvSpPr txBox="1"/>
          <p:nvPr/>
        </p:nvSpPr>
        <p:spPr>
          <a:xfrm>
            <a:off x="4983480" y="4105656"/>
            <a:ext cx="6473952" cy="530352"/>
          </a:xfrm>
          <a:prstGeom prst="rect">
            <a:avLst/>
          </a:prstGeom>
          <a:noFill/>
          <a:ln/>
        </p:spPr>
        <p:txBody>
          <a:bodyPr wrap="square" lIns="0" tIns="0" rIns="0" bIns="0" rtlCol="0" anchor="ctr"/>
          <a:lstStyle/>
          <a:p>
            <a:pPr indent="0" marL="0">
              <a:buNone/>
            </a:pPr>
            <a:r>
              <a:rPr lang="en-US" sz="1200" dirty="0">
                <a:solidFill>
                  <a:srgbClr val="26332C"/>
                </a:solidFill>
                <a:latin typeface="Calibri" pitchFamily="34" charset="0"/>
                <a:ea typeface="Calibri" pitchFamily="34" charset="-122"/>
                <a:cs typeface="Calibri" pitchFamily="34" charset="-120"/>
              </a:rPr>
              <a:t>Gives each variety marks out of 100 — soil 30, region 24, water 20, climate 12, rest 14</a:t>
            </a:r>
            <a:endParaRPr lang="en-US" sz="1200" dirty="0"/>
          </a:p>
        </p:txBody>
      </p:sp>
      <p:sp>
        <p:nvSpPr>
          <p:cNvPr id="39" name="Shape 37"/>
          <p:cNvSpPr/>
          <p:nvPr/>
        </p:nvSpPr>
        <p:spPr>
          <a:xfrm>
            <a:off x="548640" y="4709160"/>
            <a:ext cx="11091672" cy="530352"/>
          </a:xfrm>
          <a:prstGeom prst="roundRect">
            <a:avLst>
              <a:gd name="adj" fmla="val 17241"/>
            </a:avLst>
          </a:prstGeom>
          <a:solidFill>
            <a:srgbClr val="F1F5EE"/>
          </a:solidFill>
          <a:ln w="12700">
            <a:solidFill>
              <a:srgbClr val="D6E2C8"/>
            </a:solidFill>
            <a:prstDash val="solid"/>
          </a:ln>
          <a:effectLst>
            <a:outerShdw sx="100000" sy="100000" kx="0" ky="0" algn="bl" rotWithShape="0" blurRad="127000" dist="25400" dir="5400000">
              <a:srgbClr val="2C5F2D">
                <a:alpha val="13000"/>
              </a:srgbClr>
            </a:outerShdw>
          </a:effectLst>
        </p:spPr>
      </p:sp>
      <p:sp>
        <p:nvSpPr>
          <p:cNvPr id="40" name="Shape 38"/>
          <p:cNvSpPr/>
          <p:nvPr/>
        </p:nvSpPr>
        <p:spPr>
          <a:xfrm>
            <a:off x="713232" y="4818888"/>
            <a:ext cx="310896" cy="310896"/>
          </a:xfrm>
          <a:prstGeom prst="ellipse">
            <a:avLst/>
          </a:prstGeom>
          <a:solidFill>
            <a:srgbClr val="2C5F2D"/>
          </a:solidFill>
          <a:ln w="12700">
            <a:solidFill>
              <a:srgbClr val="2C5F2D"/>
            </a:solidFill>
            <a:prstDash val="solid"/>
          </a:ln>
        </p:spPr>
      </p:sp>
      <p:sp>
        <p:nvSpPr>
          <p:cNvPr id="41" name="Text 39"/>
          <p:cNvSpPr txBox="1"/>
          <p:nvPr/>
        </p:nvSpPr>
        <p:spPr>
          <a:xfrm>
            <a:off x="713232" y="481888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42" name="Text 40"/>
          <p:cNvSpPr txBox="1"/>
          <p:nvPr/>
        </p:nvSpPr>
        <p:spPr>
          <a:xfrm>
            <a:off x="1115568" y="4709160"/>
            <a:ext cx="1828800" cy="530352"/>
          </a:xfrm>
          <a:prstGeom prst="rect">
            <a:avLst/>
          </a:prstGeom>
          <a:noFill/>
          <a:ln/>
        </p:spPr>
        <p:txBody>
          <a:bodyPr wrap="square" lIns="0" tIns="0" rIns="0" bIns="0" rtlCol="0" anchor="ctr"/>
          <a:lstStyle/>
          <a:p>
            <a:pPr indent="0" marL="0">
              <a:buNone/>
            </a:pPr>
            <a:r>
              <a:rPr lang="en-US" sz="1300" b="1" dirty="0">
                <a:solidFill>
                  <a:srgbClr val="14301F"/>
                </a:solidFill>
                <a:latin typeface="Calibri" pitchFamily="34" charset="0"/>
                <a:ea typeface="Calibri" pitchFamily="34" charset="-122"/>
                <a:cs typeface="Calibri" pitchFamily="34" charset="-120"/>
              </a:rPr>
              <a:t>Fertilizer &amp; chat</a:t>
            </a:r>
            <a:endParaRPr lang="en-US" sz="1300" dirty="0"/>
          </a:p>
        </p:txBody>
      </p:sp>
      <p:sp>
        <p:nvSpPr>
          <p:cNvPr id="43" name="Shape 41"/>
          <p:cNvSpPr/>
          <p:nvPr/>
        </p:nvSpPr>
        <p:spPr>
          <a:xfrm>
            <a:off x="3017520" y="4818888"/>
            <a:ext cx="1783080" cy="310896"/>
          </a:xfrm>
          <a:prstGeom prst="roundRect">
            <a:avLst>
              <a:gd name="adj" fmla="val 23529"/>
            </a:avLst>
          </a:prstGeom>
          <a:solidFill>
            <a:srgbClr val="2C5F2D"/>
          </a:solidFill>
          <a:ln w="12700">
            <a:solidFill>
              <a:srgbClr val="2C5F2D"/>
            </a:solidFill>
            <a:prstDash val="solid"/>
          </a:ln>
        </p:spPr>
      </p:sp>
      <p:sp>
        <p:nvSpPr>
          <p:cNvPr id="44" name="Text 42"/>
          <p:cNvSpPr txBox="1"/>
          <p:nvPr/>
        </p:nvSpPr>
        <p:spPr>
          <a:xfrm>
            <a:off x="3017520" y="4818888"/>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Rules</a:t>
            </a:r>
            <a:endParaRPr lang="en-US" sz="950" dirty="0"/>
          </a:p>
        </p:txBody>
      </p:sp>
      <p:sp>
        <p:nvSpPr>
          <p:cNvPr id="45" name="Text 43"/>
          <p:cNvSpPr txBox="1"/>
          <p:nvPr/>
        </p:nvSpPr>
        <p:spPr>
          <a:xfrm>
            <a:off x="4983480" y="4709160"/>
            <a:ext cx="6473952" cy="530352"/>
          </a:xfrm>
          <a:prstGeom prst="rect">
            <a:avLst/>
          </a:prstGeom>
          <a:noFill/>
          <a:ln/>
        </p:spPr>
        <p:txBody>
          <a:bodyPr wrap="square" lIns="0" tIns="0" rIns="0" bIns="0" rtlCol="0" anchor="ctr"/>
          <a:lstStyle/>
          <a:p>
            <a:pPr indent="0" marL="0">
              <a:buNone/>
            </a:pPr>
            <a:r>
              <a:rPr lang="en-US" sz="1200" dirty="0">
                <a:solidFill>
                  <a:srgbClr val="26332C"/>
                </a:solidFill>
                <a:latin typeface="Calibri" pitchFamily="34" charset="0"/>
                <a:ea typeface="Calibri" pitchFamily="34" charset="-122"/>
                <a:cs typeface="Calibri" pitchFamily="34" charset="-120"/>
              </a:rPr>
              <a:t>Looks up the right advice for your growth stage from the knowledge files</a:t>
            </a:r>
            <a:endParaRPr lang="en-US" sz="1200" dirty="0"/>
          </a:p>
        </p:txBody>
      </p:sp>
      <p:sp>
        <p:nvSpPr>
          <p:cNvPr id="46" name="Shape 44"/>
          <p:cNvSpPr/>
          <p:nvPr/>
        </p:nvSpPr>
        <p:spPr>
          <a:xfrm>
            <a:off x="548640" y="5532120"/>
            <a:ext cx="11091672" cy="777240"/>
          </a:xfrm>
          <a:prstGeom prst="roundRect">
            <a:avLst>
              <a:gd name="adj" fmla="val 11765"/>
            </a:avLst>
          </a:prstGeom>
          <a:solidFill>
            <a:srgbClr val="14301F"/>
          </a:solidFill>
          <a:ln w="12700">
            <a:solidFill>
              <a:srgbClr val="14301F"/>
            </a:solidFill>
            <a:prstDash val="solid"/>
          </a:ln>
          <a:effectLst>
            <a:outerShdw sx="100000" sy="100000" kx="0" ky="0" algn="bl" rotWithShape="0" blurRad="127000" dist="25400" dir="5400000">
              <a:srgbClr val="2C5F2D">
                <a:alpha val="13000"/>
              </a:srgbClr>
            </a:outerShdw>
          </a:effectLst>
        </p:spPr>
      </p:sp>
      <p:sp>
        <p:nvSpPr>
          <p:cNvPr id="47" name="Shape 45"/>
          <p:cNvSpPr/>
          <p:nvPr/>
        </p:nvSpPr>
        <p:spPr>
          <a:xfrm>
            <a:off x="822960" y="5724144"/>
            <a:ext cx="402336" cy="402336"/>
          </a:xfrm>
          <a:prstGeom prst="ellipse">
            <a:avLst/>
          </a:prstGeom>
          <a:solidFill>
            <a:srgbClr val="E0A526"/>
          </a:solidFill>
          <a:ln w="12700">
            <a:solidFill>
              <a:srgbClr val="E0A526"/>
            </a:solidFill>
            <a:prstDash val="solid"/>
          </a:ln>
        </p:spPr>
      </p:sp>
      <p:sp>
        <p:nvSpPr>
          <p:cNvPr id="48" name="Text 46"/>
          <p:cNvSpPr txBox="1"/>
          <p:nvPr/>
        </p:nvSpPr>
        <p:spPr>
          <a:xfrm>
            <a:off x="822960" y="5724144"/>
            <a:ext cx="402336" cy="402336"/>
          </a:xfrm>
          <a:prstGeom prst="rect">
            <a:avLst/>
          </a:prstGeom>
          <a:noFill/>
          <a:ln/>
        </p:spPr>
        <p:txBody>
          <a:bodyPr wrap="square" lIns="0" tIns="0" rIns="0" bIns="0" rtlCol="0" anchor="ctr"/>
          <a:lstStyle/>
          <a:p>
            <a:pPr algn="ctr" indent="0" marL="0">
              <a:buNone/>
            </a:pPr>
            <a:r>
              <a:rPr lang="en-US" sz="1400" b="1" dirty="0">
                <a:solidFill>
                  <a:srgbClr val="14301F"/>
                </a:solidFill>
                <a:latin typeface="Calibri" pitchFamily="34" charset="0"/>
                <a:ea typeface="Calibri" pitchFamily="34" charset="-122"/>
                <a:cs typeface="Calibri" pitchFamily="34" charset="-120"/>
              </a:rPr>
              <a:t>✓</a:t>
            </a:r>
            <a:endParaRPr lang="en-US" sz="1400" dirty="0"/>
          </a:p>
        </p:txBody>
      </p:sp>
      <p:sp>
        <p:nvSpPr>
          <p:cNvPr id="49" name="Text 47"/>
          <p:cNvSpPr txBox="1"/>
          <p:nvPr/>
        </p:nvSpPr>
        <p:spPr>
          <a:xfrm>
            <a:off x="1353312" y="5532120"/>
            <a:ext cx="9994392" cy="777240"/>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Calibri" pitchFamily="34" charset="0"/>
                <a:ea typeface="Calibri" pitchFamily="34" charset="-122"/>
                <a:cs typeface="Calibri" pitchFamily="34" charset="-120"/>
              </a:rPr>
              <a:t>Model result:  96 % accurate on the test data.  </a:t>
            </a:r>
            <a:pPr indent="0" marL="0">
              <a:lnSpc>
                <a:spcPts val="1600"/>
              </a:lnSpc>
              <a:buNone/>
            </a:pPr>
            <a:r>
              <a:rPr lang="en-US" sz="1200" dirty="0">
                <a:solidFill>
                  <a:srgbClr val="C4D6BA"/>
                </a:solidFill>
                <a:latin typeface="Calibri" pitchFamily="34" charset="0"/>
                <a:ea typeface="Calibri" pitchFamily="34" charset="-122"/>
                <a:cs typeface="Calibri" pitchFamily="34" charset="-120"/>
              </a:rPr>
              <a:t>But we say this honestly — it is 96 % against the formula it learned from, not against a real field. That is why the DEMO features are labelled, not hidden.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Sugarcane AI</dc:title>
  <dc:subject>PptxGenJS Presentation</dc:subject>
  <dc:creator>Smart Sugarcane AI</dc:creator>
  <cp:lastModifiedBy>Smart Sugarcane AI</cp:lastModifiedBy>
  <cp:revision>1</cp:revision>
  <dcterms:created xsi:type="dcterms:W3CDTF">2026-09-01T05:51:22Z</dcterms:created>
  <dcterms:modified xsi:type="dcterms:W3CDTF">2026-09-01T05:51:22Z</dcterms:modified>
</cp:coreProperties>
</file>